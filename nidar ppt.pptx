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1.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54"/>
  </p:notesMasterIdLst>
  <p:sldIdLst>
    <p:sldId id="260" r:id="rId2"/>
    <p:sldId id="264" r:id="rId3"/>
    <p:sldId id="415" r:id="rId4"/>
    <p:sldId id="297" r:id="rId5"/>
    <p:sldId id="299" r:id="rId6"/>
    <p:sldId id="309" r:id="rId7"/>
    <p:sldId id="379" r:id="rId8"/>
    <p:sldId id="362" r:id="rId9"/>
    <p:sldId id="374" r:id="rId10"/>
    <p:sldId id="312" r:id="rId11"/>
    <p:sldId id="302" r:id="rId12"/>
    <p:sldId id="410" r:id="rId13"/>
    <p:sldId id="387" r:id="rId14"/>
    <p:sldId id="388" r:id="rId15"/>
    <p:sldId id="390" r:id="rId16"/>
    <p:sldId id="403" r:id="rId17"/>
    <p:sldId id="404" r:id="rId18"/>
    <p:sldId id="405" r:id="rId19"/>
    <p:sldId id="406" r:id="rId20"/>
    <p:sldId id="407" r:id="rId21"/>
    <p:sldId id="408" r:id="rId22"/>
    <p:sldId id="409" r:id="rId23"/>
    <p:sldId id="381" r:id="rId24"/>
    <p:sldId id="382" r:id="rId25"/>
    <p:sldId id="383" r:id="rId26"/>
    <p:sldId id="384" r:id="rId27"/>
    <p:sldId id="385" r:id="rId28"/>
    <p:sldId id="386" r:id="rId29"/>
    <p:sldId id="391" r:id="rId30"/>
    <p:sldId id="392" r:id="rId31"/>
    <p:sldId id="394" r:id="rId32"/>
    <p:sldId id="396" r:id="rId33"/>
    <p:sldId id="397" r:id="rId34"/>
    <p:sldId id="398" r:id="rId35"/>
    <p:sldId id="399" r:id="rId36"/>
    <p:sldId id="400" r:id="rId37"/>
    <p:sldId id="401" r:id="rId38"/>
    <p:sldId id="402" r:id="rId39"/>
    <p:sldId id="340" r:id="rId40"/>
    <p:sldId id="280" r:id="rId41"/>
    <p:sldId id="418" r:id="rId42"/>
    <p:sldId id="413" r:id="rId43"/>
    <p:sldId id="411" r:id="rId44"/>
    <p:sldId id="412" r:id="rId45"/>
    <p:sldId id="380" r:id="rId46"/>
    <p:sldId id="416" r:id="rId47"/>
    <p:sldId id="414" r:id="rId48"/>
    <p:sldId id="355" r:id="rId49"/>
    <p:sldId id="419" r:id="rId50"/>
    <p:sldId id="417" r:id="rId51"/>
    <p:sldId id="420" r:id="rId52"/>
    <p:sldId id="361" r:id="rId5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varScale="1">
        <p:scale>
          <a:sx n="67" d="100"/>
          <a:sy n="67" d="100"/>
        </p:scale>
        <p:origin x="1003"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FD8523-6BC7-4134-929C-1D57DB290D92}" type="datetimeFigureOut">
              <a:rPr lang="en-IN" smtClean="0"/>
              <a:t>03-09-2026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BB81D8-1642-4930-AE4A-3171C91AAD55}" type="slidenum">
              <a:rPr lang="en-IN" smtClean="0"/>
              <a:t>‹#›</a:t>
            </a:fld>
            <a:endParaRPr lang="en-IN"/>
          </a:p>
        </p:txBody>
      </p:sp>
    </p:spTree>
    <p:extLst>
      <p:ext uri="{BB962C8B-B14F-4D97-AF65-F5344CB8AC3E}">
        <p14:creationId xmlns:p14="http://schemas.microsoft.com/office/powerpoint/2010/main" val="13822132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40</a:t>
            </a:fld>
            <a:endParaRPr lang="zh-CN" altLang="en-US"/>
          </a:p>
        </p:txBody>
      </p:sp>
    </p:spTree>
    <p:extLst>
      <p:ext uri="{BB962C8B-B14F-4D97-AF65-F5344CB8AC3E}">
        <p14:creationId xmlns:p14="http://schemas.microsoft.com/office/powerpoint/2010/main" val="8338134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BBB81D8-1642-4930-AE4A-3171C91AAD55}" type="slidenum">
              <a:rPr lang="en-IN" smtClean="0"/>
              <a:t>51</a:t>
            </a:fld>
            <a:endParaRPr lang="en-IN"/>
          </a:p>
        </p:txBody>
      </p:sp>
    </p:spTree>
    <p:extLst>
      <p:ext uri="{BB962C8B-B14F-4D97-AF65-F5344CB8AC3E}">
        <p14:creationId xmlns:p14="http://schemas.microsoft.com/office/powerpoint/2010/main" val="14591341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8CD342E-6C31-4EA4-B7F6-340D6D99C53B}" type="datetimeFigureOut">
              <a:rPr lang="en-IN" smtClean="0"/>
              <a:t>03-09-2026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54C9A25-0426-4829-8F3D-9792FEAA421B}" type="slidenum">
              <a:rPr lang="en-IN" smtClean="0"/>
              <a:t>‹#›</a:t>
            </a:fld>
            <a:endParaRPr lang="en-IN"/>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777398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CD342E-6C31-4EA4-B7F6-340D6D99C53B}" type="datetimeFigureOut">
              <a:rPr lang="en-IN" smtClean="0"/>
              <a:t>03-09-2026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54C9A25-0426-4829-8F3D-9792FEAA421B}" type="slidenum">
              <a:rPr lang="en-IN" smtClean="0"/>
              <a:t>‹#›</a:t>
            </a:fld>
            <a:endParaRPr lang="en-IN"/>
          </a:p>
        </p:txBody>
      </p:sp>
    </p:spTree>
    <p:extLst>
      <p:ext uri="{BB962C8B-B14F-4D97-AF65-F5344CB8AC3E}">
        <p14:creationId xmlns:p14="http://schemas.microsoft.com/office/powerpoint/2010/main" val="473036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CD342E-6C31-4EA4-B7F6-340D6D99C53B}" type="datetimeFigureOut">
              <a:rPr lang="en-IN" smtClean="0"/>
              <a:t>03-09-2026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54C9A25-0426-4829-8F3D-9792FEAA421B}" type="slidenum">
              <a:rPr lang="en-IN" smtClean="0"/>
              <a:t>‹#›</a:t>
            </a:fld>
            <a:endParaRPr lang="en-IN"/>
          </a:p>
        </p:txBody>
      </p:sp>
    </p:spTree>
    <p:extLst>
      <p:ext uri="{BB962C8B-B14F-4D97-AF65-F5344CB8AC3E}">
        <p14:creationId xmlns:p14="http://schemas.microsoft.com/office/powerpoint/2010/main" val="20468728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8CD342E-6C31-4EA4-B7F6-340D6D99C53B}" type="datetimeFigureOut">
              <a:rPr lang="en-IN" smtClean="0"/>
              <a:t>03-09-2026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54C9A25-0426-4829-8F3D-9792FEAA421B}" type="slidenum">
              <a:rPr lang="en-IN" smtClean="0"/>
              <a:t>‹#›</a:t>
            </a:fld>
            <a:endParaRPr lang="en-IN"/>
          </a:p>
        </p:txBody>
      </p:sp>
    </p:spTree>
    <p:extLst>
      <p:ext uri="{BB962C8B-B14F-4D97-AF65-F5344CB8AC3E}">
        <p14:creationId xmlns:p14="http://schemas.microsoft.com/office/powerpoint/2010/main" val="13211517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8CD342E-6C31-4EA4-B7F6-340D6D99C53B}" type="datetimeFigureOut">
              <a:rPr lang="en-IN" smtClean="0"/>
              <a:t>03-09-2026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54C9A25-0426-4829-8F3D-9792FEAA421B}" type="slidenum">
              <a:rPr lang="en-IN" smtClean="0"/>
              <a:t>‹#›</a:t>
            </a:fld>
            <a:endParaRPr lang="en-IN"/>
          </a:p>
        </p:txBody>
      </p:sp>
    </p:spTree>
    <p:extLst>
      <p:ext uri="{BB962C8B-B14F-4D97-AF65-F5344CB8AC3E}">
        <p14:creationId xmlns:p14="http://schemas.microsoft.com/office/powerpoint/2010/main" val="3641770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8CD342E-6C31-4EA4-B7F6-340D6D99C53B}" type="datetimeFigureOut">
              <a:rPr lang="en-IN" smtClean="0"/>
              <a:t>03-09-2026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54C9A25-0426-4829-8F3D-9792FEAA421B}" type="slidenum">
              <a:rPr lang="en-IN" smtClean="0"/>
              <a:t>‹#›</a:t>
            </a:fld>
            <a:endParaRPr lang="en-IN"/>
          </a:p>
        </p:txBody>
      </p:sp>
    </p:spTree>
    <p:extLst>
      <p:ext uri="{BB962C8B-B14F-4D97-AF65-F5344CB8AC3E}">
        <p14:creationId xmlns:p14="http://schemas.microsoft.com/office/powerpoint/2010/main" val="2926466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CD342E-6C31-4EA4-B7F6-340D6D99C53B}" type="datetimeFigureOut">
              <a:rPr lang="en-IN" smtClean="0"/>
              <a:t>03-09-2026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54C9A25-0426-4829-8F3D-9792FEAA421B}" type="slidenum">
              <a:rPr lang="en-IN" smtClean="0"/>
              <a:t>‹#›</a:t>
            </a:fld>
            <a:endParaRPr lang="en-IN"/>
          </a:p>
        </p:txBody>
      </p:sp>
    </p:spTree>
    <p:extLst>
      <p:ext uri="{BB962C8B-B14F-4D97-AF65-F5344CB8AC3E}">
        <p14:creationId xmlns:p14="http://schemas.microsoft.com/office/powerpoint/2010/main" val="341189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8CD342E-6C31-4EA4-B7F6-340D6D99C53B}" type="datetimeFigureOut">
              <a:rPr lang="en-IN" smtClean="0"/>
              <a:t>03-09-2026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54C9A25-0426-4829-8F3D-9792FEAA421B}" type="slidenum">
              <a:rPr lang="en-IN" smtClean="0"/>
              <a:t>‹#›</a:t>
            </a:fld>
            <a:endParaRPr lang="en-IN"/>
          </a:p>
        </p:txBody>
      </p:sp>
    </p:spTree>
    <p:extLst>
      <p:ext uri="{BB962C8B-B14F-4D97-AF65-F5344CB8AC3E}">
        <p14:creationId xmlns:p14="http://schemas.microsoft.com/office/powerpoint/2010/main" val="29831744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8CD342E-6C31-4EA4-B7F6-340D6D99C53B}" type="datetimeFigureOut">
              <a:rPr lang="en-IN" smtClean="0"/>
              <a:t>03-09-2026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54C9A25-0426-4829-8F3D-9792FEAA421B}" type="slidenum">
              <a:rPr lang="en-IN" smtClean="0"/>
              <a:t>‹#›</a:t>
            </a:fld>
            <a:endParaRPr lang="en-IN"/>
          </a:p>
        </p:txBody>
      </p:sp>
    </p:spTree>
    <p:extLst>
      <p:ext uri="{BB962C8B-B14F-4D97-AF65-F5344CB8AC3E}">
        <p14:creationId xmlns:p14="http://schemas.microsoft.com/office/powerpoint/2010/main" val="33033291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98CD342E-6C31-4EA4-B7F6-340D6D99C53B}" type="datetimeFigureOut">
              <a:rPr lang="en-IN" smtClean="0"/>
              <a:t>03-09-2026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54C9A25-0426-4829-8F3D-9792FEAA421B}" type="slidenum">
              <a:rPr lang="en-IN" smtClean="0"/>
              <a:t>‹#›</a:t>
            </a:fld>
            <a:endParaRPr lang="en-IN"/>
          </a:p>
        </p:txBody>
      </p:sp>
    </p:spTree>
    <p:extLst>
      <p:ext uri="{BB962C8B-B14F-4D97-AF65-F5344CB8AC3E}">
        <p14:creationId xmlns:p14="http://schemas.microsoft.com/office/powerpoint/2010/main" val="34082939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CD342E-6C31-4EA4-B7F6-340D6D99C53B}" type="datetimeFigureOut">
              <a:rPr lang="en-IN" smtClean="0"/>
              <a:t>03-09-2026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54C9A25-0426-4829-8F3D-9792FEAA421B}" type="slidenum">
              <a:rPr lang="en-IN" smtClean="0"/>
              <a:t>‹#›</a:t>
            </a:fld>
            <a:endParaRPr lang="en-IN"/>
          </a:p>
        </p:txBody>
      </p:sp>
    </p:spTree>
    <p:extLst>
      <p:ext uri="{BB962C8B-B14F-4D97-AF65-F5344CB8AC3E}">
        <p14:creationId xmlns:p14="http://schemas.microsoft.com/office/powerpoint/2010/main" val="25677954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CD342E-6C31-4EA4-B7F6-340D6D99C53B}" type="datetimeFigureOut">
              <a:rPr lang="en-IN" smtClean="0"/>
              <a:t>03-09-2026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54C9A25-0426-4829-8F3D-9792FEAA421B}" type="slidenum">
              <a:rPr lang="en-IN" smtClean="0"/>
              <a:t>‹#›</a:t>
            </a:fld>
            <a:endParaRPr lang="en-IN"/>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6709072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CD342E-6C31-4EA4-B7F6-340D6D99C53B}" type="datetimeFigureOut">
              <a:rPr lang="en-IN" smtClean="0"/>
              <a:t>03-09-2026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54C9A25-0426-4829-8F3D-9792FEAA421B}" type="slidenum">
              <a:rPr lang="en-IN" smtClean="0"/>
              <a:t>‹#›</a:t>
            </a:fld>
            <a:endParaRPr lang="en-IN"/>
          </a:p>
        </p:txBody>
      </p:sp>
    </p:spTree>
    <p:extLst>
      <p:ext uri="{BB962C8B-B14F-4D97-AF65-F5344CB8AC3E}">
        <p14:creationId xmlns:p14="http://schemas.microsoft.com/office/powerpoint/2010/main" val="1880135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CD342E-6C31-4EA4-B7F6-340D6D99C53B}" type="datetimeFigureOut">
              <a:rPr lang="en-IN" smtClean="0"/>
              <a:t>03-09-2026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54C9A25-0426-4829-8F3D-9792FEAA421B}" type="slidenum">
              <a:rPr lang="en-IN" smtClean="0"/>
              <a:t>‹#›</a:t>
            </a:fld>
            <a:endParaRPr lang="en-IN"/>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6688827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CD342E-6C31-4EA4-B7F6-340D6D99C53B}" type="datetimeFigureOut">
              <a:rPr lang="en-IN" smtClean="0"/>
              <a:t>03-09-2026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54C9A25-0426-4829-8F3D-9792FEAA421B}" type="slidenum">
              <a:rPr lang="en-IN" smtClean="0"/>
              <a:t>‹#›</a:t>
            </a:fld>
            <a:endParaRPr lang="en-IN"/>
          </a:p>
        </p:txBody>
      </p:sp>
    </p:spTree>
    <p:extLst>
      <p:ext uri="{BB962C8B-B14F-4D97-AF65-F5344CB8AC3E}">
        <p14:creationId xmlns:p14="http://schemas.microsoft.com/office/powerpoint/2010/main" val="37000018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CD342E-6C31-4EA4-B7F6-340D6D99C53B}" type="datetimeFigureOut">
              <a:rPr lang="en-IN" smtClean="0"/>
              <a:t>03-09-2026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54C9A25-0426-4829-8F3D-9792FEAA421B}" type="slidenum">
              <a:rPr lang="en-IN" smtClean="0"/>
              <a:t>‹#›</a:t>
            </a:fld>
            <a:endParaRPr lang="en-IN"/>
          </a:p>
        </p:txBody>
      </p:sp>
    </p:spTree>
    <p:extLst>
      <p:ext uri="{BB962C8B-B14F-4D97-AF65-F5344CB8AC3E}">
        <p14:creationId xmlns:p14="http://schemas.microsoft.com/office/powerpoint/2010/main" val="21257993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CD342E-6C31-4EA4-B7F6-340D6D99C53B}" type="datetimeFigureOut">
              <a:rPr lang="en-IN" smtClean="0"/>
              <a:t>03-09-2026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54C9A25-0426-4829-8F3D-9792FEAA421B}" type="slidenum">
              <a:rPr lang="en-IN" smtClean="0"/>
              <a:t>‹#›</a:t>
            </a:fld>
            <a:endParaRPr lang="en-IN"/>
          </a:p>
        </p:txBody>
      </p:sp>
    </p:spTree>
    <p:extLst>
      <p:ext uri="{BB962C8B-B14F-4D97-AF65-F5344CB8AC3E}">
        <p14:creationId xmlns:p14="http://schemas.microsoft.com/office/powerpoint/2010/main" val="38764937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节标题">
    <p:spTree>
      <p:nvGrpSpPr>
        <p:cNvPr id="1" name=""/>
        <p:cNvGrpSpPr/>
        <p:nvPr/>
      </p:nvGrpSpPr>
      <p:grpSpPr>
        <a:xfrm>
          <a:off x="0" y="0"/>
          <a:ext cx="0" cy="0"/>
          <a:chOff x="0" y="0"/>
          <a:chExt cx="0" cy="0"/>
        </a:xfrm>
      </p:grpSpPr>
      <p:pic>
        <p:nvPicPr>
          <p:cNvPr id="2050" name="Picture 2" descr="D:\360data\重要数据\桌面\Hi-Tech Logo Re[00_00_10][20140808-141553-1].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358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6096504"/>
      </p:ext>
    </p:extLst>
  </p:cSld>
  <p:clrMapOvr>
    <a:masterClrMapping/>
  </p:clrMapOvr>
  <p:transition spd="slow">
    <p:push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20000"/>
                <a:lumOff val="80000"/>
              </a:schemeClr>
            </a:gs>
            <a:gs pos="100000">
              <a:schemeClr val="bg2">
                <a:shade val="96000"/>
                <a:satMod val="120000"/>
                <a:lumMod val="90000"/>
              </a:schemeClr>
            </a:gs>
          </a:gsLst>
          <a:lin ang="6120000" scaled="1"/>
          <a:tileRect/>
        </a:gradFill>
        <a:effectLst/>
      </p:bgPr>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98CD342E-6C31-4EA4-B7F6-340D6D99C53B}" type="datetimeFigureOut">
              <a:rPr lang="en-IN" smtClean="0"/>
              <a:t>03-09-2026</a:t>
            </a:fld>
            <a:endParaRPr lang="en-IN"/>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IN"/>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754C9A25-0426-4829-8F3D-9792FEAA421B}" type="slidenum">
              <a:rPr lang="en-IN" smtClean="0"/>
              <a:t>‹#›</a:t>
            </a:fld>
            <a:endParaRPr lang="en-IN"/>
          </a:p>
        </p:txBody>
      </p:sp>
    </p:spTree>
    <p:extLst>
      <p:ext uri="{BB962C8B-B14F-4D97-AF65-F5344CB8AC3E}">
        <p14:creationId xmlns:p14="http://schemas.microsoft.com/office/powerpoint/2010/main" val="185167986"/>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g"/><Relationship Id="rId1" Type="http://schemas.openxmlformats.org/officeDocument/2006/relationships/slideLayout" Target="../slideLayouts/slideLayout7.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microsoft.com/office/2007/relationships/hdphoto" Target="../media/hdphoto2.wdp"/><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6.png"/><Relationship Id="rId7" Type="http://schemas.openxmlformats.org/officeDocument/2006/relationships/image" Target="../media/image14.png"/><Relationship Id="rId2" Type="http://schemas.openxmlformats.org/officeDocument/2006/relationships/image" Target="../media/image2.jp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microsoft.com/office/2007/relationships/hdphoto" Target="../media/hdphoto2.wdp"/><Relationship Id="rId9" Type="http://schemas.openxmlformats.org/officeDocument/2006/relationships/image" Target="../media/image16.png"/></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9.xml"/><Relationship Id="rId1" Type="http://schemas.openxmlformats.org/officeDocument/2006/relationships/tags" Target="../tags/tag1.xml"/><Relationship Id="rId4" Type="http://schemas.microsoft.com/office/2007/relationships/hdphoto" Target="../media/hdphoto2.wdp"/></Relationships>
</file>

<file path=ppt/slides/_rels/slide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9.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9.xml"/><Relationship Id="rId5" Type="http://schemas.openxmlformats.org/officeDocument/2006/relationships/image" Target="../media/image18.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9.xml"/><Relationship Id="rId1" Type="http://schemas.openxmlformats.org/officeDocument/2006/relationships/tags" Target="../tags/tag2.xml"/><Relationship Id="rId4" Type="http://schemas.microsoft.com/office/2007/relationships/hdphoto" Target="../media/hdphoto2.wdp"/></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9.xml"/><Relationship Id="rId1" Type="http://schemas.openxmlformats.org/officeDocument/2006/relationships/tags" Target="../tags/tag3.xml"/><Relationship Id="rId4" Type="http://schemas.microsoft.com/office/2007/relationships/hdphoto" Target="../media/hdphoto2.wdp"/></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9.xml"/><Relationship Id="rId1" Type="http://schemas.openxmlformats.org/officeDocument/2006/relationships/tags" Target="../tags/tag4.xml"/><Relationship Id="rId5" Type="http://schemas.openxmlformats.org/officeDocument/2006/relationships/image" Target="../media/image20.jpeg"/><Relationship Id="rId4" Type="http://schemas.microsoft.com/office/2007/relationships/hdphoto" Target="../media/hdphoto2.wdp"/></Relationships>
</file>

<file path=ppt/slides/_rels/slide1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9.xml"/><Relationship Id="rId1" Type="http://schemas.openxmlformats.org/officeDocument/2006/relationships/tags" Target="../tags/tag5.xml"/><Relationship Id="rId4" Type="http://schemas.microsoft.com/office/2007/relationships/hdphoto" Target="../media/hdphoto2.wdp"/></Relationships>
</file>

<file path=ppt/slides/_rels/slide2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9.xml"/><Relationship Id="rId5" Type="http://schemas.openxmlformats.org/officeDocument/2006/relationships/image" Target="../media/image21.png"/><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9.xml"/><Relationship Id="rId1" Type="http://schemas.openxmlformats.org/officeDocument/2006/relationships/tags" Target="../tags/tag6.xml"/><Relationship Id="rId4" Type="http://schemas.microsoft.com/office/2007/relationships/hdphoto" Target="../media/hdphoto2.wdp"/></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9.xml"/><Relationship Id="rId1" Type="http://schemas.openxmlformats.org/officeDocument/2006/relationships/tags" Target="../tags/tag7.xml"/><Relationship Id="rId4" Type="http://schemas.microsoft.com/office/2007/relationships/hdphoto" Target="../media/hdphoto2.wdp"/></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9.xml"/><Relationship Id="rId1" Type="http://schemas.openxmlformats.org/officeDocument/2006/relationships/tags" Target="../tags/tag8.xml"/><Relationship Id="rId5" Type="http://schemas.openxmlformats.org/officeDocument/2006/relationships/image" Target="../media/image20.jpeg"/><Relationship Id="rId4" Type="http://schemas.microsoft.com/office/2007/relationships/hdphoto" Target="../media/hdphoto2.wdp"/></Relationships>
</file>

<file path=ppt/slides/_rels/slide3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microsoft.com/office/2007/relationships/hdphoto" Target="../media/hdphoto2.wdp"/></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9.xml"/><Relationship Id="rId1" Type="http://schemas.openxmlformats.org/officeDocument/2006/relationships/tags" Target="../tags/tag9.xml"/><Relationship Id="rId5" Type="http://schemas.openxmlformats.org/officeDocument/2006/relationships/image" Target="../media/image22.png"/><Relationship Id="rId4" Type="http://schemas.microsoft.com/office/2007/relationships/hdphoto" Target="../media/hdphoto2.wdp"/></Relationships>
</file>

<file path=ppt/slides/_rels/slide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9.xml"/><Relationship Id="rId1" Type="http://schemas.openxmlformats.org/officeDocument/2006/relationships/tags" Target="../tags/tag10.xml"/><Relationship Id="rId5" Type="http://schemas.openxmlformats.org/officeDocument/2006/relationships/image" Target="../media/image23.jpg"/><Relationship Id="rId4" Type="http://schemas.microsoft.com/office/2007/relationships/hdphoto" Target="../media/hdphoto2.wdp"/></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9.xml"/><Relationship Id="rId1" Type="http://schemas.openxmlformats.org/officeDocument/2006/relationships/tags" Target="../tags/tag11.xml"/><Relationship Id="rId6" Type="http://schemas.openxmlformats.org/officeDocument/2006/relationships/image" Target="../media/image25.png"/><Relationship Id="rId5" Type="http://schemas.openxmlformats.org/officeDocument/2006/relationships/image" Target="../media/image24.png"/><Relationship Id="rId4" Type="http://schemas.microsoft.com/office/2007/relationships/hdphoto" Target="../media/hdphoto2.wdp"/></Relationships>
</file>

<file path=ppt/slides/_rels/slide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9.xml"/><Relationship Id="rId1" Type="http://schemas.openxmlformats.org/officeDocument/2006/relationships/tags" Target="../tags/tag12.xml"/><Relationship Id="rId6" Type="http://schemas.openxmlformats.org/officeDocument/2006/relationships/image" Target="../media/image27.png"/><Relationship Id="rId5" Type="http://schemas.openxmlformats.org/officeDocument/2006/relationships/image" Target="../media/image26.png"/><Relationship Id="rId4" Type="http://schemas.microsoft.com/office/2007/relationships/hdphoto" Target="../media/hdphoto2.wdp"/></Relationships>
</file>

<file path=ppt/slides/_rels/slide4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9.xml"/><Relationship Id="rId1" Type="http://schemas.openxmlformats.org/officeDocument/2006/relationships/tags" Target="../tags/tag13.xml"/><Relationship Id="rId4" Type="http://schemas.microsoft.com/office/2007/relationships/hdphoto" Target="../media/hdphoto2.wdp"/></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9.xml"/><Relationship Id="rId1" Type="http://schemas.openxmlformats.org/officeDocument/2006/relationships/tags" Target="../tags/tag14.xml"/><Relationship Id="rId5" Type="http://schemas.openxmlformats.org/officeDocument/2006/relationships/image" Target="../media/image28.png"/><Relationship Id="rId4" Type="http://schemas.microsoft.com/office/2007/relationships/hdphoto" Target="../media/hdphoto2.wdp"/></Relationships>
</file>

<file path=ppt/slides/_rels/slide4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9.xml"/><Relationship Id="rId1" Type="http://schemas.openxmlformats.org/officeDocument/2006/relationships/tags" Target="../tags/tag15.xml"/><Relationship Id="rId5" Type="http://schemas.openxmlformats.org/officeDocument/2006/relationships/image" Target="../media/image20.jpeg"/><Relationship Id="rId4" Type="http://schemas.microsoft.com/office/2007/relationships/hdphoto" Target="../media/hdphoto2.wdp"/></Relationships>
</file>

<file path=ppt/slides/_rels/slide5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microsoft.com/office/2007/relationships/hdphoto" Target="../media/hdphoto2.wdp"/></Relationships>
</file>

<file path=ppt/slides/_rels/slide5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7" name="Freeform: Shape 26">
            <a:extLst>
              <a:ext uri="{FF2B5EF4-FFF2-40B4-BE49-F238E27FC236}">
                <a16:creationId xmlns:a16="http://schemas.microsoft.com/office/drawing/2014/main" id="{24D4FB95-D61D-1F7F-3CDC-EBCECA414505}"/>
              </a:ext>
            </a:extLst>
          </p:cNvPr>
          <p:cNvSpPr/>
          <p:nvPr/>
        </p:nvSpPr>
        <p:spPr>
          <a:xfrm>
            <a:off x="1308364" y="-2020725"/>
            <a:ext cx="15898116" cy="14622583"/>
          </a:xfrm>
          <a:custGeom>
            <a:avLst/>
            <a:gdLst>
              <a:gd name="connsiteX0" fmla="*/ 4680737 w 10678769"/>
              <a:gd name="connsiteY0" fmla="*/ 6966470 h 9151682"/>
              <a:gd name="connsiteX1" fmla="*/ 6055756 w 10678769"/>
              <a:gd name="connsiteY1" fmla="*/ 6966470 h 9151682"/>
              <a:gd name="connsiteX2" fmla="*/ 6602060 w 10678769"/>
              <a:gd name="connsiteY2" fmla="*/ 8059076 h 9151682"/>
              <a:gd name="connsiteX3" fmla="*/ 6055757 w 10678769"/>
              <a:gd name="connsiteY3" fmla="*/ 9151682 h 9151682"/>
              <a:gd name="connsiteX4" fmla="*/ 4680737 w 10678769"/>
              <a:gd name="connsiteY4" fmla="*/ 9151682 h 9151682"/>
              <a:gd name="connsiteX5" fmla="*/ 4134433 w 10678769"/>
              <a:gd name="connsiteY5" fmla="*/ 8059076 h 9151682"/>
              <a:gd name="connsiteX6" fmla="*/ 6724257 w 10678769"/>
              <a:gd name="connsiteY6" fmla="*/ 5810624 h 9151682"/>
              <a:gd name="connsiteX7" fmla="*/ 8099277 w 10678769"/>
              <a:gd name="connsiteY7" fmla="*/ 5810624 h 9151682"/>
              <a:gd name="connsiteX8" fmla="*/ 8645580 w 10678769"/>
              <a:gd name="connsiteY8" fmla="*/ 6903230 h 9151682"/>
              <a:gd name="connsiteX9" fmla="*/ 8099277 w 10678769"/>
              <a:gd name="connsiteY9" fmla="*/ 7995836 h 9151682"/>
              <a:gd name="connsiteX10" fmla="*/ 6724257 w 10678769"/>
              <a:gd name="connsiteY10" fmla="*/ 7995836 h 9151682"/>
              <a:gd name="connsiteX11" fmla="*/ 6177953 w 10678769"/>
              <a:gd name="connsiteY11" fmla="*/ 6903230 h 9151682"/>
              <a:gd name="connsiteX12" fmla="*/ 8757446 w 10678769"/>
              <a:gd name="connsiteY12" fmla="*/ 4635560 h 9151682"/>
              <a:gd name="connsiteX13" fmla="*/ 10132466 w 10678769"/>
              <a:gd name="connsiteY13" fmla="*/ 4635560 h 9151682"/>
              <a:gd name="connsiteX14" fmla="*/ 10678769 w 10678769"/>
              <a:gd name="connsiteY14" fmla="*/ 5728166 h 9151682"/>
              <a:gd name="connsiteX15" fmla="*/ 10132466 w 10678769"/>
              <a:gd name="connsiteY15" fmla="*/ 6820772 h 9151682"/>
              <a:gd name="connsiteX16" fmla="*/ 8757446 w 10678769"/>
              <a:gd name="connsiteY16" fmla="*/ 6820772 h 9151682"/>
              <a:gd name="connsiteX17" fmla="*/ 8211142 w 10678769"/>
              <a:gd name="connsiteY17" fmla="*/ 5728166 h 9151682"/>
              <a:gd name="connsiteX18" fmla="*/ 2601660 w 10678769"/>
              <a:gd name="connsiteY18" fmla="*/ 5800740 h 9151682"/>
              <a:gd name="connsiteX19" fmla="*/ 3976680 w 10678769"/>
              <a:gd name="connsiteY19" fmla="*/ 5800739 h 9151682"/>
              <a:gd name="connsiteX20" fmla="*/ 4522983 w 10678769"/>
              <a:gd name="connsiteY20" fmla="*/ 6893346 h 9151682"/>
              <a:gd name="connsiteX21" fmla="*/ 3976680 w 10678769"/>
              <a:gd name="connsiteY21" fmla="*/ 7985952 h 9151682"/>
              <a:gd name="connsiteX22" fmla="*/ 2601660 w 10678769"/>
              <a:gd name="connsiteY22" fmla="*/ 7985952 h 9151682"/>
              <a:gd name="connsiteX23" fmla="*/ 2055356 w 10678769"/>
              <a:gd name="connsiteY23" fmla="*/ 6893346 h 9151682"/>
              <a:gd name="connsiteX24" fmla="*/ 4657904 w 10678769"/>
              <a:gd name="connsiteY24" fmla="*/ 4645326 h 9151682"/>
              <a:gd name="connsiteX25" fmla="*/ 6056235 w 10678769"/>
              <a:gd name="connsiteY25" fmla="*/ 4645325 h 9151682"/>
              <a:gd name="connsiteX26" fmla="*/ 6600069 w 10678769"/>
              <a:gd name="connsiteY26" fmla="*/ 5732994 h 9151682"/>
              <a:gd name="connsiteX27" fmla="*/ 6056234 w 10678769"/>
              <a:gd name="connsiteY27" fmla="*/ 6820663 h 9151682"/>
              <a:gd name="connsiteX28" fmla="*/ 4657903 w 10678769"/>
              <a:gd name="connsiteY28" fmla="*/ 6820663 h 9151682"/>
              <a:gd name="connsiteX29" fmla="*/ 4114068 w 10678769"/>
              <a:gd name="connsiteY29" fmla="*/ 5732994 h 9151682"/>
              <a:gd name="connsiteX30" fmla="*/ 6693779 w 10678769"/>
              <a:gd name="connsiteY30" fmla="*/ 3470152 h 9151682"/>
              <a:gd name="connsiteX31" fmla="*/ 8068798 w 10678769"/>
              <a:gd name="connsiteY31" fmla="*/ 3470151 h 9151682"/>
              <a:gd name="connsiteX32" fmla="*/ 8615102 w 10678769"/>
              <a:gd name="connsiteY32" fmla="*/ 4562757 h 9151682"/>
              <a:gd name="connsiteX33" fmla="*/ 8068799 w 10678769"/>
              <a:gd name="connsiteY33" fmla="*/ 5655363 h 9151682"/>
              <a:gd name="connsiteX34" fmla="*/ 6693779 w 10678769"/>
              <a:gd name="connsiteY34" fmla="*/ 5655362 h 9151682"/>
              <a:gd name="connsiteX35" fmla="*/ 6147475 w 10678769"/>
              <a:gd name="connsiteY35" fmla="*/ 4562757 h 9151682"/>
              <a:gd name="connsiteX36" fmla="*/ 2593792 w 10678769"/>
              <a:gd name="connsiteY36" fmla="*/ 3492965 h 9151682"/>
              <a:gd name="connsiteX37" fmla="*/ 3968812 w 10678769"/>
              <a:gd name="connsiteY37" fmla="*/ 3492966 h 9151682"/>
              <a:gd name="connsiteX38" fmla="*/ 4515115 w 10678769"/>
              <a:gd name="connsiteY38" fmla="*/ 4585571 h 9151682"/>
              <a:gd name="connsiteX39" fmla="*/ 3968812 w 10678769"/>
              <a:gd name="connsiteY39" fmla="*/ 5678177 h 9151682"/>
              <a:gd name="connsiteX40" fmla="*/ 2593792 w 10678769"/>
              <a:gd name="connsiteY40" fmla="*/ 5678177 h 9151682"/>
              <a:gd name="connsiteX41" fmla="*/ 2047488 w 10678769"/>
              <a:gd name="connsiteY41" fmla="*/ 4585571 h 9151682"/>
              <a:gd name="connsiteX42" fmla="*/ 4617871 w 10678769"/>
              <a:gd name="connsiteY42" fmla="*/ 2322801 h 9151682"/>
              <a:gd name="connsiteX43" fmla="*/ 5992891 w 10678769"/>
              <a:gd name="connsiteY43" fmla="*/ 2322802 h 9151682"/>
              <a:gd name="connsiteX44" fmla="*/ 6539195 w 10678769"/>
              <a:gd name="connsiteY44" fmla="*/ 3415407 h 9151682"/>
              <a:gd name="connsiteX45" fmla="*/ 5992891 w 10678769"/>
              <a:gd name="connsiteY45" fmla="*/ 4508012 h 9151682"/>
              <a:gd name="connsiteX46" fmla="*/ 4617872 w 10678769"/>
              <a:gd name="connsiteY46" fmla="*/ 4508013 h 9151682"/>
              <a:gd name="connsiteX47" fmla="*/ 4071567 w 10678769"/>
              <a:gd name="connsiteY47" fmla="*/ 3415407 h 9151682"/>
              <a:gd name="connsiteX48" fmla="*/ 6655158 w 10678769"/>
              <a:gd name="connsiteY48" fmla="*/ 1193819 h 9151682"/>
              <a:gd name="connsiteX49" fmla="*/ 8030178 w 10678769"/>
              <a:gd name="connsiteY49" fmla="*/ 1193819 h 9151682"/>
              <a:gd name="connsiteX50" fmla="*/ 8576481 w 10678769"/>
              <a:gd name="connsiteY50" fmla="*/ 2286425 h 9151682"/>
              <a:gd name="connsiteX51" fmla="*/ 8030178 w 10678769"/>
              <a:gd name="connsiteY51" fmla="*/ 3379031 h 9151682"/>
              <a:gd name="connsiteX52" fmla="*/ 6655158 w 10678769"/>
              <a:gd name="connsiteY52" fmla="*/ 3379031 h 9151682"/>
              <a:gd name="connsiteX53" fmla="*/ 6108854 w 10678769"/>
              <a:gd name="connsiteY53" fmla="*/ 2286425 h 9151682"/>
              <a:gd name="connsiteX54" fmla="*/ 546304 w 10678769"/>
              <a:gd name="connsiteY54" fmla="*/ 2367585 h 9151682"/>
              <a:gd name="connsiteX55" fmla="*/ 1921324 w 10678769"/>
              <a:gd name="connsiteY55" fmla="*/ 2367585 h 9151682"/>
              <a:gd name="connsiteX56" fmla="*/ 2467627 w 10678769"/>
              <a:gd name="connsiteY56" fmla="*/ 3460191 h 9151682"/>
              <a:gd name="connsiteX57" fmla="*/ 1921324 w 10678769"/>
              <a:gd name="connsiteY57" fmla="*/ 4552797 h 9151682"/>
              <a:gd name="connsiteX58" fmla="*/ 546304 w 10678769"/>
              <a:gd name="connsiteY58" fmla="*/ 4552798 h 9151682"/>
              <a:gd name="connsiteX59" fmla="*/ 0 w 10678769"/>
              <a:gd name="connsiteY59" fmla="*/ 3460192 h 9151682"/>
              <a:gd name="connsiteX60" fmla="*/ 2575963 w 10678769"/>
              <a:gd name="connsiteY60" fmla="*/ 1165055 h 9151682"/>
              <a:gd name="connsiteX61" fmla="*/ 3950983 w 10678769"/>
              <a:gd name="connsiteY61" fmla="*/ 1165055 h 9151682"/>
              <a:gd name="connsiteX62" fmla="*/ 4497286 w 10678769"/>
              <a:gd name="connsiteY62" fmla="*/ 2257661 h 9151682"/>
              <a:gd name="connsiteX63" fmla="*/ 3950983 w 10678769"/>
              <a:gd name="connsiteY63" fmla="*/ 3350267 h 9151682"/>
              <a:gd name="connsiteX64" fmla="*/ 2575963 w 10678769"/>
              <a:gd name="connsiteY64" fmla="*/ 3350267 h 9151682"/>
              <a:gd name="connsiteX65" fmla="*/ 2029659 w 10678769"/>
              <a:gd name="connsiteY65" fmla="*/ 2257661 h 9151682"/>
              <a:gd name="connsiteX66" fmla="*/ 4623566 w 10678769"/>
              <a:gd name="connsiteY66" fmla="*/ 0 h 9151682"/>
              <a:gd name="connsiteX67" fmla="*/ 5998586 w 10678769"/>
              <a:gd name="connsiteY67" fmla="*/ 0 h 9151682"/>
              <a:gd name="connsiteX68" fmla="*/ 6544889 w 10678769"/>
              <a:gd name="connsiteY68" fmla="*/ 1092606 h 9151682"/>
              <a:gd name="connsiteX69" fmla="*/ 5998586 w 10678769"/>
              <a:gd name="connsiteY69" fmla="*/ 2185212 h 9151682"/>
              <a:gd name="connsiteX70" fmla="*/ 4623567 w 10678769"/>
              <a:gd name="connsiteY70" fmla="*/ 2185211 h 9151682"/>
              <a:gd name="connsiteX71" fmla="*/ 4077262 w 10678769"/>
              <a:gd name="connsiteY71" fmla="*/ 1092606 h 9151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10678769" h="9151682">
                <a:moveTo>
                  <a:pt x="4680737" y="6966470"/>
                </a:moveTo>
                <a:lnTo>
                  <a:pt x="6055756" y="6966470"/>
                </a:lnTo>
                <a:lnTo>
                  <a:pt x="6602060" y="8059076"/>
                </a:lnTo>
                <a:lnTo>
                  <a:pt x="6055757" y="9151682"/>
                </a:lnTo>
                <a:lnTo>
                  <a:pt x="4680737" y="9151682"/>
                </a:lnTo>
                <a:lnTo>
                  <a:pt x="4134433" y="8059076"/>
                </a:lnTo>
                <a:close/>
                <a:moveTo>
                  <a:pt x="6724257" y="5810624"/>
                </a:moveTo>
                <a:lnTo>
                  <a:pt x="8099277" y="5810624"/>
                </a:lnTo>
                <a:lnTo>
                  <a:pt x="8645580" y="6903230"/>
                </a:lnTo>
                <a:lnTo>
                  <a:pt x="8099277" y="7995836"/>
                </a:lnTo>
                <a:lnTo>
                  <a:pt x="6724257" y="7995836"/>
                </a:lnTo>
                <a:lnTo>
                  <a:pt x="6177953" y="6903230"/>
                </a:lnTo>
                <a:close/>
                <a:moveTo>
                  <a:pt x="8757446" y="4635560"/>
                </a:moveTo>
                <a:lnTo>
                  <a:pt x="10132466" y="4635560"/>
                </a:lnTo>
                <a:lnTo>
                  <a:pt x="10678769" y="5728166"/>
                </a:lnTo>
                <a:lnTo>
                  <a:pt x="10132466" y="6820772"/>
                </a:lnTo>
                <a:lnTo>
                  <a:pt x="8757446" y="6820772"/>
                </a:lnTo>
                <a:lnTo>
                  <a:pt x="8211142" y="5728166"/>
                </a:lnTo>
                <a:close/>
                <a:moveTo>
                  <a:pt x="2601660" y="5800740"/>
                </a:moveTo>
                <a:lnTo>
                  <a:pt x="3976680" y="5800739"/>
                </a:lnTo>
                <a:lnTo>
                  <a:pt x="4522983" y="6893346"/>
                </a:lnTo>
                <a:lnTo>
                  <a:pt x="3976680" y="7985952"/>
                </a:lnTo>
                <a:lnTo>
                  <a:pt x="2601660" y="7985952"/>
                </a:lnTo>
                <a:lnTo>
                  <a:pt x="2055356" y="6893346"/>
                </a:lnTo>
                <a:close/>
                <a:moveTo>
                  <a:pt x="4657904" y="4645326"/>
                </a:moveTo>
                <a:lnTo>
                  <a:pt x="6056235" y="4645325"/>
                </a:lnTo>
                <a:lnTo>
                  <a:pt x="6600069" y="5732994"/>
                </a:lnTo>
                <a:lnTo>
                  <a:pt x="6056234" y="6820663"/>
                </a:lnTo>
                <a:lnTo>
                  <a:pt x="4657903" y="6820663"/>
                </a:lnTo>
                <a:lnTo>
                  <a:pt x="4114068" y="5732994"/>
                </a:lnTo>
                <a:close/>
                <a:moveTo>
                  <a:pt x="6693779" y="3470152"/>
                </a:moveTo>
                <a:lnTo>
                  <a:pt x="8068798" y="3470151"/>
                </a:lnTo>
                <a:lnTo>
                  <a:pt x="8615102" y="4562757"/>
                </a:lnTo>
                <a:lnTo>
                  <a:pt x="8068799" y="5655363"/>
                </a:lnTo>
                <a:lnTo>
                  <a:pt x="6693779" y="5655362"/>
                </a:lnTo>
                <a:lnTo>
                  <a:pt x="6147475" y="4562757"/>
                </a:lnTo>
                <a:close/>
                <a:moveTo>
                  <a:pt x="2593792" y="3492965"/>
                </a:moveTo>
                <a:lnTo>
                  <a:pt x="3968812" y="3492966"/>
                </a:lnTo>
                <a:lnTo>
                  <a:pt x="4515115" y="4585571"/>
                </a:lnTo>
                <a:lnTo>
                  <a:pt x="3968812" y="5678177"/>
                </a:lnTo>
                <a:lnTo>
                  <a:pt x="2593792" y="5678177"/>
                </a:lnTo>
                <a:lnTo>
                  <a:pt x="2047488" y="4585571"/>
                </a:lnTo>
                <a:close/>
                <a:moveTo>
                  <a:pt x="4617871" y="2322801"/>
                </a:moveTo>
                <a:lnTo>
                  <a:pt x="5992891" y="2322802"/>
                </a:lnTo>
                <a:lnTo>
                  <a:pt x="6539195" y="3415407"/>
                </a:lnTo>
                <a:lnTo>
                  <a:pt x="5992891" y="4508012"/>
                </a:lnTo>
                <a:lnTo>
                  <a:pt x="4617872" y="4508013"/>
                </a:lnTo>
                <a:lnTo>
                  <a:pt x="4071567" y="3415407"/>
                </a:lnTo>
                <a:close/>
                <a:moveTo>
                  <a:pt x="6655158" y="1193819"/>
                </a:moveTo>
                <a:lnTo>
                  <a:pt x="8030178" y="1193819"/>
                </a:lnTo>
                <a:lnTo>
                  <a:pt x="8576481" y="2286425"/>
                </a:lnTo>
                <a:lnTo>
                  <a:pt x="8030178" y="3379031"/>
                </a:lnTo>
                <a:lnTo>
                  <a:pt x="6655158" y="3379031"/>
                </a:lnTo>
                <a:lnTo>
                  <a:pt x="6108854" y="2286425"/>
                </a:lnTo>
                <a:close/>
                <a:moveTo>
                  <a:pt x="546304" y="2367585"/>
                </a:moveTo>
                <a:lnTo>
                  <a:pt x="1921324" y="2367585"/>
                </a:lnTo>
                <a:lnTo>
                  <a:pt x="2467627" y="3460191"/>
                </a:lnTo>
                <a:lnTo>
                  <a:pt x="1921324" y="4552797"/>
                </a:lnTo>
                <a:lnTo>
                  <a:pt x="546304" y="4552798"/>
                </a:lnTo>
                <a:lnTo>
                  <a:pt x="0" y="3460192"/>
                </a:lnTo>
                <a:close/>
                <a:moveTo>
                  <a:pt x="2575963" y="1165055"/>
                </a:moveTo>
                <a:lnTo>
                  <a:pt x="3950983" y="1165055"/>
                </a:lnTo>
                <a:lnTo>
                  <a:pt x="4497286" y="2257661"/>
                </a:lnTo>
                <a:lnTo>
                  <a:pt x="3950983" y="3350267"/>
                </a:lnTo>
                <a:lnTo>
                  <a:pt x="2575963" y="3350267"/>
                </a:lnTo>
                <a:lnTo>
                  <a:pt x="2029659" y="2257661"/>
                </a:lnTo>
                <a:close/>
                <a:moveTo>
                  <a:pt x="4623566" y="0"/>
                </a:moveTo>
                <a:lnTo>
                  <a:pt x="5998586" y="0"/>
                </a:lnTo>
                <a:lnTo>
                  <a:pt x="6544889" y="1092606"/>
                </a:lnTo>
                <a:lnTo>
                  <a:pt x="5998586" y="2185212"/>
                </a:lnTo>
                <a:lnTo>
                  <a:pt x="4623567" y="2185211"/>
                </a:lnTo>
                <a:lnTo>
                  <a:pt x="4077262" y="1092606"/>
                </a:lnTo>
                <a:close/>
              </a:path>
            </a:pathLst>
          </a:cu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0" name="TextBox 9">
            <a:extLst>
              <a:ext uri="{FF2B5EF4-FFF2-40B4-BE49-F238E27FC236}">
                <a16:creationId xmlns:a16="http://schemas.microsoft.com/office/drawing/2014/main" id="{7E41CC89-8C89-B46B-3DD4-07D35B998EBF}"/>
              </a:ext>
            </a:extLst>
          </p:cNvPr>
          <p:cNvSpPr txBox="1"/>
          <p:nvPr/>
        </p:nvSpPr>
        <p:spPr>
          <a:xfrm>
            <a:off x="-734132" y="5240215"/>
            <a:ext cx="7076318" cy="1980029"/>
          </a:xfrm>
          <a:prstGeom prst="rect">
            <a:avLst/>
          </a:prstGeom>
          <a:noFill/>
        </p:spPr>
        <p:txBody>
          <a:bodyPr wrap="square" rtlCol="0">
            <a:spAutoFit/>
          </a:bodyPr>
          <a:lstStyle/>
          <a:p>
            <a:pPr marL="1753870" marR="1753870" algn="ctr">
              <a:spcBef>
                <a:spcPts val="1530"/>
              </a:spcBef>
              <a:buNone/>
            </a:pPr>
            <a:r>
              <a:rPr lang="en-US" sz="2400" b="1" u="sng" kern="0" dirty="0">
                <a:solidFill>
                  <a:schemeClr val="bg2">
                    <a:lumMod val="50000"/>
                  </a:schemeClr>
                </a:solidFill>
                <a:effectLst/>
                <a:latin typeface="Arial" panose="020B0604020202020204" pitchFamily="34" charset="0"/>
                <a:ea typeface="Arial" panose="020B0604020202020204" pitchFamily="34" charset="0"/>
              </a:rPr>
              <a:t>DESIGN</a:t>
            </a:r>
            <a:r>
              <a:rPr lang="en-US" sz="2400" b="1" u="sng" kern="0" spc="-45" dirty="0">
                <a:solidFill>
                  <a:schemeClr val="bg2">
                    <a:lumMod val="50000"/>
                  </a:schemeClr>
                </a:solidFill>
                <a:effectLst/>
                <a:latin typeface="Arial" panose="020B0604020202020204" pitchFamily="34" charset="0"/>
                <a:ea typeface="Arial" panose="020B0604020202020204" pitchFamily="34" charset="0"/>
              </a:rPr>
              <a:t> </a:t>
            </a:r>
            <a:r>
              <a:rPr lang="en-US" sz="2400" b="1" u="sng" kern="0" spc="-10" dirty="0">
                <a:solidFill>
                  <a:schemeClr val="bg2">
                    <a:lumMod val="50000"/>
                  </a:schemeClr>
                </a:solidFill>
                <a:effectLst/>
                <a:latin typeface="Arial" panose="020B0604020202020204" pitchFamily="34" charset="0"/>
                <a:ea typeface="Arial" panose="020B0604020202020204" pitchFamily="34" charset="0"/>
              </a:rPr>
              <a:t>REPORT</a:t>
            </a:r>
            <a:endParaRPr lang="en-US" sz="1800" b="1" spc="5" dirty="0">
              <a:solidFill>
                <a:schemeClr val="bg2">
                  <a:lumMod val="50000"/>
                </a:schemeClr>
              </a:solidFill>
              <a:effectLst/>
              <a:latin typeface="Arial MT"/>
              <a:ea typeface="Arial MT"/>
              <a:cs typeface="Arial MT"/>
            </a:endParaRPr>
          </a:p>
          <a:p>
            <a:pPr marL="1754505" marR="1753870" algn="ctr">
              <a:spcBef>
                <a:spcPts val="1610"/>
              </a:spcBef>
            </a:pPr>
            <a:r>
              <a:rPr lang="en-US" sz="1800" dirty="0">
                <a:solidFill>
                  <a:schemeClr val="bg2">
                    <a:lumMod val="50000"/>
                  </a:schemeClr>
                </a:solidFill>
                <a:effectLst/>
                <a:latin typeface="Arial MT"/>
                <a:ea typeface="Arial MT"/>
                <a:cs typeface="Arial MT"/>
              </a:rPr>
              <a:t>KIET GROUP OF INSTITUTIONS GHAZIABAD,</a:t>
            </a:r>
            <a:r>
              <a:rPr lang="en-US" sz="1800" spc="-60" dirty="0">
                <a:solidFill>
                  <a:schemeClr val="bg2">
                    <a:lumMod val="50000"/>
                  </a:schemeClr>
                </a:solidFill>
                <a:effectLst/>
                <a:latin typeface="Arial MT"/>
                <a:ea typeface="Arial MT"/>
                <a:cs typeface="Arial MT"/>
              </a:rPr>
              <a:t> </a:t>
            </a:r>
            <a:r>
              <a:rPr lang="en-US" sz="1800" dirty="0">
                <a:solidFill>
                  <a:schemeClr val="bg2">
                    <a:lumMod val="50000"/>
                  </a:schemeClr>
                </a:solidFill>
                <a:effectLst/>
                <a:latin typeface="Arial MT"/>
                <a:ea typeface="Arial MT"/>
                <a:cs typeface="Arial MT"/>
              </a:rPr>
              <a:t>UTTAR</a:t>
            </a:r>
            <a:r>
              <a:rPr lang="en-US" sz="1800" spc="-60" dirty="0">
                <a:solidFill>
                  <a:schemeClr val="bg2">
                    <a:lumMod val="50000"/>
                  </a:schemeClr>
                </a:solidFill>
                <a:effectLst/>
                <a:latin typeface="Arial MT"/>
                <a:ea typeface="Arial MT"/>
                <a:cs typeface="Arial MT"/>
              </a:rPr>
              <a:t> </a:t>
            </a:r>
            <a:r>
              <a:rPr lang="en-US" sz="1800" dirty="0">
                <a:solidFill>
                  <a:schemeClr val="bg2">
                    <a:lumMod val="50000"/>
                  </a:schemeClr>
                </a:solidFill>
                <a:effectLst/>
                <a:latin typeface="Arial MT"/>
                <a:ea typeface="Arial MT"/>
                <a:cs typeface="Arial MT"/>
              </a:rPr>
              <a:t>PRADESH</a:t>
            </a:r>
            <a:r>
              <a:rPr lang="en-US" sz="1800" spc="-35" dirty="0">
                <a:solidFill>
                  <a:schemeClr val="bg2">
                    <a:lumMod val="50000"/>
                  </a:schemeClr>
                </a:solidFill>
                <a:effectLst/>
                <a:latin typeface="Arial MT"/>
                <a:ea typeface="Arial MT"/>
                <a:cs typeface="Arial MT"/>
              </a:rPr>
              <a:t> </a:t>
            </a:r>
            <a:r>
              <a:rPr lang="en-US" sz="1800" dirty="0">
                <a:solidFill>
                  <a:schemeClr val="bg2">
                    <a:lumMod val="50000"/>
                  </a:schemeClr>
                </a:solidFill>
                <a:effectLst/>
                <a:latin typeface="Arial MT"/>
                <a:ea typeface="Arial MT"/>
                <a:cs typeface="Arial MT"/>
              </a:rPr>
              <a:t>-</a:t>
            </a:r>
            <a:r>
              <a:rPr lang="en-US" sz="1800" spc="-60" dirty="0">
                <a:solidFill>
                  <a:schemeClr val="bg2">
                    <a:lumMod val="50000"/>
                  </a:schemeClr>
                </a:solidFill>
                <a:effectLst/>
                <a:latin typeface="Arial MT"/>
                <a:ea typeface="Arial MT"/>
                <a:cs typeface="Arial MT"/>
              </a:rPr>
              <a:t> </a:t>
            </a:r>
            <a:r>
              <a:rPr lang="en-US" sz="1800" dirty="0">
                <a:solidFill>
                  <a:schemeClr val="bg2">
                    <a:lumMod val="50000"/>
                  </a:schemeClr>
                </a:solidFill>
                <a:effectLst/>
                <a:latin typeface="Arial MT"/>
                <a:ea typeface="Arial MT"/>
                <a:cs typeface="Arial MT"/>
              </a:rPr>
              <a:t>201206</a:t>
            </a:r>
            <a:endParaRPr lang="en-IN" sz="1800" dirty="0">
              <a:solidFill>
                <a:schemeClr val="bg2">
                  <a:lumMod val="50000"/>
                </a:schemeClr>
              </a:solidFill>
              <a:effectLst/>
              <a:latin typeface="Arial MT"/>
              <a:ea typeface="Arial MT"/>
              <a:cs typeface="Arial MT"/>
            </a:endParaRPr>
          </a:p>
          <a:p>
            <a:pPr marL="1754505" marR="1753870" algn="ctr">
              <a:spcBef>
                <a:spcPts val="1610"/>
              </a:spcBef>
            </a:pPr>
            <a:endParaRPr lang="en-IN" sz="1800" dirty="0">
              <a:effectLst/>
              <a:latin typeface="Arial MT"/>
              <a:ea typeface="Arial MT"/>
              <a:cs typeface="Arial MT"/>
            </a:endParaRPr>
          </a:p>
        </p:txBody>
      </p:sp>
      <p:grpSp>
        <p:nvGrpSpPr>
          <p:cNvPr id="28" name="Group 27">
            <a:extLst>
              <a:ext uri="{FF2B5EF4-FFF2-40B4-BE49-F238E27FC236}">
                <a16:creationId xmlns:a16="http://schemas.microsoft.com/office/drawing/2014/main" id="{51A7621E-8D9E-3F73-0B1A-33729758E13C}"/>
              </a:ext>
            </a:extLst>
          </p:cNvPr>
          <p:cNvGrpSpPr/>
          <p:nvPr/>
        </p:nvGrpSpPr>
        <p:grpSpPr>
          <a:xfrm>
            <a:off x="-1834508" y="-931958"/>
            <a:ext cx="2121624" cy="1231246"/>
            <a:chOff x="417986" y="0"/>
            <a:chExt cx="2121624" cy="1231246"/>
          </a:xfrm>
        </p:grpSpPr>
        <p:pic>
          <p:nvPicPr>
            <p:cNvPr id="9" name="Picture 8">
              <a:extLst>
                <a:ext uri="{FF2B5EF4-FFF2-40B4-BE49-F238E27FC236}">
                  <a16:creationId xmlns:a16="http://schemas.microsoft.com/office/drawing/2014/main" id="{C1C39F0C-8A4E-56DE-E7A3-BE2F3EA23A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7986" y="245644"/>
              <a:ext cx="946484" cy="816298"/>
            </a:xfrm>
            <a:prstGeom prst="rect">
              <a:avLst/>
            </a:prstGeom>
          </p:spPr>
        </p:pic>
        <p:pic>
          <p:nvPicPr>
            <p:cNvPr id="11" name="Picture 10">
              <a:extLst>
                <a:ext uri="{FF2B5EF4-FFF2-40B4-BE49-F238E27FC236}">
                  <a16:creationId xmlns:a16="http://schemas.microsoft.com/office/drawing/2014/main" id="{FEDD878F-A1FB-98A2-6622-6AB7EB15CE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08364" y="0"/>
              <a:ext cx="1231246" cy="1231246"/>
            </a:xfrm>
            <a:prstGeom prst="rect">
              <a:avLst/>
            </a:prstGeom>
          </p:spPr>
        </p:pic>
      </p:grpSp>
      <p:pic>
        <p:nvPicPr>
          <p:cNvPr id="13" name="Picture 12">
            <a:extLst>
              <a:ext uri="{FF2B5EF4-FFF2-40B4-BE49-F238E27FC236}">
                <a16:creationId xmlns:a16="http://schemas.microsoft.com/office/drawing/2014/main" id="{44CA9946-F9FA-D284-76CA-71E9DF618059}"/>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bright="-40000"/>
                    </a14:imgEffect>
                  </a14:imgLayer>
                </a14:imgProps>
              </a:ext>
              <a:ext uri="{28A0092B-C50C-407E-A947-70E740481C1C}">
                <a14:useLocalDpi xmlns:a14="http://schemas.microsoft.com/office/drawing/2010/main" val="0"/>
              </a:ext>
            </a:extLst>
          </a:blip>
          <a:stretch>
            <a:fillRect/>
          </a:stretch>
        </p:blipFill>
        <p:spPr>
          <a:xfrm>
            <a:off x="985837" y="1856694"/>
            <a:ext cx="4505325" cy="2524125"/>
          </a:xfrm>
          <a:prstGeom prst="rect">
            <a:avLst/>
          </a:prstGeom>
        </p:spPr>
      </p:pic>
    </p:spTree>
    <p:extLst>
      <p:ext uri="{BB962C8B-B14F-4D97-AF65-F5344CB8AC3E}">
        <p14:creationId xmlns:p14="http://schemas.microsoft.com/office/powerpoint/2010/main" val="878977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accent1">
            <a:lumMod val="40000"/>
            <a:lumOff val="60000"/>
          </a:schemeClr>
        </a:solidFill>
        <a:effectLst/>
      </p:bgPr>
    </p:bg>
    <p:spTree>
      <p:nvGrpSpPr>
        <p:cNvPr id="1" name="">
          <a:extLst>
            <a:ext uri="{FF2B5EF4-FFF2-40B4-BE49-F238E27FC236}">
              <a16:creationId xmlns:a16="http://schemas.microsoft.com/office/drawing/2014/main" id="{5BBB4536-87E5-FA0C-1011-6E6C79CEB5B1}"/>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5A470B4D-D2AA-A773-5A12-1EA6D527055D}"/>
              </a:ext>
            </a:extLst>
          </p:cNvPr>
          <p:cNvSpPr txBox="1"/>
          <p:nvPr/>
        </p:nvSpPr>
        <p:spPr>
          <a:xfrm>
            <a:off x="621216" y="3325313"/>
            <a:ext cx="6321114" cy="3929281"/>
          </a:xfrm>
          <a:prstGeom prst="rect">
            <a:avLst/>
          </a:prstGeom>
          <a:noFill/>
        </p:spPr>
        <p:txBody>
          <a:bodyPr wrap="square" rtlCol="0">
            <a:spAutoFit/>
          </a:bodyPr>
          <a:lstStyle/>
          <a:p>
            <a:pPr rtl="0" fontAlgn="base">
              <a:buNone/>
            </a:pPr>
            <a:r>
              <a:rPr lang="en-US" sz="2800" b="1" dirty="0">
                <a:solidFill>
                  <a:schemeClr val="bg1"/>
                </a:solidFill>
                <a:latin typeface="Times New Roman" panose="02020603050405020304" pitchFamily="18" charset="0"/>
                <a:cs typeface="Times New Roman" panose="02020603050405020304" pitchFamily="18" charset="0"/>
              </a:rPr>
              <a:t>ABOUT</a:t>
            </a:r>
          </a:p>
          <a:p>
            <a:r>
              <a:rPr lang="en-IN" sz="1100" dirty="0">
                <a:solidFill>
                  <a:schemeClr val="bg1"/>
                </a:solidFill>
                <a:latin typeface="Liberation Serif"/>
              </a:rPr>
              <a:t>The disaster management and surveillance mission defined under NIDAR has been the primary motivation behind our project, </a:t>
            </a:r>
            <a:r>
              <a:rPr lang="en-IN" sz="1100" b="1" dirty="0">
                <a:solidFill>
                  <a:schemeClr val="bg1"/>
                </a:solidFill>
                <a:latin typeface="Liberation Serif"/>
              </a:rPr>
              <a:t>AUTODRAG</a:t>
            </a:r>
            <a:r>
              <a:rPr lang="en-IN" sz="1100" dirty="0">
                <a:solidFill>
                  <a:schemeClr val="bg1"/>
                </a:solidFill>
                <a:latin typeface="Liberation Serif"/>
              </a:rPr>
              <a:t>. Our team has systematically designed a dual-UAV solution focused on rapid area scanning, accurate detection and geotagging of survivors, and precise payload delivery under both manual and autonomous operational modes.</a:t>
            </a:r>
          </a:p>
          <a:p>
            <a:r>
              <a:rPr lang="en-IN" sz="1100" dirty="0">
                <a:solidFill>
                  <a:schemeClr val="bg1"/>
                </a:solidFill>
                <a:latin typeface="Liberation Serif"/>
              </a:rPr>
              <a:t> </a:t>
            </a:r>
          </a:p>
          <a:p>
            <a:r>
              <a:rPr lang="en-IN" sz="1100" dirty="0">
                <a:solidFill>
                  <a:schemeClr val="bg1"/>
                </a:solidFill>
                <a:latin typeface="Liberation Serif"/>
              </a:rPr>
              <a:t>Special emphasis has been placed on hotspot identification, object detection and classification using onboard sensing, and reliable coordination between scanning and delivery platforms to ensure mission effectiveness in time-critical disaster scenarios.</a:t>
            </a:r>
          </a:p>
          <a:p>
            <a:r>
              <a:rPr lang="en-IN" sz="1100" dirty="0">
                <a:solidFill>
                  <a:schemeClr val="bg1"/>
                </a:solidFill>
                <a:latin typeface="Liberation Serif"/>
              </a:rPr>
              <a:t> </a:t>
            </a:r>
          </a:p>
          <a:p>
            <a:r>
              <a:rPr lang="en-IN" sz="1100" dirty="0">
                <a:solidFill>
                  <a:schemeClr val="bg1"/>
                </a:solidFill>
                <a:latin typeface="Liberation Serif"/>
              </a:rPr>
              <a:t>Participation in NIDAR provides our team with a unique opportunity to apply theoretical knowledge to a real-world disaster response application, strengthening our understanding of UAV design, autonomy, avionics integration, and system safety. Through this challenge, we aim to demonstrate a robust, scalable, and competition-compliant UAV system capable of supporting emergency response operations.</a:t>
            </a:r>
          </a:p>
          <a:p>
            <a:r>
              <a:rPr lang="en-US" sz="1100" dirty="0">
                <a:solidFill>
                  <a:schemeClr val="bg1"/>
                </a:solidFill>
                <a:latin typeface="Liberation Serif"/>
              </a:rPr>
              <a:t> </a:t>
            </a:r>
            <a:endParaRPr lang="en-IN" sz="1100" dirty="0">
              <a:solidFill>
                <a:schemeClr val="bg1"/>
              </a:solidFill>
              <a:latin typeface="Liberation Serif"/>
            </a:endParaRPr>
          </a:p>
          <a:p>
            <a:br>
              <a:rPr lang="en-IN" dirty="0">
                <a:solidFill>
                  <a:schemeClr val="bg1"/>
                </a:solidFill>
              </a:rPr>
            </a:br>
            <a:endParaRPr lang="en-US" sz="1800" b="1" dirty="0">
              <a:solidFill>
                <a:schemeClr val="bg1"/>
              </a:solidFill>
              <a:effectLst/>
              <a:latin typeface="Arial MT"/>
              <a:ea typeface="Arial MT"/>
              <a:cs typeface="Arial MT"/>
            </a:endParaRPr>
          </a:p>
          <a:p>
            <a:pPr marL="1754505" marR="1753870" algn="ctr">
              <a:spcBef>
                <a:spcPts val="1610"/>
              </a:spcBef>
            </a:pPr>
            <a:endParaRPr lang="en-IN" sz="1800" dirty="0">
              <a:solidFill>
                <a:schemeClr val="bg1"/>
              </a:solidFill>
              <a:effectLst/>
              <a:latin typeface="Arial MT"/>
              <a:ea typeface="Arial MT"/>
              <a:cs typeface="Arial MT"/>
            </a:endParaRPr>
          </a:p>
        </p:txBody>
      </p:sp>
      <p:sp>
        <p:nvSpPr>
          <p:cNvPr id="20" name="Freeform: Shape 19">
            <a:extLst>
              <a:ext uri="{FF2B5EF4-FFF2-40B4-BE49-F238E27FC236}">
                <a16:creationId xmlns:a16="http://schemas.microsoft.com/office/drawing/2014/main" id="{64B86667-DD3D-F441-213D-ADBD5990912A}"/>
              </a:ext>
            </a:extLst>
          </p:cNvPr>
          <p:cNvSpPr/>
          <p:nvPr/>
        </p:nvSpPr>
        <p:spPr>
          <a:xfrm>
            <a:off x="1197983" y="-9101797"/>
            <a:ext cx="15898116" cy="14622583"/>
          </a:xfrm>
          <a:custGeom>
            <a:avLst/>
            <a:gdLst>
              <a:gd name="connsiteX0" fmla="*/ 4680737 w 10678769"/>
              <a:gd name="connsiteY0" fmla="*/ 6966470 h 9151682"/>
              <a:gd name="connsiteX1" fmla="*/ 6055756 w 10678769"/>
              <a:gd name="connsiteY1" fmla="*/ 6966470 h 9151682"/>
              <a:gd name="connsiteX2" fmla="*/ 6602060 w 10678769"/>
              <a:gd name="connsiteY2" fmla="*/ 8059076 h 9151682"/>
              <a:gd name="connsiteX3" fmla="*/ 6055757 w 10678769"/>
              <a:gd name="connsiteY3" fmla="*/ 9151682 h 9151682"/>
              <a:gd name="connsiteX4" fmla="*/ 4680737 w 10678769"/>
              <a:gd name="connsiteY4" fmla="*/ 9151682 h 9151682"/>
              <a:gd name="connsiteX5" fmla="*/ 4134433 w 10678769"/>
              <a:gd name="connsiteY5" fmla="*/ 8059076 h 9151682"/>
              <a:gd name="connsiteX6" fmla="*/ 6724257 w 10678769"/>
              <a:gd name="connsiteY6" fmla="*/ 5810624 h 9151682"/>
              <a:gd name="connsiteX7" fmla="*/ 8099277 w 10678769"/>
              <a:gd name="connsiteY7" fmla="*/ 5810624 h 9151682"/>
              <a:gd name="connsiteX8" fmla="*/ 8645580 w 10678769"/>
              <a:gd name="connsiteY8" fmla="*/ 6903230 h 9151682"/>
              <a:gd name="connsiteX9" fmla="*/ 8099277 w 10678769"/>
              <a:gd name="connsiteY9" fmla="*/ 7995836 h 9151682"/>
              <a:gd name="connsiteX10" fmla="*/ 6724257 w 10678769"/>
              <a:gd name="connsiteY10" fmla="*/ 7995836 h 9151682"/>
              <a:gd name="connsiteX11" fmla="*/ 6177953 w 10678769"/>
              <a:gd name="connsiteY11" fmla="*/ 6903230 h 9151682"/>
              <a:gd name="connsiteX12" fmla="*/ 8757446 w 10678769"/>
              <a:gd name="connsiteY12" fmla="*/ 4635560 h 9151682"/>
              <a:gd name="connsiteX13" fmla="*/ 10132466 w 10678769"/>
              <a:gd name="connsiteY13" fmla="*/ 4635560 h 9151682"/>
              <a:gd name="connsiteX14" fmla="*/ 10678769 w 10678769"/>
              <a:gd name="connsiteY14" fmla="*/ 5728166 h 9151682"/>
              <a:gd name="connsiteX15" fmla="*/ 10132466 w 10678769"/>
              <a:gd name="connsiteY15" fmla="*/ 6820772 h 9151682"/>
              <a:gd name="connsiteX16" fmla="*/ 8757446 w 10678769"/>
              <a:gd name="connsiteY16" fmla="*/ 6820772 h 9151682"/>
              <a:gd name="connsiteX17" fmla="*/ 8211142 w 10678769"/>
              <a:gd name="connsiteY17" fmla="*/ 5728166 h 9151682"/>
              <a:gd name="connsiteX18" fmla="*/ 2601660 w 10678769"/>
              <a:gd name="connsiteY18" fmla="*/ 5800740 h 9151682"/>
              <a:gd name="connsiteX19" fmla="*/ 3976680 w 10678769"/>
              <a:gd name="connsiteY19" fmla="*/ 5800739 h 9151682"/>
              <a:gd name="connsiteX20" fmla="*/ 4522983 w 10678769"/>
              <a:gd name="connsiteY20" fmla="*/ 6893346 h 9151682"/>
              <a:gd name="connsiteX21" fmla="*/ 3976680 w 10678769"/>
              <a:gd name="connsiteY21" fmla="*/ 7985952 h 9151682"/>
              <a:gd name="connsiteX22" fmla="*/ 2601660 w 10678769"/>
              <a:gd name="connsiteY22" fmla="*/ 7985952 h 9151682"/>
              <a:gd name="connsiteX23" fmla="*/ 2055356 w 10678769"/>
              <a:gd name="connsiteY23" fmla="*/ 6893346 h 9151682"/>
              <a:gd name="connsiteX24" fmla="*/ 4657904 w 10678769"/>
              <a:gd name="connsiteY24" fmla="*/ 4645326 h 9151682"/>
              <a:gd name="connsiteX25" fmla="*/ 6056235 w 10678769"/>
              <a:gd name="connsiteY25" fmla="*/ 4645325 h 9151682"/>
              <a:gd name="connsiteX26" fmla="*/ 6600069 w 10678769"/>
              <a:gd name="connsiteY26" fmla="*/ 5732994 h 9151682"/>
              <a:gd name="connsiteX27" fmla="*/ 6056234 w 10678769"/>
              <a:gd name="connsiteY27" fmla="*/ 6820663 h 9151682"/>
              <a:gd name="connsiteX28" fmla="*/ 4657903 w 10678769"/>
              <a:gd name="connsiteY28" fmla="*/ 6820663 h 9151682"/>
              <a:gd name="connsiteX29" fmla="*/ 4114068 w 10678769"/>
              <a:gd name="connsiteY29" fmla="*/ 5732994 h 9151682"/>
              <a:gd name="connsiteX30" fmla="*/ 6693779 w 10678769"/>
              <a:gd name="connsiteY30" fmla="*/ 3470152 h 9151682"/>
              <a:gd name="connsiteX31" fmla="*/ 8068798 w 10678769"/>
              <a:gd name="connsiteY31" fmla="*/ 3470151 h 9151682"/>
              <a:gd name="connsiteX32" fmla="*/ 8615102 w 10678769"/>
              <a:gd name="connsiteY32" fmla="*/ 4562757 h 9151682"/>
              <a:gd name="connsiteX33" fmla="*/ 8068799 w 10678769"/>
              <a:gd name="connsiteY33" fmla="*/ 5655363 h 9151682"/>
              <a:gd name="connsiteX34" fmla="*/ 6693779 w 10678769"/>
              <a:gd name="connsiteY34" fmla="*/ 5655362 h 9151682"/>
              <a:gd name="connsiteX35" fmla="*/ 6147475 w 10678769"/>
              <a:gd name="connsiteY35" fmla="*/ 4562757 h 9151682"/>
              <a:gd name="connsiteX36" fmla="*/ 2593792 w 10678769"/>
              <a:gd name="connsiteY36" fmla="*/ 3492965 h 9151682"/>
              <a:gd name="connsiteX37" fmla="*/ 3968812 w 10678769"/>
              <a:gd name="connsiteY37" fmla="*/ 3492966 h 9151682"/>
              <a:gd name="connsiteX38" fmla="*/ 4515115 w 10678769"/>
              <a:gd name="connsiteY38" fmla="*/ 4585571 h 9151682"/>
              <a:gd name="connsiteX39" fmla="*/ 3968812 w 10678769"/>
              <a:gd name="connsiteY39" fmla="*/ 5678177 h 9151682"/>
              <a:gd name="connsiteX40" fmla="*/ 2593792 w 10678769"/>
              <a:gd name="connsiteY40" fmla="*/ 5678177 h 9151682"/>
              <a:gd name="connsiteX41" fmla="*/ 2047488 w 10678769"/>
              <a:gd name="connsiteY41" fmla="*/ 4585571 h 9151682"/>
              <a:gd name="connsiteX42" fmla="*/ 4617871 w 10678769"/>
              <a:gd name="connsiteY42" fmla="*/ 2322801 h 9151682"/>
              <a:gd name="connsiteX43" fmla="*/ 5992891 w 10678769"/>
              <a:gd name="connsiteY43" fmla="*/ 2322802 h 9151682"/>
              <a:gd name="connsiteX44" fmla="*/ 6539195 w 10678769"/>
              <a:gd name="connsiteY44" fmla="*/ 3415407 h 9151682"/>
              <a:gd name="connsiteX45" fmla="*/ 5992891 w 10678769"/>
              <a:gd name="connsiteY45" fmla="*/ 4508012 h 9151682"/>
              <a:gd name="connsiteX46" fmla="*/ 4617872 w 10678769"/>
              <a:gd name="connsiteY46" fmla="*/ 4508013 h 9151682"/>
              <a:gd name="connsiteX47" fmla="*/ 4071567 w 10678769"/>
              <a:gd name="connsiteY47" fmla="*/ 3415407 h 9151682"/>
              <a:gd name="connsiteX48" fmla="*/ 6655158 w 10678769"/>
              <a:gd name="connsiteY48" fmla="*/ 1193819 h 9151682"/>
              <a:gd name="connsiteX49" fmla="*/ 8030178 w 10678769"/>
              <a:gd name="connsiteY49" fmla="*/ 1193819 h 9151682"/>
              <a:gd name="connsiteX50" fmla="*/ 8576481 w 10678769"/>
              <a:gd name="connsiteY50" fmla="*/ 2286425 h 9151682"/>
              <a:gd name="connsiteX51" fmla="*/ 8030178 w 10678769"/>
              <a:gd name="connsiteY51" fmla="*/ 3379031 h 9151682"/>
              <a:gd name="connsiteX52" fmla="*/ 6655158 w 10678769"/>
              <a:gd name="connsiteY52" fmla="*/ 3379031 h 9151682"/>
              <a:gd name="connsiteX53" fmla="*/ 6108854 w 10678769"/>
              <a:gd name="connsiteY53" fmla="*/ 2286425 h 9151682"/>
              <a:gd name="connsiteX54" fmla="*/ 546304 w 10678769"/>
              <a:gd name="connsiteY54" fmla="*/ 2367585 h 9151682"/>
              <a:gd name="connsiteX55" fmla="*/ 1921324 w 10678769"/>
              <a:gd name="connsiteY55" fmla="*/ 2367585 h 9151682"/>
              <a:gd name="connsiteX56" fmla="*/ 2467627 w 10678769"/>
              <a:gd name="connsiteY56" fmla="*/ 3460191 h 9151682"/>
              <a:gd name="connsiteX57" fmla="*/ 1921324 w 10678769"/>
              <a:gd name="connsiteY57" fmla="*/ 4552797 h 9151682"/>
              <a:gd name="connsiteX58" fmla="*/ 546304 w 10678769"/>
              <a:gd name="connsiteY58" fmla="*/ 4552798 h 9151682"/>
              <a:gd name="connsiteX59" fmla="*/ 0 w 10678769"/>
              <a:gd name="connsiteY59" fmla="*/ 3460192 h 9151682"/>
              <a:gd name="connsiteX60" fmla="*/ 2575963 w 10678769"/>
              <a:gd name="connsiteY60" fmla="*/ 1165055 h 9151682"/>
              <a:gd name="connsiteX61" fmla="*/ 3950983 w 10678769"/>
              <a:gd name="connsiteY61" fmla="*/ 1165055 h 9151682"/>
              <a:gd name="connsiteX62" fmla="*/ 4497286 w 10678769"/>
              <a:gd name="connsiteY62" fmla="*/ 2257661 h 9151682"/>
              <a:gd name="connsiteX63" fmla="*/ 3950983 w 10678769"/>
              <a:gd name="connsiteY63" fmla="*/ 3350267 h 9151682"/>
              <a:gd name="connsiteX64" fmla="*/ 2575963 w 10678769"/>
              <a:gd name="connsiteY64" fmla="*/ 3350267 h 9151682"/>
              <a:gd name="connsiteX65" fmla="*/ 2029659 w 10678769"/>
              <a:gd name="connsiteY65" fmla="*/ 2257661 h 9151682"/>
              <a:gd name="connsiteX66" fmla="*/ 4623566 w 10678769"/>
              <a:gd name="connsiteY66" fmla="*/ 0 h 9151682"/>
              <a:gd name="connsiteX67" fmla="*/ 5998586 w 10678769"/>
              <a:gd name="connsiteY67" fmla="*/ 0 h 9151682"/>
              <a:gd name="connsiteX68" fmla="*/ 6544889 w 10678769"/>
              <a:gd name="connsiteY68" fmla="*/ 1092606 h 9151682"/>
              <a:gd name="connsiteX69" fmla="*/ 5998586 w 10678769"/>
              <a:gd name="connsiteY69" fmla="*/ 2185212 h 9151682"/>
              <a:gd name="connsiteX70" fmla="*/ 4623567 w 10678769"/>
              <a:gd name="connsiteY70" fmla="*/ 2185211 h 9151682"/>
              <a:gd name="connsiteX71" fmla="*/ 4077262 w 10678769"/>
              <a:gd name="connsiteY71" fmla="*/ 1092606 h 9151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10678769" h="9151682">
                <a:moveTo>
                  <a:pt x="4680737" y="6966470"/>
                </a:moveTo>
                <a:lnTo>
                  <a:pt x="6055756" y="6966470"/>
                </a:lnTo>
                <a:lnTo>
                  <a:pt x="6602060" y="8059076"/>
                </a:lnTo>
                <a:lnTo>
                  <a:pt x="6055757" y="9151682"/>
                </a:lnTo>
                <a:lnTo>
                  <a:pt x="4680737" y="9151682"/>
                </a:lnTo>
                <a:lnTo>
                  <a:pt x="4134433" y="8059076"/>
                </a:lnTo>
                <a:close/>
                <a:moveTo>
                  <a:pt x="6724257" y="5810624"/>
                </a:moveTo>
                <a:lnTo>
                  <a:pt x="8099277" y="5810624"/>
                </a:lnTo>
                <a:lnTo>
                  <a:pt x="8645580" y="6903230"/>
                </a:lnTo>
                <a:lnTo>
                  <a:pt x="8099277" y="7995836"/>
                </a:lnTo>
                <a:lnTo>
                  <a:pt x="6724257" y="7995836"/>
                </a:lnTo>
                <a:lnTo>
                  <a:pt x="6177953" y="6903230"/>
                </a:lnTo>
                <a:close/>
                <a:moveTo>
                  <a:pt x="8757446" y="4635560"/>
                </a:moveTo>
                <a:lnTo>
                  <a:pt x="10132466" y="4635560"/>
                </a:lnTo>
                <a:lnTo>
                  <a:pt x="10678769" y="5728166"/>
                </a:lnTo>
                <a:lnTo>
                  <a:pt x="10132466" y="6820772"/>
                </a:lnTo>
                <a:lnTo>
                  <a:pt x="8757446" y="6820772"/>
                </a:lnTo>
                <a:lnTo>
                  <a:pt x="8211142" y="5728166"/>
                </a:lnTo>
                <a:close/>
                <a:moveTo>
                  <a:pt x="2601660" y="5800740"/>
                </a:moveTo>
                <a:lnTo>
                  <a:pt x="3976680" y="5800739"/>
                </a:lnTo>
                <a:lnTo>
                  <a:pt x="4522983" y="6893346"/>
                </a:lnTo>
                <a:lnTo>
                  <a:pt x="3976680" y="7985952"/>
                </a:lnTo>
                <a:lnTo>
                  <a:pt x="2601660" y="7985952"/>
                </a:lnTo>
                <a:lnTo>
                  <a:pt x="2055356" y="6893346"/>
                </a:lnTo>
                <a:close/>
                <a:moveTo>
                  <a:pt x="4657904" y="4645326"/>
                </a:moveTo>
                <a:lnTo>
                  <a:pt x="6056235" y="4645325"/>
                </a:lnTo>
                <a:lnTo>
                  <a:pt x="6600069" y="5732994"/>
                </a:lnTo>
                <a:lnTo>
                  <a:pt x="6056234" y="6820663"/>
                </a:lnTo>
                <a:lnTo>
                  <a:pt x="4657903" y="6820663"/>
                </a:lnTo>
                <a:lnTo>
                  <a:pt x="4114068" y="5732994"/>
                </a:lnTo>
                <a:close/>
                <a:moveTo>
                  <a:pt x="6693779" y="3470152"/>
                </a:moveTo>
                <a:lnTo>
                  <a:pt x="8068798" y="3470151"/>
                </a:lnTo>
                <a:lnTo>
                  <a:pt x="8615102" y="4562757"/>
                </a:lnTo>
                <a:lnTo>
                  <a:pt x="8068799" y="5655363"/>
                </a:lnTo>
                <a:lnTo>
                  <a:pt x="6693779" y="5655362"/>
                </a:lnTo>
                <a:lnTo>
                  <a:pt x="6147475" y="4562757"/>
                </a:lnTo>
                <a:close/>
                <a:moveTo>
                  <a:pt x="2593792" y="3492965"/>
                </a:moveTo>
                <a:lnTo>
                  <a:pt x="3968812" y="3492966"/>
                </a:lnTo>
                <a:lnTo>
                  <a:pt x="4515115" y="4585571"/>
                </a:lnTo>
                <a:lnTo>
                  <a:pt x="3968812" y="5678177"/>
                </a:lnTo>
                <a:lnTo>
                  <a:pt x="2593792" y="5678177"/>
                </a:lnTo>
                <a:lnTo>
                  <a:pt x="2047488" y="4585571"/>
                </a:lnTo>
                <a:close/>
                <a:moveTo>
                  <a:pt x="4617871" y="2322801"/>
                </a:moveTo>
                <a:lnTo>
                  <a:pt x="5992891" y="2322802"/>
                </a:lnTo>
                <a:lnTo>
                  <a:pt x="6539195" y="3415407"/>
                </a:lnTo>
                <a:lnTo>
                  <a:pt x="5992891" y="4508012"/>
                </a:lnTo>
                <a:lnTo>
                  <a:pt x="4617872" y="4508013"/>
                </a:lnTo>
                <a:lnTo>
                  <a:pt x="4071567" y="3415407"/>
                </a:lnTo>
                <a:close/>
                <a:moveTo>
                  <a:pt x="6655158" y="1193819"/>
                </a:moveTo>
                <a:lnTo>
                  <a:pt x="8030178" y="1193819"/>
                </a:lnTo>
                <a:lnTo>
                  <a:pt x="8576481" y="2286425"/>
                </a:lnTo>
                <a:lnTo>
                  <a:pt x="8030178" y="3379031"/>
                </a:lnTo>
                <a:lnTo>
                  <a:pt x="6655158" y="3379031"/>
                </a:lnTo>
                <a:lnTo>
                  <a:pt x="6108854" y="2286425"/>
                </a:lnTo>
                <a:close/>
                <a:moveTo>
                  <a:pt x="546304" y="2367585"/>
                </a:moveTo>
                <a:lnTo>
                  <a:pt x="1921324" y="2367585"/>
                </a:lnTo>
                <a:lnTo>
                  <a:pt x="2467627" y="3460191"/>
                </a:lnTo>
                <a:lnTo>
                  <a:pt x="1921324" y="4552797"/>
                </a:lnTo>
                <a:lnTo>
                  <a:pt x="546304" y="4552798"/>
                </a:lnTo>
                <a:lnTo>
                  <a:pt x="0" y="3460192"/>
                </a:lnTo>
                <a:close/>
                <a:moveTo>
                  <a:pt x="2575963" y="1165055"/>
                </a:moveTo>
                <a:lnTo>
                  <a:pt x="3950983" y="1165055"/>
                </a:lnTo>
                <a:lnTo>
                  <a:pt x="4497286" y="2257661"/>
                </a:lnTo>
                <a:lnTo>
                  <a:pt x="3950983" y="3350267"/>
                </a:lnTo>
                <a:lnTo>
                  <a:pt x="2575963" y="3350267"/>
                </a:lnTo>
                <a:lnTo>
                  <a:pt x="2029659" y="2257661"/>
                </a:lnTo>
                <a:close/>
                <a:moveTo>
                  <a:pt x="4623566" y="0"/>
                </a:moveTo>
                <a:lnTo>
                  <a:pt x="5998586" y="0"/>
                </a:lnTo>
                <a:lnTo>
                  <a:pt x="6544889" y="1092606"/>
                </a:lnTo>
                <a:lnTo>
                  <a:pt x="5998586" y="2185212"/>
                </a:lnTo>
                <a:lnTo>
                  <a:pt x="4623567" y="2185211"/>
                </a:lnTo>
                <a:lnTo>
                  <a:pt x="4077262" y="1092606"/>
                </a:lnTo>
                <a:close/>
              </a:path>
            </a:pathLst>
          </a:cu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pic>
        <p:nvPicPr>
          <p:cNvPr id="7" name="Picture 6">
            <a:extLst>
              <a:ext uri="{FF2B5EF4-FFF2-40B4-BE49-F238E27FC236}">
                <a16:creationId xmlns:a16="http://schemas.microsoft.com/office/drawing/2014/main" id="{A19BEA69-5E49-DC46-C940-84835CF527C3}"/>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40000"/>
                    </a14:imgEffect>
                  </a14:imgLayer>
                </a14:imgProps>
              </a:ext>
              <a:ext uri="{28A0092B-C50C-407E-A947-70E740481C1C}">
                <a14:useLocalDpi xmlns:a14="http://schemas.microsoft.com/office/drawing/2010/main" val="0"/>
              </a:ext>
            </a:extLst>
          </a:blip>
          <a:stretch>
            <a:fillRect/>
          </a:stretch>
        </p:blipFill>
        <p:spPr>
          <a:xfrm>
            <a:off x="-581706" y="801188"/>
            <a:ext cx="4505325" cy="2524125"/>
          </a:xfrm>
          <a:prstGeom prst="rect">
            <a:avLst/>
          </a:prstGeom>
        </p:spPr>
      </p:pic>
    </p:spTree>
    <p:extLst>
      <p:ext uri="{BB962C8B-B14F-4D97-AF65-F5344CB8AC3E}">
        <p14:creationId xmlns:p14="http://schemas.microsoft.com/office/powerpoint/2010/main" val="3271552952"/>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C1209-88EE-B2BE-C4BF-216F62BD5A6C}"/>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6BFB798C-33ED-12E6-EBB9-09A89373508C}"/>
              </a:ext>
            </a:extLst>
          </p:cNvPr>
          <p:cNvPicPr>
            <a:picLocks noChangeAspect="1"/>
          </p:cNvPicPr>
          <p:nvPr/>
        </p:nvPicPr>
        <p:blipFill>
          <a:blip r:embed="rId2">
            <a:clrChange>
              <a:clrFrom>
                <a:srgbClr val="071002"/>
              </a:clrFrom>
              <a:clrTo>
                <a:srgbClr val="071002">
                  <a:alpha val="0"/>
                </a:srgbClr>
              </a:clrTo>
            </a:clrChange>
            <a:extLst>
              <a:ext uri="{BEBA8EAE-BF5A-486C-A8C5-ECC9F3942E4B}">
                <a14:imgProps xmlns:a14="http://schemas.microsoft.com/office/drawing/2010/main">
                  <a14:imgLayer r:embed="rId3">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grpSp>
        <p:nvGrpSpPr>
          <p:cNvPr id="3" name="Group 2">
            <a:extLst>
              <a:ext uri="{FF2B5EF4-FFF2-40B4-BE49-F238E27FC236}">
                <a16:creationId xmlns:a16="http://schemas.microsoft.com/office/drawing/2014/main" id="{BCA9A908-F6B4-32F4-FE6C-C45243F8430A}"/>
              </a:ext>
            </a:extLst>
          </p:cNvPr>
          <p:cNvGrpSpPr/>
          <p:nvPr/>
        </p:nvGrpSpPr>
        <p:grpSpPr>
          <a:xfrm>
            <a:off x="-8340853" y="-557784"/>
            <a:ext cx="8098536" cy="7973568"/>
            <a:chOff x="-4652773" y="0"/>
            <a:chExt cx="8098536" cy="7973568"/>
          </a:xfrm>
        </p:grpSpPr>
        <p:sp>
          <p:nvSpPr>
            <p:cNvPr id="20" name="Oval 19">
              <a:extLst>
                <a:ext uri="{FF2B5EF4-FFF2-40B4-BE49-F238E27FC236}">
                  <a16:creationId xmlns:a16="http://schemas.microsoft.com/office/drawing/2014/main" id="{397E1E68-3154-BC59-4D4A-6DD06BD6FADD}"/>
                </a:ext>
              </a:extLst>
            </p:cNvPr>
            <p:cNvSpPr/>
            <p:nvPr/>
          </p:nvSpPr>
          <p:spPr>
            <a:xfrm>
              <a:off x="-4652773" y="0"/>
              <a:ext cx="8098536" cy="7973568"/>
            </a:xfrm>
            <a:prstGeom prst="ellipse">
              <a:avLst/>
            </a:prstGeom>
            <a:solidFill>
              <a:schemeClr val="accent2">
                <a:lumMod val="50000"/>
              </a:schemeClr>
            </a:solidFill>
            <a:effectLst>
              <a:outerShdw blurRad="50800" dist="38100" sx="102000" sy="102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5" name="TextBox 24">
              <a:extLst>
                <a:ext uri="{FF2B5EF4-FFF2-40B4-BE49-F238E27FC236}">
                  <a16:creationId xmlns:a16="http://schemas.microsoft.com/office/drawing/2014/main" id="{6AC30F66-0573-1E8A-436D-E027692AC5A9}"/>
                </a:ext>
              </a:extLst>
            </p:cNvPr>
            <p:cNvSpPr txBox="1"/>
            <p:nvPr/>
          </p:nvSpPr>
          <p:spPr>
            <a:xfrm rot="16200000">
              <a:off x="-542085" y="2175676"/>
              <a:ext cx="4607019" cy="1862048"/>
            </a:xfrm>
            <a:prstGeom prst="rect">
              <a:avLst/>
            </a:prstGeom>
            <a:noFill/>
          </p:spPr>
          <p:txBody>
            <a:bodyPr wrap="square" rtlCol="0">
              <a:spAutoFit/>
            </a:bodyPr>
            <a:lstStyle/>
            <a:p>
              <a:r>
                <a:rPr lang="en-IN" sz="11500" dirty="0"/>
                <a:t>BRIEF</a:t>
              </a:r>
              <a:endParaRPr lang="en-IN" sz="19900" dirty="0"/>
            </a:p>
          </p:txBody>
        </p:sp>
      </p:grpSp>
      <p:sp>
        <p:nvSpPr>
          <p:cNvPr id="4" name="Rectangle 3">
            <a:extLst>
              <a:ext uri="{FF2B5EF4-FFF2-40B4-BE49-F238E27FC236}">
                <a16:creationId xmlns:a16="http://schemas.microsoft.com/office/drawing/2014/main" id="{5DD5C2AF-D399-4DC5-4305-2CE747728366}"/>
              </a:ext>
            </a:extLst>
          </p:cNvPr>
          <p:cNvSpPr/>
          <p:nvPr/>
        </p:nvSpPr>
        <p:spPr>
          <a:xfrm>
            <a:off x="-1021080" y="6338274"/>
            <a:ext cx="14234160" cy="6004560"/>
          </a:xfrm>
          <a:prstGeom prst="rect">
            <a:avLst/>
          </a:prstGeom>
          <a:gradFill>
            <a:gsLst>
              <a:gs pos="0">
                <a:schemeClr val="bg1">
                  <a:lumMod val="95000"/>
                  <a:lumOff val="5000"/>
                  <a:alpha val="0"/>
                </a:schemeClr>
              </a:gs>
              <a:gs pos="77000">
                <a:schemeClr val="tx2">
                  <a:lumMod val="10000"/>
                </a:schemeClr>
              </a:gs>
            </a:gsLst>
            <a:lin ang="612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6525ECA4-4CEE-C419-8109-3C97A1FAAFF3}"/>
              </a:ext>
            </a:extLst>
          </p:cNvPr>
          <p:cNvSpPr txBox="1"/>
          <p:nvPr/>
        </p:nvSpPr>
        <p:spPr>
          <a:xfrm>
            <a:off x="3001108" y="7171667"/>
            <a:ext cx="9190892" cy="4801314"/>
          </a:xfrm>
          <a:prstGeom prst="rect">
            <a:avLst/>
          </a:prstGeom>
          <a:noFill/>
        </p:spPr>
        <p:txBody>
          <a:bodyPr wrap="square">
            <a:spAutoFit/>
          </a:bodyPr>
          <a:lstStyle/>
          <a:p>
            <a:r>
              <a:rPr lang="en-IN" b="1" dirty="0">
                <a:latin typeface="Liberation Serif"/>
              </a:rPr>
              <a:t>Problem Statement</a:t>
            </a:r>
          </a:p>
          <a:p>
            <a:r>
              <a:rPr lang="en-IN" dirty="0">
                <a:latin typeface="Liberation Serif"/>
              </a:rPr>
              <a:t>During disaster situations, reaching affected areas quickly and safely becomes very difficult for rescue teams. Ground search operations take time and are often restricted by damaged infrastructure and unsafe terrain. Our main challenge is to </a:t>
            </a:r>
            <a:r>
              <a:rPr lang="en-IN" b="1" dirty="0">
                <a:latin typeface="Liberation Serif"/>
              </a:rPr>
              <a:t>scan large areas quickly</a:t>
            </a:r>
            <a:r>
              <a:rPr lang="en-IN" dirty="0">
                <a:latin typeface="Liberation Serif"/>
              </a:rPr>
              <a:t>, </a:t>
            </a:r>
            <a:r>
              <a:rPr lang="en-IN" b="1" dirty="0">
                <a:latin typeface="Liberation Serif"/>
              </a:rPr>
              <a:t>identify survivors accurately</a:t>
            </a:r>
            <a:r>
              <a:rPr lang="en-IN" dirty="0">
                <a:latin typeface="Liberation Serif"/>
              </a:rPr>
              <a:t>, and </a:t>
            </a:r>
            <a:r>
              <a:rPr lang="en-IN" b="1" dirty="0">
                <a:latin typeface="Liberation Serif"/>
              </a:rPr>
              <a:t>deliver essential supplies on time</a:t>
            </a:r>
            <a:r>
              <a:rPr lang="en-IN" dirty="0">
                <a:latin typeface="Liberation Serif"/>
              </a:rPr>
              <a:t> without putting human lives at risk. Using a single drone for all these tasks can reduce efficiency, so we needed a better and more reliable approach.</a:t>
            </a:r>
          </a:p>
          <a:p>
            <a:r>
              <a:rPr lang="en-IN" dirty="0">
                <a:latin typeface="Liberation Serif"/>
              </a:rPr>
              <a:t> </a:t>
            </a:r>
          </a:p>
          <a:p>
            <a:r>
              <a:rPr lang="en-IN" dirty="0">
                <a:latin typeface="Liberation Serif"/>
              </a:rPr>
              <a:t> </a:t>
            </a:r>
          </a:p>
          <a:p>
            <a:r>
              <a:rPr lang="en-IN" b="1" dirty="0">
                <a:latin typeface="Liberation Serif"/>
              </a:rPr>
              <a:t>Overall Solution</a:t>
            </a:r>
          </a:p>
          <a:p>
            <a:r>
              <a:rPr lang="en-IN" dirty="0">
                <a:latin typeface="Liberation Serif"/>
              </a:rPr>
              <a:t>To solve this problem, we designed a </a:t>
            </a:r>
            <a:r>
              <a:rPr lang="en-IN" b="1" dirty="0">
                <a:latin typeface="Liberation Serif"/>
              </a:rPr>
              <a:t>two-drone system</a:t>
            </a:r>
            <a:r>
              <a:rPr lang="en-IN" dirty="0">
                <a:latin typeface="Liberation Serif"/>
              </a:rPr>
              <a:t>. We use a </a:t>
            </a:r>
            <a:r>
              <a:rPr lang="en-IN" b="1" dirty="0">
                <a:latin typeface="Liberation Serif"/>
              </a:rPr>
              <a:t>scanning drone</a:t>
            </a:r>
            <a:r>
              <a:rPr lang="en-IN" dirty="0">
                <a:latin typeface="Liberation Serif"/>
              </a:rPr>
              <a:t> to survey the disaster area and detect survivors using onboard camera and processing. Once a location is identified, we accurately mark it using RTK-based GPS. Based on this information, we deploy a </a:t>
            </a:r>
            <a:r>
              <a:rPr lang="en-IN" b="1" dirty="0">
                <a:latin typeface="Liberation Serif"/>
              </a:rPr>
              <a:t>separate delivery drone</a:t>
            </a:r>
            <a:r>
              <a:rPr lang="en-IN" dirty="0">
                <a:latin typeface="Liberation Serif"/>
              </a:rPr>
              <a:t> that carries and drops the payload at the required location.</a:t>
            </a:r>
          </a:p>
          <a:p>
            <a:r>
              <a:rPr lang="en-IN" dirty="0">
                <a:latin typeface="Liberation Serif"/>
              </a:rPr>
              <a:t>Both drones are operated through a </a:t>
            </a:r>
            <a:r>
              <a:rPr lang="en-IN" b="1" dirty="0">
                <a:latin typeface="Liberation Serif"/>
              </a:rPr>
              <a:t>single ground control setup</a:t>
            </a:r>
            <a:r>
              <a:rPr lang="en-IN" dirty="0">
                <a:latin typeface="Liberation Serif"/>
              </a:rPr>
              <a:t>, allowing us to monitor missions and intervene when needed. By separating scanning and delivery tasks, we improve accuracy, reduce mission risk, and ensure smoother operations during disaster response.</a:t>
            </a:r>
          </a:p>
        </p:txBody>
      </p:sp>
      <p:sp>
        <p:nvSpPr>
          <p:cNvPr id="2" name="TextBox 1">
            <a:extLst>
              <a:ext uri="{FF2B5EF4-FFF2-40B4-BE49-F238E27FC236}">
                <a16:creationId xmlns:a16="http://schemas.microsoft.com/office/drawing/2014/main" id="{B510414D-B504-3D8D-9DF9-118EE64930A6}"/>
              </a:ext>
            </a:extLst>
          </p:cNvPr>
          <p:cNvSpPr txBox="1"/>
          <p:nvPr/>
        </p:nvSpPr>
        <p:spPr>
          <a:xfrm>
            <a:off x="0" y="1132671"/>
            <a:ext cx="8818473" cy="1015663"/>
          </a:xfrm>
          <a:prstGeom prst="rect">
            <a:avLst/>
          </a:prstGeom>
          <a:solidFill>
            <a:schemeClr val="bg2">
              <a:lumMod val="75000"/>
            </a:schemeClr>
          </a:solidFill>
        </p:spPr>
        <p:txBody>
          <a:bodyPr wrap="square" rtlCol="0">
            <a:spAutoFit/>
          </a:bodyPr>
          <a:lstStyle/>
          <a:p>
            <a:r>
              <a:rPr lang="en-IN" sz="6000" b="1" dirty="0"/>
              <a:t>MEET THE TEAM:</a:t>
            </a:r>
          </a:p>
        </p:txBody>
      </p:sp>
      <p:grpSp>
        <p:nvGrpSpPr>
          <p:cNvPr id="12" name="Group 11">
            <a:extLst>
              <a:ext uri="{FF2B5EF4-FFF2-40B4-BE49-F238E27FC236}">
                <a16:creationId xmlns:a16="http://schemas.microsoft.com/office/drawing/2014/main" id="{A1826D74-82F9-D146-1052-26EEEBA541B4}"/>
              </a:ext>
            </a:extLst>
          </p:cNvPr>
          <p:cNvGrpSpPr/>
          <p:nvPr/>
        </p:nvGrpSpPr>
        <p:grpSpPr>
          <a:xfrm>
            <a:off x="120464" y="2571304"/>
            <a:ext cx="2714902" cy="2212068"/>
            <a:chOff x="1263112" y="2842053"/>
            <a:chExt cx="2293749" cy="1791940"/>
          </a:xfrm>
        </p:grpSpPr>
        <p:sp>
          <p:nvSpPr>
            <p:cNvPr id="5" name="Oval 4">
              <a:extLst>
                <a:ext uri="{FF2B5EF4-FFF2-40B4-BE49-F238E27FC236}">
                  <a16:creationId xmlns:a16="http://schemas.microsoft.com/office/drawing/2014/main" id="{069FDA44-DF80-C3CE-6066-F751A9D5DE86}"/>
                </a:ext>
              </a:extLst>
            </p:cNvPr>
            <p:cNvSpPr/>
            <p:nvPr/>
          </p:nvSpPr>
          <p:spPr>
            <a:xfrm>
              <a:off x="1556951" y="2842053"/>
              <a:ext cx="1655806" cy="1655805"/>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51464C77-6F22-C377-5C1D-F575C98C85A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12032" y="2842053"/>
              <a:ext cx="1145643" cy="1134232"/>
            </a:xfrm>
            <a:prstGeom prst="rect">
              <a:avLst/>
            </a:prstGeom>
          </p:spPr>
        </p:pic>
        <p:sp>
          <p:nvSpPr>
            <p:cNvPr id="9" name="Rectangle: Rounded Corners 8">
              <a:extLst>
                <a:ext uri="{FF2B5EF4-FFF2-40B4-BE49-F238E27FC236}">
                  <a16:creationId xmlns:a16="http://schemas.microsoft.com/office/drawing/2014/main" id="{378BF0AD-4CCC-D06B-9E15-BFB9FB891549}"/>
                </a:ext>
              </a:extLst>
            </p:cNvPr>
            <p:cNvSpPr/>
            <p:nvPr/>
          </p:nvSpPr>
          <p:spPr>
            <a:xfrm>
              <a:off x="1263112" y="3976285"/>
              <a:ext cx="2293749" cy="657708"/>
            </a:xfrm>
            <a:prstGeom prst="roundRect">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E2F5D892-CCB1-80FE-C7E6-BC8CA8EC7098}"/>
                </a:ext>
              </a:extLst>
            </p:cNvPr>
            <p:cNvSpPr txBox="1"/>
            <p:nvPr/>
          </p:nvSpPr>
          <p:spPr>
            <a:xfrm>
              <a:off x="1556951" y="4114800"/>
              <a:ext cx="1655806" cy="461665"/>
            </a:xfrm>
            <a:prstGeom prst="rect">
              <a:avLst/>
            </a:prstGeom>
            <a:noFill/>
          </p:spPr>
          <p:txBody>
            <a:bodyPr wrap="square" rtlCol="0">
              <a:spAutoFit/>
            </a:bodyPr>
            <a:lstStyle/>
            <a:p>
              <a:pPr algn="ctr"/>
              <a:r>
                <a:rPr lang="en-IN" sz="1200" b="1" dirty="0"/>
                <a:t>PRIYANSHU GIRI</a:t>
              </a:r>
            </a:p>
            <a:p>
              <a:pPr algn="ctr"/>
              <a:r>
                <a:rPr lang="en-IN" sz="1200" b="1" dirty="0"/>
                <a:t>AUTOMATION</a:t>
              </a:r>
            </a:p>
          </p:txBody>
        </p:sp>
      </p:grpSp>
      <p:grpSp>
        <p:nvGrpSpPr>
          <p:cNvPr id="14" name="Group 13">
            <a:extLst>
              <a:ext uri="{FF2B5EF4-FFF2-40B4-BE49-F238E27FC236}">
                <a16:creationId xmlns:a16="http://schemas.microsoft.com/office/drawing/2014/main" id="{B8E91E6B-DA2D-0EEE-0C8A-92E6937746FE}"/>
              </a:ext>
            </a:extLst>
          </p:cNvPr>
          <p:cNvGrpSpPr/>
          <p:nvPr/>
        </p:nvGrpSpPr>
        <p:grpSpPr>
          <a:xfrm>
            <a:off x="7721388" y="3985563"/>
            <a:ext cx="2657322" cy="2155601"/>
            <a:chOff x="1263112" y="2842053"/>
            <a:chExt cx="2293749" cy="1791940"/>
          </a:xfrm>
        </p:grpSpPr>
        <p:sp>
          <p:nvSpPr>
            <p:cNvPr id="15" name="Oval 14">
              <a:extLst>
                <a:ext uri="{FF2B5EF4-FFF2-40B4-BE49-F238E27FC236}">
                  <a16:creationId xmlns:a16="http://schemas.microsoft.com/office/drawing/2014/main" id="{B0C9979E-4D14-BA08-A601-D2B559D882D4}"/>
                </a:ext>
              </a:extLst>
            </p:cNvPr>
            <p:cNvSpPr/>
            <p:nvPr/>
          </p:nvSpPr>
          <p:spPr>
            <a:xfrm>
              <a:off x="1556951" y="2842053"/>
              <a:ext cx="1655806" cy="1655805"/>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6" name="Picture 15">
              <a:extLst>
                <a:ext uri="{FF2B5EF4-FFF2-40B4-BE49-F238E27FC236}">
                  <a16:creationId xmlns:a16="http://schemas.microsoft.com/office/drawing/2014/main" id="{59A0BEAF-68A0-8BB5-0759-C70190D99F9B}"/>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830551" y="2854713"/>
              <a:ext cx="1158869" cy="1487221"/>
            </a:xfrm>
            <a:prstGeom prst="rect">
              <a:avLst/>
            </a:prstGeom>
          </p:spPr>
        </p:pic>
        <p:sp>
          <p:nvSpPr>
            <p:cNvPr id="17" name="Rectangle: Rounded Corners 16">
              <a:extLst>
                <a:ext uri="{FF2B5EF4-FFF2-40B4-BE49-F238E27FC236}">
                  <a16:creationId xmlns:a16="http://schemas.microsoft.com/office/drawing/2014/main" id="{08AB51FF-5FA0-0E66-A0A7-B65AB641DC79}"/>
                </a:ext>
              </a:extLst>
            </p:cNvPr>
            <p:cNvSpPr/>
            <p:nvPr/>
          </p:nvSpPr>
          <p:spPr>
            <a:xfrm>
              <a:off x="1263112" y="3976285"/>
              <a:ext cx="2293749" cy="657708"/>
            </a:xfrm>
            <a:prstGeom prst="roundRect">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7BBC4F23-1807-F8DD-BA9C-D573DA7762F7}"/>
                </a:ext>
              </a:extLst>
            </p:cNvPr>
            <p:cNvSpPr txBox="1"/>
            <p:nvPr/>
          </p:nvSpPr>
          <p:spPr>
            <a:xfrm>
              <a:off x="1556951" y="4126318"/>
              <a:ext cx="1655806" cy="383780"/>
            </a:xfrm>
            <a:prstGeom prst="rect">
              <a:avLst/>
            </a:prstGeom>
            <a:noFill/>
          </p:spPr>
          <p:txBody>
            <a:bodyPr wrap="square" rtlCol="0">
              <a:spAutoFit/>
            </a:bodyPr>
            <a:lstStyle/>
            <a:p>
              <a:pPr algn="ctr"/>
              <a:r>
                <a:rPr lang="en-IN" sz="1200" b="1" dirty="0"/>
                <a:t>ASHISH</a:t>
              </a:r>
            </a:p>
            <a:p>
              <a:pPr algn="ctr"/>
              <a:r>
                <a:rPr lang="en-IN" sz="1200" b="1" dirty="0"/>
                <a:t>PROPULSION</a:t>
              </a:r>
            </a:p>
          </p:txBody>
        </p:sp>
      </p:grpSp>
      <p:grpSp>
        <p:nvGrpSpPr>
          <p:cNvPr id="19" name="Group 18">
            <a:extLst>
              <a:ext uri="{FF2B5EF4-FFF2-40B4-BE49-F238E27FC236}">
                <a16:creationId xmlns:a16="http://schemas.microsoft.com/office/drawing/2014/main" id="{4DFBD15D-D604-D300-5752-AEED658C1AC6}"/>
              </a:ext>
            </a:extLst>
          </p:cNvPr>
          <p:cNvGrpSpPr/>
          <p:nvPr/>
        </p:nvGrpSpPr>
        <p:grpSpPr>
          <a:xfrm>
            <a:off x="2737406" y="3919470"/>
            <a:ext cx="2774478" cy="2155601"/>
            <a:chOff x="1263112" y="2842053"/>
            <a:chExt cx="2293749" cy="1791940"/>
          </a:xfrm>
        </p:grpSpPr>
        <p:sp>
          <p:nvSpPr>
            <p:cNvPr id="21" name="Oval 20">
              <a:extLst>
                <a:ext uri="{FF2B5EF4-FFF2-40B4-BE49-F238E27FC236}">
                  <a16:creationId xmlns:a16="http://schemas.microsoft.com/office/drawing/2014/main" id="{EC20B903-742C-8B61-D2E7-C0FA4AF3E6BF}"/>
                </a:ext>
              </a:extLst>
            </p:cNvPr>
            <p:cNvSpPr/>
            <p:nvPr/>
          </p:nvSpPr>
          <p:spPr>
            <a:xfrm>
              <a:off x="1556951" y="2842053"/>
              <a:ext cx="1655806" cy="1655805"/>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2" name="Picture 21">
              <a:extLst>
                <a:ext uri="{FF2B5EF4-FFF2-40B4-BE49-F238E27FC236}">
                  <a16:creationId xmlns:a16="http://schemas.microsoft.com/office/drawing/2014/main" id="{F1B4CAEB-D283-EAE9-570E-D2E4E0035390}"/>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859033" y="2842053"/>
              <a:ext cx="1051642" cy="1134232"/>
            </a:xfrm>
            <a:prstGeom prst="rect">
              <a:avLst/>
            </a:prstGeom>
          </p:spPr>
        </p:pic>
        <p:sp>
          <p:nvSpPr>
            <p:cNvPr id="23" name="Rectangle: Rounded Corners 22">
              <a:extLst>
                <a:ext uri="{FF2B5EF4-FFF2-40B4-BE49-F238E27FC236}">
                  <a16:creationId xmlns:a16="http://schemas.microsoft.com/office/drawing/2014/main" id="{AED6C437-C607-74AA-9ABC-6301E6B99E3E}"/>
                </a:ext>
              </a:extLst>
            </p:cNvPr>
            <p:cNvSpPr/>
            <p:nvPr/>
          </p:nvSpPr>
          <p:spPr>
            <a:xfrm>
              <a:off x="1263112" y="3976285"/>
              <a:ext cx="2293749" cy="657708"/>
            </a:xfrm>
            <a:prstGeom prst="roundRect">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4EE530F8-A777-F5CC-83A8-018BBEC9840D}"/>
                </a:ext>
              </a:extLst>
            </p:cNvPr>
            <p:cNvSpPr txBox="1"/>
            <p:nvPr/>
          </p:nvSpPr>
          <p:spPr>
            <a:xfrm>
              <a:off x="1556951" y="4114800"/>
              <a:ext cx="1655806" cy="383780"/>
            </a:xfrm>
            <a:prstGeom prst="rect">
              <a:avLst/>
            </a:prstGeom>
            <a:noFill/>
          </p:spPr>
          <p:txBody>
            <a:bodyPr wrap="square" rtlCol="0">
              <a:spAutoFit/>
            </a:bodyPr>
            <a:lstStyle/>
            <a:p>
              <a:pPr algn="ctr"/>
              <a:r>
                <a:rPr lang="en-IN" sz="1200" b="1" dirty="0"/>
                <a:t>HARSHIT </a:t>
              </a:r>
            </a:p>
            <a:p>
              <a:pPr algn="ctr"/>
              <a:r>
                <a:rPr lang="en-IN" sz="1200" b="1" dirty="0"/>
                <a:t>AVIONICS</a:t>
              </a:r>
            </a:p>
          </p:txBody>
        </p:sp>
      </p:grpSp>
      <p:grpSp>
        <p:nvGrpSpPr>
          <p:cNvPr id="26" name="Group 25">
            <a:extLst>
              <a:ext uri="{FF2B5EF4-FFF2-40B4-BE49-F238E27FC236}">
                <a16:creationId xmlns:a16="http://schemas.microsoft.com/office/drawing/2014/main" id="{C27B2608-48A3-D233-36C9-797D3B217EE4}"/>
              </a:ext>
            </a:extLst>
          </p:cNvPr>
          <p:cNvGrpSpPr/>
          <p:nvPr/>
        </p:nvGrpSpPr>
        <p:grpSpPr>
          <a:xfrm>
            <a:off x="5260556" y="2526373"/>
            <a:ext cx="2774477" cy="2165298"/>
            <a:chOff x="1263112" y="2842053"/>
            <a:chExt cx="2293749" cy="1791940"/>
          </a:xfrm>
        </p:grpSpPr>
        <p:sp>
          <p:nvSpPr>
            <p:cNvPr id="27" name="Oval 26">
              <a:extLst>
                <a:ext uri="{FF2B5EF4-FFF2-40B4-BE49-F238E27FC236}">
                  <a16:creationId xmlns:a16="http://schemas.microsoft.com/office/drawing/2014/main" id="{384B25B2-AB27-5F09-776F-C4D1E7BD1144}"/>
                </a:ext>
              </a:extLst>
            </p:cNvPr>
            <p:cNvSpPr/>
            <p:nvPr/>
          </p:nvSpPr>
          <p:spPr>
            <a:xfrm>
              <a:off x="1556951" y="2842053"/>
              <a:ext cx="1655806" cy="1655805"/>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8" name="Picture 27">
              <a:extLst>
                <a:ext uri="{FF2B5EF4-FFF2-40B4-BE49-F238E27FC236}">
                  <a16:creationId xmlns:a16="http://schemas.microsoft.com/office/drawing/2014/main" id="{B1EDF29A-6A5D-2E6F-8621-8825B501F059}"/>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928936" y="2975329"/>
              <a:ext cx="929248" cy="1019896"/>
            </a:xfrm>
            <a:prstGeom prst="rect">
              <a:avLst/>
            </a:prstGeom>
          </p:spPr>
        </p:pic>
        <p:sp>
          <p:nvSpPr>
            <p:cNvPr id="29" name="Rectangle: Rounded Corners 28">
              <a:extLst>
                <a:ext uri="{FF2B5EF4-FFF2-40B4-BE49-F238E27FC236}">
                  <a16:creationId xmlns:a16="http://schemas.microsoft.com/office/drawing/2014/main" id="{A9FD945C-30E1-A49B-17B0-145FB551492F}"/>
                </a:ext>
              </a:extLst>
            </p:cNvPr>
            <p:cNvSpPr/>
            <p:nvPr/>
          </p:nvSpPr>
          <p:spPr>
            <a:xfrm>
              <a:off x="1263112" y="3976285"/>
              <a:ext cx="2293749" cy="657708"/>
            </a:xfrm>
            <a:prstGeom prst="roundRect">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028A0E2C-4814-2768-588F-DFEC86F938B1}"/>
                </a:ext>
              </a:extLst>
            </p:cNvPr>
            <p:cNvSpPr txBox="1"/>
            <p:nvPr/>
          </p:nvSpPr>
          <p:spPr>
            <a:xfrm>
              <a:off x="1556951" y="4114800"/>
              <a:ext cx="1655806" cy="382061"/>
            </a:xfrm>
            <a:prstGeom prst="rect">
              <a:avLst/>
            </a:prstGeom>
            <a:noFill/>
          </p:spPr>
          <p:txBody>
            <a:bodyPr wrap="square" rtlCol="0">
              <a:spAutoFit/>
            </a:bodyPr>
            <a:lstStyle/>
            <a:p>
              <a:pPr algn="ctr"/>
              <a:r>
                <a:rPr lang="en-IN" sz="1200" b="1" dirty="0"/>
                <a:t>AYUSH</a:t>
              </a:r>
            </a:p>
            <a:p>
              <a:pPr algn="ctr"/>
              <a:r>
                <a:rPr lang="en-IN" sz="1200" b="1" dirty="0"/>
                <a:t>CAD AND ANALYSIS</a:t>
              </a:r>
            </a:p>
          </p:txBody>
        </p:sp>
      </p:grpSp>
      <p:grpSp>
        <p:nvGrpSpPr>
          <p:cNvPr id="36" name="Group 35">
            <a:extLst>
              <a:ext uri="{FF2B5EF4-FFF2-40B4-BE49-F238E27FC236}">
                <a16:creationId xmlns:a16="http://schemas.microsoft.com/office/drawing/2014/main" id="{85BDC1C1-E46D-0AAD-3083-1177311C22D8}"/>
              </a:ext>
            </a:extLst>
          </p:cNvPr>
          <p:cNvGrpSpPr/>
          <p:nvPr/>
        </p:nvGrpSpPr>
        <p:grpSpPr>
          <a:xfrm>
            <a:off x="9755504" y="2361380"/>
            <a:ext cx="2774477" cy="2165298"/>
            <a:chOff x="9755504" y="2361380"/>
            <a:chExt cx="2774477" cy="2165298"/>
          </a:xfrm>
        </p:grpSpPr>
        <p:grpSp>
          <p:nvGrpSpPr>
            <p:cNvPr id="6" name="Group 5">
              <a:extLst>
                <a:ext uri="{FF2B5EF4-FFF2-40B4-BE49-F238E27FC236}">
                  <a16:creationId xmlns:a16="http://schemas.microsoft.com/office/drawing/2014/main" id="{535933FA-F1AF-4A79-F762-10737D29D97B}"/>
                </a:ext>
              </a:extLst>
            </p:cNvPr>
            <p:cNvGrpSpPr/>
            <p:nvPr/>
          </p:nvGrpSpPr>
          <p:grpSpPr>
            <a:xfrm>
              <a:off x="9755504" y="2361380"/>
              <a:ext cx="2774477" cy="2165298"/>
              <a:chOff x="1263112" y="2842053"/>
              <a:chExt cx="2293749" cy="1791940"/>
            </a:xfrm>
          </p:grpSpPr>
          <p:sp>
            <p:nvSpPr>
              <p:cNvPr id="13" name="Oval 12">
                <a:extLst>
                  <a:ext uri="{FF2B5EF4-FFF2-40B4-BE49-F238E27FC236}">
                    <a16:creationId xmlns:a16="http://schemas.microsoft.com/office/drawing/2014/main" id="{E02AF58F-D088-437C-C919-2B197464DE76}"/>
                  </a:ext>
                </a:extLst>
              </p:cNvPr>
              <p:cNvSpPr/>
              <p:nvPr/>
            </p:nvSpPr>
            <p:spPr>
              <a:xfrm>
                <a:off x="1556951" y="2842053"/>
                <a:ext cx="1655806" cy="1655805"/>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2" name="Rectangle: Rounded Corners 31">
                <a:extLst>
                  <a:ext uri="{FF2B5EF4-FFF2-40B4-BE49-F238E27FC236}">
                    <a16:creationId xmlns:a16="http://schemas.microsoft.com/office/drawing/2014/main" id="{3C60D44D-CB6E-64D7-6EFF-9B8B3FAF60CC}"/>
                  </a:ext>
                </a:extLst>
              </p:cNvPr>
              <p:cNvSpPr/>
              <p:nvPr/>
            </p:nvSpPr>
            <p:spPr>
              <a:xfrm>
                <a:off x="1263112" y="3976285"/>
                <a:ext cx="2293749" cy="657708"/>
              </a:xfrm>
              <a:prstGeom prst="roundRect">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CE2BF465-A4E1-6E4A-0A89-7C19AD3CB0F6}"/>
                  </a:ext>
                </a:extLst>
              </p:cNvPr>
              <p:cNvSpPr txBox="1"/>
              <p:nvPr/>
            </p:nvSpPr>
            <p:spPr>
              <a:xfrm>
                <a:off x="1556951" y="4114800"/>
                <a:ext cx="1655806" cy="382061"/>
              </a:xfrm>
              <a:prstGeom prst="rect">
                <a:avLst/>
              </a:prstGeom>
              <a:noFill/>
            </p:spPr>
            <p:txBody>
              <a:bodyPr wrap="square" rtlCol="0">
                <a:spAutoFit/>
              </a:bodyPr>
              <a:lstStyle/>
              <a:p>
                <a:pPr algn="ctr"/>
                <a:r>
                  <a:rPr lang="en-IN" sz="1200" b="1" dirty="0"/>
                  <a:t>ANUBHAV</a:t>
                </a:r>
              </a:p>
              <a:p>
                <a:pPr algn="ctr"/>
                <a:r>
                  <a:rPr lang="en-IN" sz="1200" b="1" dirty="0"/>
                  <a:t>AUTOMATION</a:t>
                </a:r>
              </a:p>
            </p:txBody>
          </p:sp>
        </p:grpSp>
        <p:pic>
          <p:nvPicPr>
            <p:cNvPr id="35" name="Picture 34">
              <a:extLst>
                <a:ext uri="{FF2B5EF4-FFF2-40B4-BE49-F238E27FC236}">
                  <a16:creationId xmlns:a16="http://schemas.microsoft.com/office/drawing/2014/main" id="{27F867D5-9CE6-9224-668B-EDC0A26AD3D3}"/>
                </a:ext>
              </a:extLst>
            </p:cNvPr>
            <p:cNvPicPr>
              <a:picLocks noChangeAspect="1"/>
            </p:cNvPicPr>
            <p:nvPr/>
          </p:nvPicPr>
          <p:blipFill>
            <a:blip r:embed="rId8">
              <a:extLst>
                <a:ext uri="{28A0092B-C50C-407E-A947-70E740481C1C}">
                  <a14:useLocalDpi xmlns:a14="http://schemas.microsoft.com/office/drawing/2010/main" val="0"/>
                </a:ext>
              </a:extLst>
            </a:blip>
            <a:srcRect t="12340" r="11104" b="16871"/>
            <a:stretch>
              <a:fillRect/>
            </a:stretch>
          </p:blipFill>
          <p:spPr>
            <a:xfrm>
              <a:off x="10534460" y="2407868"/>
              <a:ext cx="1189286" cy="1318698"/>
            </a:xfrm>
            <a:prstGeom prst="rect">
              <a:avLst/>
            </a:prstGeom>
          </p:spPr>
        </p:pic>
      </p:grpSp>
    </p:spTree>
    <p:extLst>
      <p:ext uri="{BB962C8B-B14F-4D97-AF65-F5344CB8AC3E}">
        <p14:creationId xmlns:p14="http://schemas.microsoft.com/office/powerpoint/2010/main" val="317599874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500"/>
                                        <p:tgtEl>
                                          <p:spTgt spid="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00"/>
                                        <p:tgtEl>
                                          <p:spTgt spid="26"/>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36"/>
                                        </p:tgtEl>
                                        <p:attrNameLst>
                                          <p:attrName>style.visibility</p:attrName>
                                        </p:attrNameLst>
                                      </p:cBhvr>
                                      <p:to>
                                        <p:strVal val="visible"/>
                                      </p:to>
                                    </p:set>
                                    <p:animEffect transition="in" filter="fade">
                                      <p:cBhvr>
                                        <p:cTn id="23"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9000" b="-69000"/>
          </a:stretch>
        </a:blipFill>
        <a:effectLst/>
      </p:bgPr>
    </p:bg>
    <p:spTree>
      <p:nvGrpSpPr>
        <p:cNvPr id="1" name="">
          <a:extLst>
            <a:ext uri="{FF2B5EF4-FFF2-40B4-BE49-F238E27FC236}">
              <a16:creationId xmlns:a16="http://schemas.microsoft.com/office/drawing/2014/main" id="{CD8CE16D-7074-66EA-4D8F-1D0C9057A428}"/>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A46407E3-60D3-89D3-1771-D72A719FC471}"/>
              </a:ext>
            </a:extLst>
          </p:cNvPr>
          <p:cNvPicPr>
            <a:picLocks noChangeAspect="1"/>
          </p:cNvPicPr>
          <p:nvPr/>
        </p:nvPicPr>
        <p:blipFill>
          <a:blip r:embed="rId3">
            <a:clrChange>
              <a:clrFrom>
                <a:srgbClr val="071002"/>
              </a:clrFrom>
              <a:clrTo>
                <a:srgbClr val="071002">
                  <a:alpha val="0"/>
                </a:srgbClr>
              </a:clrTo>
            </a:clrChange>
            <a:extLst>
              <a:ext uri="{BEBA8EAE-BF5A-486C-A8C5-ECC9F3942E4B}">
                <a14:imgProps xmlns:a14="http://schemas.microsoft.com/office/drawing/2010/main">
                  <a14:imgLayer r:embed="rId4">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grpSp>
        <p:nvGrpSpPr>
          <p:cNvPr id="3" name="Group 2">
            <a:extLst>
              <a:ext uri="{FF2B5EF4-FFF2-40B4-BE49-F238E27FC236}">
                <a16:creationId xmlns:a16="http://schemas.microsoft.com/office/drawing/2014/main" id="{B1801AC0-B2EB-2A8D-F314-09F108E9F1D3}"/>
              </a:ext>
            </a:extLst>
          </p:cNvPr>
          <p:cNvGrpSpPr/>
          <p:nvPr/>
        </p:nvGrpSpPr>
        <p:grpSpPr>
          <a:xfrm>
            <a:off x="-8340853" y="-557784"/>
            <a:ext cx="8098536" cy="7973568"/>
            <a:chOff x="-4652773" y="0"/>
            <a:chExt cx="8098536" cy="7973568"/>
          </a:xfrm>
        </p:grpSpPr>
        <p:sp>
          <p:nvSpPr>
            <p:cNvPr id="20" name="Oval 19">
              <a:extLst>
                <a:ext uri="{FF2B5EF4-FFF2-40B4-BE49-F238E27FC236}">
                  <a16:creationId xmlns:a16="http://schemas.microsoft.com/office/drawing/2014/main" id="{784B2D62-C8BD-432B-AEE1-08C0C70867AC}"/>
                </a:ext>
              </a:extLst>
            </p:cNvPr>
            <p:cNvSpPr/>
            <p:nvPr/>
          </p:nvSpPr>
          <p:spPr>
            <a:xfrm>
              <a:off x="-4652773" y="0"/>
              <a:ext cx="8098536" cy="7973568"/>
            </a:xfrm>
            <a:prstGeom prst="ellipse">
              <a:avLst/>
            </a:prstGeom>
            <a:solidFill>
              <a:schemeClr val="accent2">
                <a:lumMod val="50000"/>
              </a:schemeClr>
            </a:solidFill>
            <a:effectLst>
              <a:outerShdw blurRad="50800" dist="38100" sx="102000" sy="102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5" name="TextBox 24">
              <a:extLst>
                <a:ext uri="{FF2B5EF4-FFF2-40B4-BE49-F238E27FC236}">
                  <a16:creationId xmlns:a16="http://schemas.microsoft.com/office/drawing/2014/main" id="{8EE2B6DA-8665-67B6-9683-C2C9AAA211B0}"/>
                </a:ext>
              </a:extLst>
            </p:cNvPr>
            <p:cNvSpPr txBox="1"/>
            <p:nvPr/>
          </p:nvSpPr>
          <p:spPr>
            <a:xfrm rot="16200000">
              <a:off x="-542085" y="2175676"/>
              <a:ext cx="4607019" cy="1862048"/>
            </a:xfrm>
            <a:prstGeom prst="rect">
              <a:avLst/>
            </a:prstGeom>
            <a:noFill/>
          </p:spPr>
          <p:txBody>
            <a:bodyPr wrap="square" rtlCol="0">
              <a:spAutoFit/>
            </a:bodyPr>
            <a:lstStyle/>
            <a:p>
              <a:r>
                <a:rPr lang="en-IN" sz="11500" dirty="0"/>
                <a:t>BRIEF</a:t>
              </a:r>
              <a:endParaRPr lang="en-IN" sz="19900" dirty="0"/>
            </a:p>
          </p:txBody>
        </p:sp>
      </p:grpSp>
      <p:sp>
        <p:nvSpPr>
          <p:cNvPr id="4" name="Rectangle 3">
            <a:extLst>
              <a:ext uri="{FF2B5EF4-FFF2-40B4-BE49-F238E27FC236}">
                <a16:creationId xmlns:a16="http://schemas.microsoft.com/office/drawing/2014/main" id="{1383352C-57DF-7A92-AE79-46AB28B61C94}"/>
              </a:ext>
            </a:extLst>
          </p:cNvPr>
          <p:cNvSpPr/>
          <p:nvPr/>
        </p:nvSpPr>
        <p:spPr>
          <a:xfrm>
            <a:off x="-553537" y="6084532"/>
            <a:ext cx="14234160" cy="6004560"/>
          </a:xfrm>
          <a:prstGeom prst="rect">
            <a:avLst/>
          </a:prstGeom>
          <a:gradFill>
            <a:gsLst>
              <a:gs pos="0">
                <a:schemeClr val="bg1">
                  <a:lumMod val="95000"/>
                  <a:lumOff val="5000"/>
                  <a:alpha val="0"/>
                </a:schemeClr>
              </a:gs>
              <a:gs pos="77000">
                <a:schemeClr val="tx2">
                  <a:lumMod val="10000"/>
                </a:schemeClr>
              </a:gs>
            </a:gsLst>
            <a:lin ang="612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CB245700-A3EA-EA31-88CE-F6A93363993D}"/>
              </a:ext>
            </a:extLst>
          </p:cNvPr>
          <p:cNvSpPr txBox="1"/>
          <p:nvPr/>
        </p:nvSpPr>
        <p:spPr>
          <a:xfrm>
            <a:off x="3001108" y="7171667"/>
            <a:ext cx="9190892" cy="4801314"/>
          </a:xfrm>
          <a:prstGeom prst="rect">
            <a:avLst/>
          </a:prstGeom>
          <a:noFill/>
        </p:spPr>
        <p:txBody>
          <a:bodyPr wrap="square">
            <a:spAutoFit/>
          </a:bodyPr>
          <a:lstStyle/>
          <a:p>
            <a:r>
              <a:rPr lang="en-IN" b="1" dirty="0">
                <a:latin typeface="Liberation Serif"/>
              </a:rPr>
              <a:t>Problem Statement</a:t>
            </a:r>
          </a:p>
          <a:p>
            <a:r>
              <a:rPr lang="en-IN" dirty="0">
                <a:latin typeface="Liberation Serif"/>
              </a:rPr>
              <a:t>During disaster situations, reaching affected areas quickly and safely becomes very difficult for rescue teams. Ground search operations take time and are often restricted by damaged infrastructure and unsafe terrain. Our main challenge is to </a:t>
            </a:r>
            <a:r>
              <a:rPr lang="en-IN" b="1" dirty="0">
                <a:latin typeface="Liberation Serif"/>
              </a:rPr>
              <a:t>scan large areas quickly</a:t>
            </a:r>
            <a:r>
              <a:rPr lang="en-IN" dirty="0">
                <a:latin typeface="Liberation Serif"/>
              </a:rPr>
              <a:t>, </a:t>
            </a:r>
            <a:r>
              <a:rPr lang="en-IN" b="1" dirty="0">
                <a:latin typeface="Liberation Serif"/>
              </a:rPr>
              <a:t>identify survivors accurately</a:t>
            </a:r>
            <a:r>
              <a:rPr lang="en-IN" dirty="0">
                <a:latin typeface="Liberation Serif"/>
              </a:rPr>
              <a:t>, and </a:t>
            </a:r>
            <a:r>
              <a:rPr lang="en-IN" b="1" dirty="0">
                <a:latin typeface="Liberation Serif"/>
              </a:rPr>
              <a:t>deliver essential supplies on time</a:t>
            </a:r>
            <a:r>
              <a:rPr lang="en-IN" dirty="0">
                <a:latin typeface="Liberation Serif"/>
              </a:rPr>
              <a:t> without putting human lives at risk. Using a single drone for all these tasks can reduce efficiency, so we needed a better and more reliable approach.</a:t>
            </a:r>
          </a:p>
          <a:p>
            <a:r>
              <a:rPr lang="en-IN" dirty="0">
                <a:latin typeface="Liberation Serif"/>
              </a:rPr>
              <a:t> </a:t>
            </a:r>
          </a:p>
          <a:p>
            <a:r>
              <a:rPr lang="en-IN" dirty="0">
                <a:latin typeface="Liberation Serif"/>
              </a:rPr>
              <a:t> </a:t>
            </a:r>
          </a:p>
          <a:p>
            <a:r>
              <a:rPr lang="en-IN" b="1" dirty="0">
                <a:latin typeface="Liberation Serif"/>
              </a:rPr>
              <a:t>Overall Solution</a:t>
            </a:r>
          </a:p>
          <a:p>
            <a:r>
              <a:rPr lang="en-IN" dirty="0">
                <a:latin typeface="Liberation Serif"/>
              </a:rPr>
              <a:t>To solve this problem, we designed a </a:t>
            </a:r>
            <a:r>
              <a:rPr lang="en-IN" b="1" dirty="0">
                <a:latin typeface="Liberation Serif"/>
              </a:rPr>
              <a:t>two-drone system</a:t>
            </a:r>
            <a:r>
              <a:rPr lang="en-IN" dirty="0">
                <a:latin typeface="Liberation Serif"/>
              </a:rPr>
              <a:t>. We use a </a:t>
            </a:r>
            <a:r>
              <a:rPr lang="en-IN" b="1" dirty="0">
                <a:latin typeface="Liberation Serif"/>
              </a:rPr>
              <a:t>scanning drone</a:t>
            </a:r>
            <a:r>
              <a:rPr lang="en-IN" dirty="0">
                <a:latin typeface="Liberation Serif"/>
              </a:rPr>
              <a:t> to survey the disaster area and detect survivors using onboard camera and processing. Once a location is identified, we accurately mark it using RTK-based GPS. Based on this information, we deploy a </a:t>
            </a:r>
            <a:r>
              <a:rPr lang="en-IN" b="1" dirty="0">
                <a:latin typeface="Liberation Serif"/>
              </a:rPr>
              <a:t>separate delivery drone</a:t>
            </a:r>
            <a:r>
              <a:rPr lang="en-IN" dirty="0">
                <a:latin typeface="Liberation Serif"/>
              </a:rPr>
              <a:t> that carries and drops the payload at the required location.</a:t>
            </a:r>
          </a:p>
          <a:p>
            <a:r>
              <a:rPr lang="en-IN" dirty="0">
                <a:latin typeface="Liberation Serif"/>
              </a:rPr>
              <a:t>Both drones are operated through a </a:t>
            </a:r>
            <a:r>
              <a:rPr lang="en-IN" b="1" dirty="0">
                <a:latin typeface="Liberation Serif"/>
              </a:rPr>
              <a:t>single ground control setup</a:t>
            </a:r>
            <a:r>
              <a:rPr lang="en-IN" dirty="0">
                <a:latin typeface="Liberation Serif"/>
              </a:rPr>
              <a:t>, allowing us to monitor missions and intervene when needed. By separating scanning and delivery tasks, we improve accuracy, reduce mission risk, and ensure smoother operations during disaster response.</a:t>
            </a:r>
          </a:p>
        </p:txBody>
      </p:sp>
      <p:sp>
        <p:nvSpPr>
          <p:cNvPr id="2" name="TextBox 1">
            <a:extLst>
              <a:ext uri="{FF2B5EF4-FFF2-40B4-BE49-F238E27FC236}">
                <a16:creationId xmlns:a16="http://schemas.microsoft.com/office/drawing/2014/main" id="{64FAF25A-96EC-F8CF-5420-77ABED99B131}"/>
              </a:ext>
            </a:extLst>
          </p:cNvPr>
          <p:cNvSpPr txBox="1"/>
          <p:nvPr/>
        </p:nvSpPr>
        <p:spPr>
          <a:xfrm>
            <a:off x="0" y="1132671"/>
            <a:ext cx="8818473" cy="1015663"/>
          </a:xfrm>
          <a:prstGeom prst="rect">
            <a:avLst/>
          </a:prstGeom>
          <a:solidFill>
            <a:schemeClr val="bg2">
              <a:lumMod val="75000"/>
            </a:schemeClr>
          </a:solidFill>
        </p:spPr>
        <p:txBody>
          <a:bodyPr wrap="square" rtlCol="0">
            <a:spAutoFit/>
          </a:bodyPr>
          <a:lstStyle/>
          <a:p>
            <a:r>
              <a:rPr lang="en-IN" sz="6000" b="1" dirty="0"/>
              <a:t>MEET THE TEAM:</a:t>
            </a:r>
          </a:p>
        </p:txBody>
      </p:sp>
      <p:grpSp>
        <p:nvGrpSpPr>
          <p:cNvPr id="41" name="Group 40">
            <a:extLst>
              <a:ext uri="{FF2B5EF4-FFF2-40B4-BE49-F238E27FC236}">
                <a16:creationId xmlns:a16="http://schemas.microsoft.com/office/drawing/2014/main" id="{3C7FF104-54B6-AB6E-2A47-E61DCD42D452}"/>
              </a:ext>
            </a:extLst>
          </p:cNvPr>
          <p:cNvGrpSpPr/>
          <p:nvPr/>
        </p:nvGrpSpPr>
        <p:grpSpPr>
          <a:xfrm>
            <a:off x="98097" y="2511455"/>
            <a:ext cx="2714902" cy="2238524"/>
            <a:chOff x="980875" y="2522460"/>
            <a:chExt cx="2714902" cy="2238524"/>
          </a:xfrm>
        </p:grpSpPr>
        <p:grpSp>
          <p:nvGrpSpPr>
            <p:cNvPr id="12" name="Group 11">
              <a:extLst>
                <a:ext uri="{FF2B5EF4-FFF2-40B4-BE49-F238E27FC236}">
                  <a16:creationId xmlns:a16="http://schemas.microsoft.com/office/drawing/2014/main" id="{2E36B768-C9C2-3C8F-E1A9-22BE697DD7B2}"/>
                </a:ext>
              </a:extLst>
            </p:cNvPr>
            <p:cNvGrpSpPr/>
            <p:nvPr/>
          </p:nvGrpSpPr>
          <p:grpSpPr>
            <a:xfrm>
              <a:off x="980875" y="2548916"/>
              <a:ext cx="2714902" cy="2212068"/>
              <a:chOff x="1263112" y="2842053"/>
              <a:chExt cx="2293749" cy="1791940"/>
            </a:xfrm>
          </p:grpSpPr>
          <p:sp>
            <p:nvSpPr>
              <p:cNvPr id="5" name="Oval 4">
                <a:extLst>
                  <a:ext uri="{FF2B5EF4-FFF2-40B4-BE49-F238E27FC236}">
                    <a16:creationId xmlns:a16="http://schemas.microsoft.com/office/drawing/2014/main" id="{643CB0C8-D6E5-DB87-A6E5-C2842802CD93}"/>
                  </a:ext>
                </a:extLst>
              </p:cNvPr>
              <p:cNvSpPr/>
              <p:nvPr/>
            </p:nvSpPr>
            <p:spPr>
              <a:xfrm>
                <a:off x="1556951" y="2842053"/>
                <a:ext cx="1655806" cy="1655805"/>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Rounded Corners 8">
                <a:extLst>
                  <a:ext uri="{FF2B5EF4-FFF2-40B4-BE49-F238E27FC236}">
                    <a16:creationId xmlns:a16="http://schemas.microsoft.com/office/drawing/2014/main" id="{5CE7AB72-6AF1-7107-D2A4-02FC454453DB}"/>
                  </a:ext>
                </a:extLst>
              </p:cNvPr>
              <p:cNvSpPr/>
              <p:nvPr/>
            </p:nvSpPr>
            <p:spPr>
              <a:xfrm>
                <a:off x="1263112" y="3976285"/>
                <a:ext cx="2293749" cy="657708"/>
              </a:xfrm>
              <a:prstGeom prst="roundRect">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2BE21307-984D-8542-DF13-FBC280DCF90B}"/>
                  </a:ext>
                </a:extLst>
              </p:cNvPr>
              <p:cNvSpPr txBox="1"/>
              <p:nvPr/>
            </p:nvSpPr>
            <p:spPr>
              <a:xfrm>
                <a:off x="1556951" y="4114800"/>
                <a:ext cx="1655806" cy="224390"/>
              </a:xfrm>
              <a:prstGeom prst="rect">
                <a:avLst/>
              </a:prstGeom>
              <a:noFill/>
            </p:spPr>
            <p:txBody>
              <a:bodyPr wrap="square" rtlCol="0">
                <a:spAutoFit/>
              </a:bodyPr>
              <a:lstStyle/>
              <a:p>
                <a:pPr algn="ctr"/>
                <a:r>
                  <a:rPr lang="en-IN" sz="1200" b="1" dirty="0"/>
                  <a:t>SAKSHAM AGGARWAL</a:t>
                </a:r>
              </a:p>
            </p:txBody>
          </p:sp>
        </p:grpSp>
        <p:pic>
          <p:nvPicPr>
            <p:cNvPr id="32" name="Picture 31">
              <a:extLst>
                <a:ext uri="{FF2B5EF4-FFF2-40B4-BE49-F238E27FC236}">
                  <a16:creationId xmlns:a16="http://schemas.microsoft.com/office/drawing/2014/main" id="{11574309-9642-CE5F-5417-6342ABCBD0C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06184" y="2522460"/>
              <a:ext cx="1090432" cy="1453070"/>
            </a:xfrm>
            <a:prstGeom prst="rect">
              <a:avLst/>
            </a:prstGeom>
          </p:spPr>
        </p:pic>
      </p:grpSp>
      <p:grpSp>
        <p:nvGrpSpPr>
          <p:cNvPr id="42" name="Group 41">
            <a:extLst>
              <a:ext uri="{FF2B5EF4-FFF2-40B4-BE49-F238E27FC236}">
                <a16:creationId xmlns:a16="http://schemas.microsoft.com/office/drawing/2014/main" id="{B0C00E33-0457-D73F-9960-70F75034EC8E}"/>
              </a:ext>
            </a:extLst>
          </p:cNvPr>
          <p:cNvGrpSpPr/>
          <p:nvPr/>
        </p:nvGrpSpPr>
        <p:grpSpPr>
          <a:xfrm>
            <a:off x="2602241" y="3847049"/>
            <a:ext cx="2774478" cy="2293949"/>
            <a:chOff x="3544161" y="3538990"/>
            <a:chExt cx="2774478" cy="2293949"/>
          </a:xfrm>
        </p:grpSpPr>
        <p:grpSp>
          <p:nvGrpSpPr>
            <p:cNvPr id="19" name="Group 18">
              <a:extLst>
                <a:ext uri="{FF2B5EF4-FFF2-40B4-BE49-F238E27FC236}">
                  <a16:creationId xmlns:a16="http://schemas.microsoft.com/office/drawing/2014/main" id="{F2A99CCF-0056-6176-AFF6-E2B8E54B2911}"/>
                </a:ext>
              </a:extLst>
            </p:cNvPr>
            <p:cNvGrpSpPr/>
            <p:nvPr/>
          </p:nvGrpSpPr>
          <p:grpSpPr>
            <a:xfrm>
              <a:off x="3544161" y="3677338"/>
              <a:ext cx="2774478" cy="2155601"/>
              <a:chOff x="1263112" y="2842053"/>
              <a:chExt cx="2293749" cy="1791940"/>
            </a:xfrm>
          </p:grpSpPr>
          <p:sp>
            <p:nvSpPr>
              <p:cNvPr id="21" name="Oval 20">
                <a:extLst>
                  <a:ext uri="{FF2B5EF4-FFF2-40B4-BE49-F238E27FC236}">
                    <a16:creationId xmlns:a16="http://schemas.microsoft.com/office/drawing/2014/main" id="{A78CE458-BAB7-B86D-A6BC-924BFDBDF524}"/>
                  </a:ext>
                </a:extLst>
              </p:cNvPr>
              <p:cNvSpPr/>
              <p:nvPr/>
            </p:nvSpPr>
            <p:spPr>
              <a:xfrm>
                <a:off x="1556951" y="2842053"/>
                <a:ext cx="1655806" cy="1655805"/>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Rounded Corners 22">
                <a:extLst>
                  <a:ext uri="{FF2B5EF4-FFF2-40B4-BE49-F238E27FC236}">
                    <a16:creationId xmlns:a16="http://schemas.microsoft.com/office/drawing/2014/main" id="{F3C143A7-3DEC-497F-0CF9-CFCC182D998B}"/>
                  </a:ext>
                </a:extLst>
              </p:cNvPr>
              <p:cNvSpPr/>
              <p:nvPr/>
            </p:nvSpPr>
            <p:spPr>
              <a:xfrm>
                <a:off x="1263112" y="3976285"/>
                <a:ext cx="2293749" cy="657708"/>
              </a:xfrm>
              <a:prstGeom prst="roundRect">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090E9865-2362-58A8-27CD-A5073E4DCD91}"/>
                  </a:ext>
                </a:extLst>
              </p:cNvPr>
              <p:cNvSpPr txBox="1"/>
              <p:nvPr/>
            </p:nvSpPr>
            <p:spPr>
              <a:xfrm>
                <a:off x="1556951" y="4114800"/>
                <a:ext cx="1655806" cy="230268"/>
              </a:xfrm>
              <a:prstGeom prst="rect">
                <a:avLst/>
              </a:prstGeom>
              <a:noFill/>
            </p:spPr>
            <p:txBody>
              <a:bodyPr wrap="square" rtlCol="0">
                <a:spAutoFit/>
              </a:bodyPr>
              <a:lstStyle/>
              <a:p>
                <a:pPr algn="ctr"/>
                <a:r>
                  <a:rPr lang="en-IN" sz="1200" b="1" dirty="0"/>
                  <a:t>KUNAL</a:t>
                </a:r>
              </a:p>
            </p:txBody>
          </p:sp>
        </p:grpSp>
        <p:pic>
          <p:nvPicPr>
            <p:cNvPr id="34" name="Picture 33">
              <a:extLst>
                <a:ext uri="{FF2B5EF4-FFF2-40B4-BE49-F238E27FC236}">
                  <a16:creationId xmlns:a16="http://schemas.microsoft.com/office/drawing/2014/main" id="{B4701E37-8419-8209-F76D-AEFCEECD66F6}"/>
                </a:ext>
              </a:extLst>
            </p:cNvPr>
            <p:cNvPicPr>
              <a:picLocks noChangeAspect="1"/>
            </p:cNvPicPr>
            <p:nvPr/>
          </p:nvPicPr>
          <p:blipFill>
            <a:blip r:embed="rId6">
              <a:extLst>
                <a:ext uri="{28A0092B-C50C-407E-A947-70E740481C1C}">
                  <a14:useLocalDpi xmlns:a14="http://schemas.microsoft.com/office/drawing/2010/main" val="0"/>
                </a:ext>
              </a:extLst>
            </a:blip>
            <a:srcRect b="24349"/>
            <a:stretch>
              <a:fillRect/>
            </a:stretch>
          </p:blipFill>
          <p:spPr>
            <a:xfrm>
              <a:off x="4142640" y="3538990"/>
              <a:ext cx="1516718" cy="1529005"/>
            </a:xfrm>
            <a:prstGeom prst="rect">
              <a:avLst/>
            </a:prstGeom>
          </p:spPr>
        </p:pic>
      </p:grpSp>
      <p:grpSp>
        <p:nvGrpSpPr>
          <p:cNvPr id="51" name="Group 50">
            <a:extLst>
              <a:ext uri="{FF2B5EF4-FFF2-40B4-BE49-F238E27FC236}">
                <a16:creationId xmlns:a16="http://schemas.microsoft.com/office/drawing/2014/main" id="{03BF2CDB-B913-6CF4-9FD6-4934EC4147D3}"/>
              </a:ext>
            </a:extLst>
          </p:cNvPr>
          <p:cNvGrpSpPr/>
          <p:nvPr/>
        </p:nvGrpSpPr>
        <p:grpSpPr>
          <a:xfrm>
            <a:off x="4887936" y="1969310"/>
            <a:ext cx="2774477" cy="2381103"/>
            <a:chOff x="10662024" y="-606770"/>
            <a:chExt cx="2774477" cy="2381103"/>
          </a:xfrm>
        </p:grpSpPr>
        <p:grpSp>
          <p:nvGrpSpPr>
            <p:cNvPr id="26" name="Group 25">
              <a:extLst>
                <a:ext uri="{FF2B5EF4-FFF2-40B4-BE49-F238E27FC236}">
                  <a16:creationId xmlns:a16="http://schemas.microsoft.com/office/drawing/2014/main" id="{3723E86B-276B-0950-D4E1-4BB02A871248}"/>
                </a:ext>
              </a:extLst>
            </p:cNvPr>
            <p:cNvGrpSpPr/>
            <p:nvPr/>
          </p:nvGrpSpPr>
          <p:grpSpPr>
            <a:xfrm>
              <a:off x="10662024" y="-390965"/>
              <a:ext cx="2774477" cy="2165298"/>
              <a:chOff x="1263112" y="2842053"/>
              <a:chExt cx="2293749" cy="1791940"/>
            </a:xfrm>
          </p:grpSpPr>
          <p:sp>
            <p:nvSpPr>
              <p:cNvPr id="27" name="Oval 26">
                <a:extLst>
                  <a:ext uri="{FF2B5EF4-FFF2-40B4-BE49-F238E27FC236}">
                    <a16:creationId xmlns:a16="http://schemas.microsoft.com/office/drawing/2014/main" id="{68575EC9-6256-0B75-6C80-C69840BAF8B4}"/>
                  </a:ext>
                </a:extLst>
              </p:cNvPr>
              <p:cNvSpPr/>
              <p:nvPr/>
            </p:nvSpPr>
            <p:spPr>
              <a:xfrm>
                <a:off x="1556951" y="2842053"/>
                <a:ext cx="1655806" cy="1655805"/>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9" name="Rectangle: Rounded Corners 28">
                <a:extLst>
                  <a:ext uri="{FF2B5EF4-FFF2-40B4-BE49-F238E27FC236}">
                    <a16:creationId xmlns:a16="http://schemas.microsoft.com/office/drawing/2014/main" id="{70D2D6E4-6056-2771-9E19-9C341C497637}"/>
                  </a:ext>
                </a:extLst>
              </p:cNvPr>
              <p:cNvSpPr/>
              <p:nvPr/>
            </p:nvSpPr>
            <p:spPr>
              <a:xfrm>
                <a:off x="1263112" y="3976285"/>
                <a:ext cx="2293749" cy="657708"/>
              </a:xfrm>
              <a:prstGeom prst="roundRect">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3E2A13E9-C41B-A3F5-D4C0-915AE92EA003}"/>
                  </a:ext>
                </a:extLst>
              </p:cNvPr>
              <p:cNvSpPr txBox="1"/>
              <p:nvPr/>
            </p:nvSpPr>
            <p:spPr>
              <a:xfrm>
                <a:off x="1556951" y="4114800"/>
                <a:ext cx="1655806" cy="229237"/>
              </a:xfrm>
              <a:prstGeom prst="rect">
                <a:avLst/>
              </a:prstGeom>
              <a:noFill/>
            </p:spPr>
            <p:txBody>
              <a:bodyPr wrap="square" rtlCol="0">
                <a:spAutoFit/>
              </a:bodyPr>
              <a:lstStyle/>
              <a:p>
                <a:pPr algn="ctr"/>
                <a:r>
                  <a:rPr lang="en-IN" sz="1200" b="1" dirty="0"/>
                  <a:t>UJJWAL GUPTA</a:t>
                </a:r>
              </a:p>
            </p:txBody>
          </p:sp>
        </p:grpSp>
        <p:pic>
          <p:nvPicPr>
            <p:cNvPr id="38" name="Picture 37">
              <a:extLst>
                <a:ext uri="{FF2B5EF4-FFF2-40B4-BE49-F238E27FC236}">
                  <a16:creationId xmlns:a16="http://schemas.microsoft.com/office/drawing/2014/main" id="{DDEAB668-2B06-F192-588A-0EE1EDCC66E0}"/>
                </a:ext>
              </a:extLst>
            </p:cNvPr>
            <p:cNvPicPr>
              <a:picLocks noChangeAspect="1"/>
            </p:cNvPicPr>
            <p:nvPr/>
          </p:nvPicPr>
          <p:blipFill>
            <a:blip r:embed="rId7">
              <a:extLst>
                <a:ext uri="{28A0092B-C50C-407E-A947-70E740481C1C}">
                  <a14:useLocalDpi xmlns:a14="http://schemas.microsoft.com/office/drawing/2010/main" val="0"/>
                </a:ext>
              </a:extLst>
            </a:blip>
            <a:srcRect l="1667" t="-1658" r="-1667" b="59057"/>
            <a:stretch>
              <a:fillRect/>
            </a:stretch>
          </p:blipFill>
          <p:spPr>
            <a:xfrm>
              <a:off x="11212086" y="-606770"/>
              <a:ext cx="1959827" cy="1623191"/>
            </a:xfrm>
            <a:prstGeom prst="rect">
              <a:avLst/>
            </a:prstGeom>
          </p:spPr>
        </p:pic>
      </p:grpSp>
      <p:grpSp>
        <p:nvGrpSpPr>
          <p:cNvPr id="52" name="Group 51">
            <a:extLst>
              <a:ext uri="{FF2B5EF4-FFF2-40B4-BE49-F238E27FC236}">
                <a16:creationId xmlns:a16="http://schemas.microsoft.com/office/drawing/2014/main" id="{534A0D10-F6EE-A825-CB3F-24BFA72469F8}"/>
              </a:ext>
            </a:extLst>
          </p:cNvPr>
          <p:cNvGrpSpPr/>
          <p:nvPr/>
        </p:nvGrpSpPr>
        <p:grpSpPr>
          <a:xfrm>
            <a:off x="7246047" y="3850382"/>
            <a:ext cx="2657322" cy="2298907"/>
            <a:chOff x="10294957" y="-672397"/>
            <a:chExt cx="2657322" cy="2298907"/>
          </a:xfrm>
        </p:grpSpPr>
        <p:grpSp>
          <p:nvGrpSpPr>
            <p:cNvPr id="14" name="Group 13">
              <a:extLst>
                <a:ext uri="{FF2B5EF4-FFF2-40B4-BE49-F238E27FC236}">
                  <a16:creationId xmlns:a16="http://schemas.microsoft.com/office/drawing/2014/main" id="{14E1CF79-55F0-0BD6-D831-37A4291F9B6F}"/>
                </a:ext>
              </a:extLst>
            </p:cNvPr>
            <p:cNvGrpSpPr/>
            <p:nvPr/>
          </p:nvGrpSpPr>
          <p:grpSpPr>
            <a:xfrm>
              <a:off x="10294957" y="-529091"/>
              <a:ext cx="2657322" cy="2155601"/>
              <a:chOff x="1263112" y="2842053"/>
              <a:chExt cx="2293749" cy="1791940"/>
            </a:xfrm>
          </p:grpSpPr>
          <p:sp>
            <p:nvSpPr>
              <p:cNvPr id="15" name="Oval 14">
                <a:extLst>
                  <a:ext uri="{FF2B5EF4-FFF2-40B4-BE49-F238E27FC236}">
                    <a16:creationId xmlns:a16="http://schemas.microsoft.com/office/drawing/2014/main" id="{2AC755DD-328A-C4B1-D5A3-9FDB804521BA}"/>
                  </a:ext>
                </a:extLst>
              </p:cNvPr>
              <p:cNvSpPr/>
              <p:nvPr/>
            </p:nvSpPr>
            <p:spPr>
              <a:xfrm>
                <a:off x="1556951" y="2842053"/>
                <a:ext cx="1655806" cy="1655805"/>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64283411-2DF7-C07E-8CE2-66B7A20AEAD1}"/>
                  </a:ext>
                </a:extLst>
              </p:cNvPr>
              <p:cNvSpPr/>
              <p:nvPr/>
            </p:nvSpPr>
            <p:spPr>
              <a:xfrm>
                <a:off x="1263112" y="3976285"/>
                <a:ext cx="2293749" cy="657708"/>
              </a:xfrm>
              <a:prstGeom prst="roundRect">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091BE665-8FF0-1EF1-1160-B7499F0D622E}"/>
                  </a:ext>
                </a:extLst>
              </p:cNvPr>
              <p:cNvSpPr txBox="1"/>
              <p:nvPr/>
            </p:nvSpPr>
            <p:spPr>
              <a:xfrm>
                <a:off x="1556951" y="4126318"/>
                <a:ext cx="1655806" cy="230268"/>
              </a:xfrm>
              <a:prstGeom prst="rect">
                <a:avLst/>
              </a:prstGeom>
              <a:noFill/>
            </p:spPr>
            <p:txBody>
              <a:bodyPr wrap="square" rtlCol="0">
                <a:spAutoFit/>
              </a:bodyPr>
              <a:lstStyle/>
              <a:p>
                <a:pPr algn="ctr"/>
                <a:r>
                  <a:rPr lang="en-IN" sz="1200" b="1" dirty="0"/>
                  <a:t>ADITYA SINGH</a:t>
                </a:r>
              </a:p>
            </p:txBody>
          </p:sp>
        </p:grpSp>
        <p:pic>
          <p:nvPicPr>
            <p:cNvPr id="40" name="Picture 39">
              <a:extLst>
                <a:ext uri="{FF2B5EF4-FFF2-40B4-BE49-F238E27FC236}">
                  <a16:creationId xmlns:a16="http://schemas.microsoft.com/office/drawing/2014/main" id="{5F0B1777-70ED-549D-D3AA-D39A7AE4403D}"/>
                </a:ext>
              </a:extLst>
            </p:cNvPr>
            <p:cNvPicPr>
              <a:picLocks noChangeAspect="1"/>
            </p:cNvPicPr>
            <p:nvPr/>
          </p:nvPicPr>
          <p:blipFill>
            <a:blip r:embed="rId8">
              <a:extLst>
                <a:ext uri="{28A0092B-C50C-407E-A947-70E740481C1C}">
                  <a14:useLocalDpi xmlns:a14="http://schemas.microsoft.com/office/drawing/2010/main" val="0"/>
                </a:ext>
              </a:extLst>
            </a:blip>
            <a:srcRect l="19437" t="22649" r="23521" b="38052"/>
            <a:stretch>
              <a:fillRect/>
            </a:stretch>
          </p:blipFill>
          <p:spPr>
            <a:xfrm>
              <a:off x="10926871" y="-672397"/>
              <a:ext cx="1677458" cy="1540051"/>
            </a:xfrm>
            <a:prstGeom prst="rect">
              <a:avLst/>
            </a:prstGeom>
          </p:spPr>
        </p:pic>
      </p:grpSp>
      <p:grpSp>
        <p:nvGrpSpPr>
          <p:cNvPr id="13" name="Group 12">
            <a:extLst>
              <a:ext uri="{FF2B5EF4-FFF2-40B4-BE49-F238E27FC236}">
                <a16:creationId xmlns:a16="http://schemas.microsoft.com/office/drawing/2014/main" id="{35B5DB5F-B673-B40E-6E35-AE90AE450926}"/>
              </a:ext>
            </a:extLst>
          </p:cNvPr>
          <p:cNvGrpSpPr/>
          <p:nvPr/>
        </p:nvGrpSpPr>
        <p:grpSpPr>
          <a:xfrm>
            <a:off x="9741646" y="2424822"/>
            <a:ext cx="2714902" cy="2319490"/>
            <a:chOff x="9741646" y="2424822"/>
            <a:chExt cx="2714902" cy="2319490"/>
          </a:xfrm>
        </p:grpSpPr>
        <p:grpSp>
          <p:nvGrpSpPr>
            <p:cNvPr id="44" name="Group 43">
              <a:extLst>
                <a:ext uri="{FF2B5EF4-FFF2-40B4-BE49-F238E27FC236}">
                  <a16:creationId xmlns:a16="http://schemas.microsoft.com/office/drawing/2014/main" id="{54CD2E5F-A060-48E3-8C1A-E50551B7F88E}"/>
                </a:ext>
              </a:extLst>
            </p:cNvPr>
            <p:cNvGrpSpPr/>
            <p:nvPr/>
          </p:nvGrpSpPr>
          <p:grpSpPr>
            <a:xfrm>
              <a:off x="9741646" y="2532244"/>
              <a:ext cx="2714902" cy="2212068"/>
              <a:chOff x="1263112" y="2842053"/>
              <a:chExt cx="2293749" cy="1791940"/>
            </a:xfrm>
          </p:grpSpPr>
          <p:sp>
            <p:nvSpPr>
              <p:cNvPr id="46" name="Oval 45">
                <a:extLst>
                  <a:ext uri="{FF2B5EF4-FFF2-40B4-BE49-F238E27FC236}">
                    <a16:creationId xmlns:a16="http://schemas.microsoft.com/office/drawing/2014/main" id="{DD942D47-CA4D-9DB8-2743-B78081A63B34}"/>
                  </a:ext>
                </a:extLst>
              </p:cNvPr>
              <p:cNvSpPr/>
              <p:nvPr/>
            </p:nvSpPr>
            <p:spPr>
              <a:xfrm>
                <a:off x="1556951" y="2842053"/>
                <a:ext cx="1655806" cy="1655805"/>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Rectangle: Rounded Corners 46">
                <a:extLst>
                  <a:ext uri="{FF2B5EF4-FFF2-40B4-BE49-F238E27FC236}">
                    <a16:creationId xmlns:a16="http://schemas.microsoft.com/office/drawing/2014/main" id="{866184D6-1F36-7B47-3763-559B74D2CC6B}"/>
                  </a:ext>
                </a:extLst>
              </p:cNvPr>
              <p:cNvSpPr/>
              <p:nvPr/>
            </p:nvSpPr>
            <p:spPr>
              <a:xfrm>
                <a:off x="1263112" y="3976285"/>
                <a:ext cx="2293749" cy="657708"/>
              </a:xfrm>
              <a:prstGeom prst="roundRect">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TextBox 47">
                <a:extLst>
                  <a:ext uri="{FF2B5EF4-FFF2-40B4-BE49-F238E27FC236}">
                    <a16:creationId xmlns:a16="http://schemas.microsoft.com/office/drawing/2014/main" id="{A605AF65-083C-4369-FB5D-46D0FB0C63BB}"/>
                  </a:ext>
                </a:extLst>
              </p:cNvPr>
              <p:cNvSpPr txBox="1"/>
              <p:nvPr/>
            </p:nvSpPr>
            <p:spPr>
              <a:xfrm>
                <a:off x="1556951" y="4114800"/>
                <a:ext cx="1655806" cy="224390"/>
              </a:xfrm>
              <a:prstGeom prst="rect">
                <a:avLst/>
              </a:prstGeom>
              <a:noFill/>
            </p:spPr>
            <p:txBody>
              <a:bodyPr wrap="square" rtlCol="0">
                <a:spAutoFit/>
              </a:bodyPr>
              <a:lstStyle/>
              <a:p>
                <a:pPr algn="ctr"/>
                <a:r>
                  <a:rPr lang="en-IN" sz="1200" b="1" dirty="0"/>
                  <a:t>AKARSHI SRIVASTAVA</a:t>
                </a:r>
              </a:p>
            </p:txBody>
          </p:sp>
        </p:grpSp>
        <p:pic>
          <p:nvPicPr>
            <p:cNvPr id="7" name="Picture 6">
              <a:extLst>
                <a:ext uri="{FF2B5EF4-FFF2-40B4-BE49-F238E27FC236}">
                  <a16:creationId xmlns:a16="http://schemas.microsoft.com/office/drawing/2014/main" id="{DF5AE851-7518-3227-6ECE-1A83E029418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288378" y="2424822"/>
              <a:ext cx="1287266" cy="1583615"/>
            </a:xfrm>
            <a:prstGeom prst="rect">
              <a:avLst/>
            </a:prstGeom>
          </p:spPr>
        </p:pic>
      </p:grpSp>
    </p:spTree>
    <p:extLst>
      <p:ext uri="{BB962C8B-B14F-4D97-AF65-F5344CB8AC3E}">
        <p14:creationId xmlns:p14="http://schemas.microsoft.com/office/powerpoint/2010/main" val="236014159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500"/>
                                        <p:tgtEl>
                                          <p:spTgt spid="41"/>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fade">
                                      <p:cBhvr>
                                        <p:cTn id="11" dur="500"/>
                                        <p:tgtEl>
                                          <p:spTgt spid="42"/>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51"/>
                                        </p:tgtEl>
                                        <p:attrNameLst>
                                          <p:attrName>style.visibility</p:attrName>
                                        </p:attrNameLst>
                                      </p:cBhvr>
                                      <p:to>
                                        <p:strVal val="visible"/>
                                      </p:to>
                                    </p:set>
                                    <p:animEffect transition="in" filter="fade">
                                      <p:cBhvr>
                                        <p:cTn id="15" dur="500"/>
                                        <p:tgtEl>
                                          <p:spTgt spid="51"/>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52"/>
                                        </p:tgtEl>
                                        <p:attrNameLst>
                                          <p:attrName>style.visibility</p:attrName>
                                        </p:attrNameLst>
                                      </p:cBhvr>
                                      <p:to>
                                        <p:strVal val="visible"/>
                                      </p:to>
                                    </p:set>
                                    <p:animEffect transition="in" filter="fade">
                                      <p:cBhvr>
                                        <p:cTn id="19" dur="500"/>
                                        <p:tgtEl>
                                          <p:spTgt spid="52"/>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9000" b="-69000"/>
          </a:stretch>
        </a:blipFill>
        <a:effectLst/>
      </p:bgPr>
    </p:bg>
    <p:spTree>
      <p:nvGrpSpPr>
        <p:cNvPr id="1" name="">
          <a:extLst>
            <a:ext uri="{FF2B5EF4-FFF2-40B4-BE49-F238E27FC236}">
              <a16:creationId xmlns:a16="http://schemas.microsoft.com/office/drawing/2014/main" id="{0E1FA1EE-F657-252B-B8EC-669431D88F6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213D058-FD46-BD47-F356-61DD0AB557CD}"/>
              </a:ext>
            </a:extLst>
          </p:cNvPr>
          <p:cNvSpPr/>
          <p:nvPr/>
        </p:nvSpPr>
        <p:spPr>
          <a:xfrm>
            <a:off x="-2809104" y="-283464"/>
            <a:ext cx="15941040" cy="7467610"/>
          </a:xfrm>
          <a:prstGeom prst="rect">
            <a:avLst/>
          </a:prstGeom>
          <a:gradFill>
            <a:gsLst>
              <a:gs pos="62216">
                <a:srgbClr val="131517"/>
              </a:gs>
              <a:gs pos="0">
                <a:schemeClr val="bg1">
                  <a:lumMod val="95000"/>
                  <a:lumOff val="5000"/>
                  <a:alpha val="0"/>
                </a:schemeClr>
              </a:gs>
              <a:gs pos="55000">
                <a:schemeClr val="tx2">
                  <a:lumMod val="10000"/>
                </a:schemeClr>
              </a:gs>
            </a:gsLst>
            <a:lin ang="612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3" name="Group 2">
            <a:extLst>
              <a:ext uri="{FF2B5EF4-FFF2-40B4-BE49-F238E27FC236}">
                <a16:creationId xmlns:a16="http://schemas.microsoft.com/office/drawing/2014/main" id="{53B15BE6-D7A6-4040-7DC2-508A294CFC69}"/>
              </a:ext>
            </a:extLst>
          </p:cNvPr>
          <p:cNvGrpSpPr/>
          <p:nvPr/>
        </p:nvGrpSpPr>
        <p:grpSpPr>
          <a:xfrm>
            <a:off x="-5323333" y="-283464"/>
            <a:ext cx="8098536" cy="7973568"/>
            <a:chOff x="-4607053" y="0"/>
            <a:chExt cx="8098536" cy="7973568"/>
          </a:xfrm>
        </p:grpSpPr>
        <p:sp>
          <p:nvSpPr>
            <p:cNvPr id="20" name="Oval 19">
              <a:extLst>
                <a:ext uri="{FF2B5EF4-FFF2-40B4-BE49-F238E27FC236}">
                  <a16:creationId xmlns:a16="http://schemas.microsoft.com/office/drawing/2014/main" id="{541F8144-210E-4138-B527-D564C943E2BD}"/>
                </a:ext>
              </a:extLst>
            </p:cNvPr>
            <p:cNvSpPr/>
            <p:nvPr/>
          </p:nvSpPr>
          <p:spPr>
            <a:xfrm>
              <a:off x="-4607053" y="0"/>
              <a:ext cx="8098536" cy="7973568"/>
            </a:xfrm>
            <a:prstGeom prst="ellipse">
              <a:avLst/>
            </a:prstGeom>
            <a:solidFill>
              <a:schemeClr val="accent2">
                <a:lumMod val="50000"/>
              </a:schemeClr>
            </a:solidFill>
            <a:effectLst>
              <a:outerShdw blurRad="50800" dist="38100" sx="102000" sy="102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5" name="TextBox 24">
              <a:extLst>
                <a:ext uri="{FF2B5EF4-FFF2-40B4-BE49-F238E27FC236}">
                  <a16:creationId xmlns:a16="http://schemas.microsoft.com/office/drawing/2014/main" id="{DC09C3C5-89D9-AF4D-979A-4B0725EC107C}"/>
                </a:ext>
              </a:extLst>
            </p:cNvPr>
            <p:cNvSpPr txBox="1"/>
            <p:nvPr/>
          </p:nvSpPr>
          <p:spPr>
            <a:xfrm rot="16200000">
              <a:off x="-542085" y="2175676"/>
              <a:ext cx="4607019" cy="1862048"/>
            </a:xfrm>
            <a:prstGeom prst="rect">
              <a:avLst/>
            </a:prstGeom>
            <a:noFill/>
          </p:spPr>
          <p:txBody>
            <a:bodyPr wrap="square" rtlCol="0">
              <a:spAutoFit/>
            </a:bodyPr>
            <a:lstStyle/>
            <a:p>
              <a:r>
                <a:rPr lang="en-IN" sz="11500" dirty="0"/>
                <a:t>BRIEF</a:t>
              </a:r>
              <a:endParaRPr lang="en-IN" sz="19900" dirty="0"/>
            </a:p>
          </p:txBody>
        </p:sp>
      </p:grpSp>
      <p:sp>
        <p:nvSpPr>
          <p:cNvPr id="5" name="TextBox 4">
            <a:extLst>
              <a:ext uri="{FF2B5EF4-FFF2-40B4-BE49-F238E27FC236}">
                <a16:creationId xmlns:a16="http://schemas.microsoft.com/office/drawing/2014/main" id="{3F89EC57-D38A-2F01-CBDF-B10C7033B652}"/>
              </a:ext>
            </a:extLst>
          </p:cNvPr>
          <p:cNvSpPr txBox="1"/>
          <p:nvPr/>
        </p:nvSpPr>
        <p:spPr>
          <a:xfrm>
            <a:off x="2886988" y="1675068"/>
            <a:ext cx="9190892" cy="4801314"/>
          </a:xfrm>
          <a:prstGeom prst="rect">
            <a:avLst/>
          </a:prstGeom>
          <a:noFill/>
        </p:spPr>
        <p:txBody>
          <a:bodyPr wrap="square">
            <a:spAutoFit/>
          </a:bodyPr>
          <a:lstStyle/>
          <a:p>
            <a:r>
              <a:rPr lang="en-IN" b="1" dirty="0">
                <a:latin typeface="Liberation Serif"/>
              </a:rPr>
              <a:t>Problem Statement</a:t>
            </a:r>
          </a:p>
          <a:p>
            <a:r>
              <a:rPr lang="en-IN" dirty="0">
                <a:latin typeface="Liberation Serif"/>
              </a:rPr>
              <a:t>During disaster situations, reaching affected areas quickly and safely becomes very difficult for rescue teams. Ground search operations take time and are often restricted by damaged infrastructure and unsafe terrain. Our main challenge is to </a:t>
            </a:r>
            <a:r>
              <a:rPr lang="en-IN" b="1" dirty="0">
                <a:latin typeface="Liberation Serif"/>
              </a:rPr>
              <a:t>scan large areas quickly</a:t>
            </a:r>
            <a:r>
              <a:rPr lang="en-IN" dirty="0">
                <a:latin typeface="Liberation Serif"/>
              </a:rPr>
              <a:t>, </a:t>
            </a:r>
            <a:r>
              <a:rPr lang="en-IN" b="1" dirty="0">
                <a:latin typeface="Liberation Serif"/>
              </a:rPr>
              <a:t>identify survivors accurately</a:t>
            </a:r>
            <a:r>
              <a:rPr lang="en-IN" dirty="0">
                <a:latin typeface="Liberation Serif"/>
              </a:rPr>
              <a:t>, and </a:t>
            </a:r>
            <a:r>
              <a:rPr lang="en-IN" b="1" dirty="0">
                <a:latin typeface="Liberation Serif"/>
              </a:rPr>
              <a:t>deliver essential supplies on time</a:t>
            </a:r>
            <a:r>
              <a:rPr lang="en-IN" dirty="0">
                <a:latin typeface="Liberation Serif"/>
              </a:rPr>
              <a:t> without putting human lives at risk. Using a single drone for all these tasks can reduce efficiency, so we needed a better and more reliable approach.</a:t>
            </a:r>
          </a:p>
          <a:p>
            <a:r>
              <a:rPr lang="en-IN" dirty="0">
                <a:latin typeface="Liberation Serif"/>
              </a:rPr>
              <a:t> </a:t>
            </a:r>
          </a:p>
          <a:p>
            <a:r>
              <a:rPr lang="en-IN" dirty="0">
                <a:latin typeface="Liberation Serif"/>
              </a:rPr>
              <a:t> </a:t>
            </a:r>
          </a:p>
          <a:p>
            <a:r>
              <a:rPr lang="en-IN" b="1" dirty="0">
                <a:latin typeface="Liberation Serif"/>
              </a:rPr>
              <a:t>Overall Solution</a:t>
            </a:r>
          </a:p>
          <a:p>
            <a:r>
              <a:rPr lang="en-IN" dirty="0">
                <a:latin typeface="Liberation Serif"/>
              </a:rPr>
              <a:t>To solve this problem, we designed a </a:t>
            </a:r>
            <a:r>
              <a:rPr lang="en-IN" b="1" dirty="0">
                <a:latin typeface="Liberation Serif"/>
              </a:rPr>
              <a:t>two-drone system</a:t>
            </a:r>
            <a:r>
              <a:rPr lang="en-IN" dirty="0">
                <a:latin typeface="Liberation Serif"/>
              </a:rPr>
              <a:t>. We use a </a:t>
            </a:r>
            <a:r>
              <a:rPr lang="en-IN" b="1" dirty="0">
                <a:latin typeface="Liberation Serif"/>
              </a:rPr>
              <a:t>scanning drone</a:t>
            </a:r>
            <a:r>
              <a:rPr lang="en-IN" dirty="0">
                <a:latin typeface="Liberation Serif"/>
              </a:rPr>
              <a:t> to survey the disaster area and detect survivors using onboard camera and processing. Once a location is identified, we accurately mark it using RTK-based GPS. Based on this information, we deploy a </a:t>
            </a:r>
            <a:r>
              <a:rPr lang="en-IN" b="1" dirty="0">
                <a:latin typeface="Liberation Serif"/>
              </a:rPr>
              <a:t>separate delivery drone</a:t>
            </a:r>
            <a:r>
              <a:rPr lang="en-IN" dirty="0">
                <a:latin typeface="Liberation Serif"/>
              </a:rPr>
              <a:t> that carries and drops the payload at the required location.</a:t>
            </a:r>
          </a:p>
          <a:p>
            <a:r>
              <a:rPr lang="en-IN" dirty="0">
                <a:latin typeface="Liberation Serif"/>
              </a:rPr>
              <a:t>Both drones are operated through a </a:t>
            </a:r>
            <a:r>
              <a:rPr lang="en-IN" b="1" dirty="0">
                <a:latin typeface="Liberation Serif"/>
              </a:rPr>
              <a:t>single ground control setup</a:t>
            </a:r>
            <a:r>
              <a:rPr lang="en-IN" dirty="0">
                <a:latin typeface="Liberation Serif"/>
              </a:rPr>
              <a:t>, allowing us to monitor missions and intervene when needed. By separating scanning and delivery tasks, we improve accuracy, reduce mission risk, and ensure smoother operations during disaster response.</a:t>
            </a:r>
          </a:p>
        </p:txBody>
      </p:sp>
    </p:spTree>
    <p:extLst>
      <p:ext uri="{BB962C8B-B14F-4D97-AF65-F5344CB8AC3E}">
        <p14:creationId xmlns:p14="http://schemas.microsoft.com/office/powerpoint/2010/main" val="19605310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6CF53-D8A3-E134-464F-40BC3713B1F0}"/>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6DF3CB51-4F23-B847-5952-F384F551D3AC}"/>
              </a:ext>
            </a:extLst>
          </p:cNvPr>
          <p:cNvPicPr>
            <a:picLocks noChangeAspect="1"/>
          </p:cNvPicPr>
          <p:nvPr/>
        </p:nvPicPr>
        <p:blipFill>
          <a:blip r:embed="rId2">
            <a:clrChange>
              <a:clrFrom>
                <a:srgbClr val="071002"/>
              </a:clrFrom>
              <a:clrTo>
                <a:srgbClr val="071002">
                  <a:alpha val="0"/>
                </a:srgbClr>
              </a:clrTo>
            </a:clrChange>
            <a:extLst>
              <a:ext uri="{BEBA8EAE-BF5A-486C-A8C5-ECC9F3942E4B}">
                <a14:imgProps xmlns:a14="http://schemas.microsoft.com/office/drawing/2010/main">
                  <a14:imgLayer r:embed="rId3">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sp>
        <p:nvSpPr>
          <p:cNvPr id="4" name="Rectangle 3">
            <a:extLst>
              <a:ext uri="{FF2B5EF4-FFF2-40B4-BE49-F238E27FC236}">
                <a16:creationId xmlns:a16="http://schemas.microsoft.com/office/drawing/2014/main" id="{E90DEBBF-1201-A152-4472-345C35209FF3}"/>
              </a:ext>
            </a:extLst>
          </p:cNvPr>
          <p:cNvSpPr/>
          <p:nvPr/>
        </p:nvSpPr>
        <p:spPr>
          <a:xfrm>
            <a:off x="-1021080" y="6338274"/>
            <a:ext cx="14234160" cy="6004560"/>
          </a:xfrm>
          <a:prstGeom prst="rect">
            <a:avLst/>
          </a:prstGeom>
          <a:gradFill>
            <a:gsLst>
              <a:gs pos="0">
                <a:schemeClr val="bg1">
                  <a:lumMod val="95000"/>
                  <a:lumOff val="5000"/>
                  <a:alpha val="0"/>
                </a:schemeClr>
              </a:gs>
              <a:gs pos="77000">
                <a:schemeClr val="tx2">
                  <a:lumMod val="10000"/>
                </a:schemeClr>
              </a:gs>
            </a:gsLst>
            <a:lin ang="612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1BEEDAA0-05F8-5AAA-35B9-52028F017116}"/>
              </a:ext>
            </a:extLst>
          </p:cNvPr>
          <p:cNvSpPr/>
          <p:nvPr/>
        </p:nvSpPr>
        <p:spPr>
          <a:xfrm>
            <a:off x="773723" y="1367360"/>
            <a:ext cx="10644553" cy="2860431"/>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D4EE1A81-CD20-0201-2B94-A4C3E9542D97}"/>
              </a:ext>
            </a:extLst>
          </p:cNvPr>
          <p:cNvSpPr txBox="1"/>
          <p:nvPr/>
        </p:nvSpPr>
        <p:spPr>
          <a:xfrm>
            <a:off x="2371250" y="2197410"/>
            <a:ext cx="7449497" cy="1200329"/>
          </a:xfrm>
          <a:prstGeom prst="rect">
            <a:avLst/>
          </a:prstGeom>
          <a:noFill/>
        </p:spPr>
        <p:txBody>
          <a:bodyPr wrap="square" rtlCol="0">
            <a:spAutoFit/>
          </a:bodyPr>
          <a:lstStyle/>
          <a:p>
            <a:r>
              <a:rPr lang="en-US" sz="7200" dirty="0"/>
              <a:t>D</a:t>
            </a:r>
            <a:r>
              <a:rPr lang="en-IN" sz="7200" dirty="0"/>
              <a:t>RONE DESIGN</a:t>
            </a:r>
          </a:p>
        </p:txBody>
      </p:sp>
    </p:spTree>
    <p:extLst>
      <p:ext uri="{BB962C8B-B14F-4D97-AF65-F5344CB8AC3E}">
        <p14:creationId xmlns:p14="http://schemas.microsoft.com/office/powerpoint/2010/main" val="285716638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CC93C-688F-C602-5554-8A468C843FC0}"/>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09B2A46-644B-8B9C-B02A-83A4FC0D386E}"/>
              </a:ext>
            </a:extLst>
          </p:cNvPr>
          <p:cNvPicPr>
            <a:picLocks noChangeAspect="1"/>
          </p:cNvPicPr>
          <p:nvPr/>
        </p:nvPicPr>
        <p:blipFill>
          <a:blip r:embed="rId2">
            <a:clrChange>
              <a:clrFrom>
                <a:srgbClr val="071002"/>
              </a:clrFrom>
              <a:clrTo>
                <a:srgbClr val="071002">
                  <a:alpha val="0"/>
                </a:srgbClr>
              </a:clrTo>
            </a:clrChange>
            <a:extLst>
              <a:ext uri="{BEBA8EAE-BF5A-486C-A8C5-ECC9F3942E4B}">
                <a14:imgProps xmlns:a14="http://schemas.microsoft.com/office/drawing/2010/main">
                  <a14:imgLayer r:embed="rId3">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sp>
        <p:nvSpPr>
          <p:cNvPr id="4" name="Rectangle 3">
            <a:extLst>
              <a:ext uri="{FF2B5EF4-FFF2-40B4-BE49-F238E27FC236}">
                <a16:creationId xmlns:a16="http://schemas.microsoft.com/office/drawing/2014/main" id="{4177BBA1-0E02-9453-D7E7-6F23486D9F57}"/>
              </a:ext>
            </a:extLst>
          </p:cNvPr>
          <p:cNvSpPr/>
          <p:nvPr/>
        </p:nvSpPr>
        <p:spPr>
          <a:xfrm>
            <a:off x="-1021080" y="6338274"/>
            <a:ext cx="14234160" cy="6004560"/>
          </a:xfrm>
          <a:prstGeom prst="rect">
            <a:avLst/>
          </a:prstGeom>
          <a:gradFill>
            <a:gsLst>
              <a:gs pos="0">
                <a:schemeClr val="bg1">
                  <a:lumMod val="95000"/>
                  <a:lumOff val="5000"/>
                  <a:alpha val="0"/>
                </a:schemeClr>
              </a:gs>
              <a:gs pos="77000">
                <a:schemeClr val="tx2">
                  <a:lumMod val="10000"/>
                </a:schemeClr>
              </a:gs>
            </a:gsLst>
            <a:lin ang="612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65A736AD-F89C-569E-7776-244B7BD4961D}"/>
              </a:ext>
            </a:extLst>
          </p:cNvPr>
          <p:cNvSpPr/>
          <p:nvPr/>
        </p:nvSpPr>
        <p:spPr>
          <a:xfrm>
            <a:off x="773723" y="1367360"/>
            <a:ext cx="10644553" cy="2860431"/>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9891B1ED-C84C-0F2F-1372-4E2D445CED5B}"/>
              </a:ext>
            </a:extLst>
          </p:cNvPr>
          <p:cNvSpPr txBox="1"/>
          <p:nvPr/>
        </p:nvSpPr>
        <p:spPr>
          <a:xfrm>
            <a:off x="2199629" y="2228671"/>
            <a:ext cx="7792739" cy="1200329"/>
          </a:xfrm>
          <a:prstGeom prst="rect">
            <a:avLst/>
          </a:prstGeom>
          <a:noFill/>
        </p:spPr>
        <p:txBody>
          <a:bodyPr wrap="square" rtlCol="0">
            <a:spAutoFit/>
          </a:bodyPr>
          <a:lstStyle/>
          <a:p>
            <a:r>
              <a:rPr lang="en-US" sz="7200" dirty="0"/>
              <a:t>DELIVERY DRONE</a:t>
            </a:r>
            <a:endParaRPr lang="en-IN" sz="7200" dirty="0"/>
          </a:p>
        </p:txBody>
      </p:sp>
    </p:spTree>
    <p:extLst>
      <p:ext uri="{BB962C8B-B14F-4D97-AF65-F5344CB8AC3E}">
        <p14:creationId xmlns:p14="http://schemas.microsoft.com/office/powerpoint/2010/main" val="306297962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F75EE-740E-AB25-3600-3BB9C416005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67254137-BA84-29E8-3E3C-0E3566DD1E11}"/>
              </a:ext>
            </a:extLst>
          </p:cNvPr>
          <p:cNvPicPr>
            <a:picLocks noChangeAspect="1"/>
          </p:cNvPicPr>
          <p:nvPr/>
        </p:nvPicPr>
        <p:blipFill>
          <a:blip r:embed="rId2">
            <a:clrChange>
              <a:clrFrom>
                <a:srgbClr val="071002"/>
              </a:clrFrom>
              <a:clrTo>
                <a:srgbClr val="071002">
                  <a:alpha val="0"/>
                </a:srgbClr>
              </a:clrTo>
            </a:clrChange>
            <a:extLst>
              <a:ext uri="{BEBA8EAE-BF5A-486C-A8C5-ECC9F3942E4B}">
                <a14:imgProps xmlns:a14="http://schemas.microsoft.com/office/drawing/2010/main">
                  <a14:imgLayer r:embed="rId3">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288780"/>
            <a:ext cx="13106400" cy="17475200"/>
          </a:xfrm>
          <a:prstGeom prst="rect">
            <a:avLst/>
          </a:prstGeom>
        </p:spPr>
      </p:pic>
      <p:sp>
        <p:nvSpPr>
          <p:cNvPr id="4" name="TextBox 3">
            <a:extLst>
              <a:ext uri="{FF2B5EF4-FFF2-40B4-BE49-F238E27FC236}">
                <a16:creationId xmlns:a16="http://schemas.microsoft.com/office/drawing/2014/main" id="{8F676598-226C-B67D-7971-CC0EB4A14433}"/>
              </a:ext>
            </a:extLst>
          </p:cNvPr>
          <p:cNvSpPr txBox="1"/>
          <p:nvPr/>
        </p:nvSpPr>
        <p:spPr>
          <a:xfrm>
            <a:off x="0" y="343429"/>
            <a:ext cx="7327758" cy="707886"/>
          </a:xfrm>
          <a:prstGeom prst="rect">
            <a:avLst/>
          </a:prstGeom>
          <a:solidFill>
            <a:schemeClr val="bg2">
              <a:lumMod val="75000"/>
            </a:schemeClr>
          </a:solidFill>
        </p:spPr>
        <p:txBody>
          <a:bodyPr wrap="square">
            <a:spAutoFit/>
          </a:bodyPr>
          <a:lstStyle/>
          <a:p>
            <a:pPr algn="ctr"/>
            <a:r>
              <a:rPr lang="en-US" sz="4000" b="1" dirty="0">
                <a:latin typeface="Times New Roman" panose="02020603050405020304" pitchFamily="18" charset="0"/>
                <a:cs typeface="Times New Roman" panose="02020603050405020304" pitchFamily="18" charset="0"/>
              </a:rPr>
              <a:t>COMPONENTS USED</a:t>
            </a:r>
          </a:p>
        </p:txBody>
      </p:sp>
      <p:sp>
        <p:nvSpPr>
          <p:cNvPr id="25" name="Rectangle: Rounded Corners 24">
            <a:extLst>
              <a:ext uri="{FF2B5EF4-FFF2-40B4-BE49-F238E27FC236}">
                <a16:creationId xmlns:a16="http://schemas.microsoft.com/office/drawing/2014/main" id="{4D4E81D3-9A8D-CD41-BE7B-72338FB4E613}"/>
              </a:ext>
            </a:extLst>
          </p:cNvPr>
          <p:cNvSpPr/>
          <p:nvPr/>
        </p:nvSpPr>
        <p:spPr>
          <a:xfrm>
            <a:off x="213360" y="1291771"/>
            <a:ext cx="11978639" cy="5164777"/>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7" name="Table 6">
            <a:extLst>
              <a:ext uri="{FF2B5EF4-FFF2-40B4-BE49-F238E27FC236}">
                <a16:creationId xmlns:a16="http://schemas.microsoft.com/office/drawing/2014/main" id="{DFF36375-1066-C303-A0A3-A88DA8834AB9}"/>
              </a:ext>
            </a:extLst>
          </p:cNvPr>
          <p:cNvGraphicFramePr>
            <a:graphicFrameLocks noGrp="1"/>
          </p:cNvGraphicFramePr>
          <p:nvPr>
            <p:extLst>
              <p:ext uri="{D42A27DB-BD31-4B8C-83A1-F6EECF244321}">
                <p14:modId xmlns:p14="http://schemas.microsoft.com/office/powerpoint/2010/main" val="1954206679"/>
              </p:ext>
            </p:extLst>
          </p:nvPr>
        </p:nvGraphicFramePr>
        <p:xfrm>
          <a:off x="1811525" y="1619666"/>
          <a:ext cx="9215063" cy="4508985"/>
        </p:xfrm>
        <a:graphic>
          <a:graphicData uri="http://schemas.openxmlformats.org/drawingml/2006/table">
            <a:tbl>
              <a:tblPr firstRow="1" firstCol="1" bandRow="1">
                <a:tableStyleId>{5940675A-B579-460E-94D1-54222C63F5DA}</a:tableStyleId>
              </a:tblPr>
              <a:tblGrid>
                <a:gridCol w="2133116">
                  <a:extLst>
                    <a:ext uri="{9D8B030D-6E8A-4147-A177-3AD203B41FA5}">
                      <a16:colId xmlns:a16="http://schemas.microsoft.com/office/drawing/2014/main" val="1678322944"/>
                    </a:ext>
                  </a:extLst>
                </a:gridCol>
                <a:gridCol w="7081947">
                  <a:extLst>
                    <a:ext uri="{9D8B030D-6E8A-4147-A177-3AD203B41FA5}">
                      <a16:colId xmlns:a16="http://schemas.microsoft.com/office/drawing/2014/main" val="2506334137"/>
                    </a:ext>
                  </a:extLst>
                </a:gridCol>
              </a:tblGrid>
              <a:tr h="409715">
                <a:tc>
                  <a:txBody>
                    <a:bodyPr/>
                    <a:lstStyle/>
                    <a:p>
                      <a:pPr marR="335915" algn="ctr">
                        <a:lnSpc>
                          <a:spcPct val="150000"/>
                        </a:lnSpc>
                        <a:spcAft>
                          <a:spcPts val="800"/>
                        </a:spcAft>
                        <a:buNone/>
                      </a:pPr>
                      <a:r>
                        <a:rPr lang="en-IN" sz="1600" b="1" kern="100">
                          <a:solidFill>
                            <a:schemeClr val="tx1"/>
                          </a:solidFill>
                          <a:effectLst/>
                        </a:rPr>
                        <a:t>S. no.</a:t>
                      </a:r>
                      <a:endParaRPr lang="en-IN" sz="1600" b="1" kern="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R="335915" algn="ctr">
                        <a:lnSpc>
                          <a:spcPct val="150000"/>
                        </a:lnSpc>
                        <a:spcAft>
                          <a:spcPts val="800"/>
                        </a:spcAft>
                        <a:buNone/>
                      </a:pPr>
                      <a:r>
                        <a:rPr lang="en-IN" sz="1600" b="1" kern="100" dirty="0">
                          <a:solidFill>
                            <a:schemeClr val="tx1"/>
                          </a:solidFill>
                          <a:effectLst/>
                        </a:rPr>
                        <a:t>Description</a:t>
                      </a:r>
                      <a:endParaRPr lang="en-IN" sz="1600" b="1" kern="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187510424"/>
                  </a:ext>
                </a:extLst>
              </a:tr>
              <a:tr h="409927">
                <a:tc>
                  <a:txBody>
                    <a:bodyPr/>
                    <a:lstStyle/>
                    <a:p>
                      <a:pPr marR="335915" algn="ctr">
                        <a:lnSpc>
                          <a:spcPct val="150000"/>
                        </a:lnSpc>
                        <a:spcAft>
                          <a:spcPts val="800"/>
                        </a:spcAft>
                        <a:buNone/>
                      </a:pPr>
                      <a:r>
                        <a:rPr lang="en-IN" sz="1800" kern="100" dirty="0">
                          <a:effectLst/>
                        </a:rPr>
                        <a:t>1.</a:t>
                      </a:r>
                      <a:endParaRPr lang="en-IN" sz="18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R="335915" algn="ctr">
                        <a:lnSpc>
                          <a:spcPct val="150000"/>
                        </a:lnSpc>
                        <a:spcAft>
                          <a:spcPts val="800"/>
                        </a:spcAft>
                        <a:buNone/>
                      </a:pPr>
                      <a:r>
                        <a:rPr lang="en-IN" sz="1800" kern="100" dirty="0">
                          <a:effectLst/>
                        </a:rPr>
                        <a:t>Flight Controller Pixhawk Cube Orange+</a:t>
                      </a:r>
                      <a:endParaRPr lang="en-IN" sz="18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449799197"/>
                  </a:ext>
                </a:extLst>
              </a:tr>
              <a:tr h="409927">
                <a:tc>
                  <a:txBody>
                    <a:bodyPr/>
                    <a:lstStyle/>
                    <a:p>
                      <a:pPr marR="335915" algn="ctr">
                        <a:lnSpc>
                          <a:spcPct val="150000"/>
                        </a:lnSpc>
                        <a:spcAft>
                          <a:spcPts val="800"/>
                        </a:spcAft>
                        <a:buNone/>
                      </a:pPr>
                      <a:r>
                        <a:rPr lang="en-IN" sz="1800" kern="100">
                          <a:effectLst/>
                        </a:rPr>
                        <a:t>2.</a:t>
                      </a:r>
                      <a:endParaRPr lang="en-IN"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R="335915" algn="ctr">
                        <a:lnSpc>
                          <a:spcPct val="150000"/>
                        </a:lnSpc>
                        <a:spcAft>
                          <a:spcPts val="800"/>
                        </a:spcAft>
                        <a:buNone/>
                      </a:pPr>
                      <a:r>
                        <a:rPr lang="en-IN" sz="1800" kern="100" dirty="0">
                          <a:effectLst/>
                        </a:rPr>
                        <a:t>Motor </a:t>
                      </a:r>
                      <a:r>
                        <a:rPr lang="en-IN" sz="1800" kern="100" dirty="0" err="1">
                          <a:effectLst/>
                        </a:rPr>
                        <a:t>Hobbywing</a:t>
                      </a:r>
                      <a:r>
                        <a:rPr lang="en-IN" sz="1800" kern="100" dirty="0">
                          <a:effectLst/>
                        </a:rPr>
                        <a:t> X6 Plus 150KV</a:t>
                      </a:r>
                      <a:endParaRPr lang="en-IN" sz="18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10954174"/>
                  </a:ext>
                </a:extLst>
              </a:tr>
              <a:tr h="409927">
                <a:tc>
                  <a:txBody>
                    <a:bodyPr/>
                    <a:lstStyle/>
                    <a:p>
                      <a:pPr marR="335915" algn="ctr">
                        <a:lnSpc>
                          <a:spcPct val="150000"/>
                        </a:lnSpc>
                        <a:spcAft>
                          <a:spcPts val="800"/>
                        </a:spcAft>
                        <a:buNone/>
                      </a:pPr>
                      <a:r>
                        <a:rPr lang="en-IN" sz="1800" kern="100">
                          <a:effectLst/>
                        </a:rPr>
                        <a:t>3.</a:t>
                      </a:r>
                      <a:endParaRPr lang="en-IN"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R="335915" algn="ctr">
                        <a:lnSpc>
                          <a:spcPct val="150000"/>
                        </a:lnSpc>
                        <a:spcAft>
                          <a:spcPts val="800"/>
                        </a:spcAft>
                        <a:buNone/>
                      </a:pPr>
                      <a:r>
                        <a:rPr lang="en-IN" sz="1800" kern="100" dirty="0">
                          <a:effectLst/>
                        </a:rPr>
                        <a:t>Propeller 2480 </a:t>
                      </a:r>
                      <a:endParaRPr lang="en-IN" sz="18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722161851"/>
                  </a:ext>
                </a:extLst>
              </a:tr>
              <a:tr h="409927">
                <a:tc>
                  <a:txBody>
                    <a:bodyPr/>
                    <a:lstStyle/>
                    <a:p>
                      <a:pPr marR="335915" algn="ctr">
                        <a:lnSpc>
                          <a:spcPct val="150000"/>
                        </a:lnSpc>
                        <a:spcAft>
                          <a:spcPts val="800"/>
                        </a:spcAft>
                        <a:buNone/>
                      </a:pPr>
                      <a:r>
                        <a:rPr lang="en-IN" sz="1800" kern="100">
                          <a:effectLst/>
                        </a:rPr>
                        <a:t>4.</a:t>
                      </a:r>
                      <a:endParaRPr lang="en-IN"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R="335915" algn="ctr">
                        <a:lnSpc>
                          <a:spcPct val="150000"/>
                        </a:lnSpc>
                        <a:spcAft>
                          <a:spcPts val="800"/>
                        </a:spcAft>
                        <a:buNone/>
                      </a:pPr>
                      <a:r>
                        <a:rPr lang="en-IN" sz="1800" kern="100">
                          <a:effectLst/>
                        </a:rPr>
                        <a:t>ESC In-built In motor</a:t>
                      </a:r>
                      <a:endParaRPr lang="en-IN"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733533742"/>
                  </a:ext>
                </a:extLst>
              </a:tr>
              <a:tr h="409927">
                <a:tc>
                  <a:txBody>
                    <a:bodyPr/>
                    <a:lstStyle/>
                    <a:p>
                      <a:pPr marR="335915" algn="ctr">
                        <a:lnSpc>
                          <a:spcPct val="150000"/>
                        </a:lnSpc>
                        <a:spcAft>
                          <a:spcPts val="800"/>
                        </a:spcAft>
                        <a:buNone/>
                      </a:pPr>
                      <a:r>
                        <a:rPr lang="en-IN" sz="1800" kern="100">
                          <a:effectLst/>
                        </a:rPr>
                        <a:t>5.</a:t>
                      </a:r>
                      <a:endParaRPr lang="en-IN"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R="335915" algn="ctr">
                        <a:lnSpc>
                          <a:spcPct val="150000"/>
                        </a:lnSpc>
                        <a:spcAft>
                          <a:spcPts val="800"/>
                        </a:spcAft>
                        <a:buNone/>
                      </a:pPr>
                      <a:r>
                        <a:rPr lang="en-IN" sz="1800" kern="100">
                          <a:effectLst/>
                        </a:rPr>
                        <a:t>T10 TX RX</a:t>
                      </a:r>
                      <a:endParaRPr lang="en-IN"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070220890"/>
                  </a:ext>
                </a:extLst>
              </a:tr>
              <a:tr h="409927">
                <a:tc>
                  <a:txBody>
                    <a:bodyPr/>
                    <a:lstStyle/>
                    <a:p>
                      <a:pPr marR="335915" algn="ctr">
                        <a:lnSpc>
                          <a:spcPct val="150000"/>
                        </a:lnSpc>
                        <a:spcAft>
                          <a:spcPts val="800"/>
                        </a:spcAft>
                        <a:buNone/>
                      </a:pPr>
                      <a:r>
                        <a:rPr lang="en-IN" sz="1800" kern="100">
                          <a:effectLst/>
                        </a:rPr>
                        <a:t>6.</a:t>
                      </a:r>
                      <a:endParaRPr lang="en-IN"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R="335915" algn="ctr">
                        <a:lnSpc>
                          <a:spcPct val="150000"/>
                        </a:lnSpc>
                        <a:spcAft>
                          <a:spcPts val="800"/>
                        </a:spcAft>
                        <a:buNone/>
                      </a:pPr>
                      <a:r>
                        <a:rPr lang="en-IN" sz="1800" kern="100">
                          <a:effectLst/>
                        </a:rPr>
                        <a:t>CUAV C-RTK 2 HP GNSS </a:t>
                      </a:r>
                      <a:endParaRPr lang="en-IN"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710820908"/>
                  </a:ext>
                </a:extLst>
              </a:tr>
              <a:tr h="409927">
                <a:tc>
                  <a:txBody>
                    <a:bodyPr/>
                    <a:lstStyle/>
                    <a:p>
                      <a:pPr marR="335915" algn="ctr">
                        <a:lnSpc>
                          <a:spcPct val="150000"/>
                        </a:lnSpc>
                        <a:spcAft>
                          <a:spcPts val="800"/>
                        </a:spcAft>
                        <a:buNone/>
                      </a:pPr>
                      <a:r>
                        <a:rPr lang="en-IN" sz="1800" kern="100">
                          <a:effectLst/>
                        </a:rPr>
                        <a:t>7.</a:t>
                      </a:r>
                      <a:endParaRPr lang="en-IN"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R="335915" algn="ctr">
                        <a:lnSpc>
                          <a:spcPct val="150000"/>
                        </a:lnSpc>
                        <a:spcAft>
                          <a:spcPts val="800"/>
                        </a:spcAft>
                        <a:buNone/>
                      </a:pPr>
                      <a:r>
                        <a:rPr lang="en-IN" sz="1800" kern="100">
                          <a:effectLst/>
                        </a:rPr>
                        <a:t>Flight Computer Raspberry Pi 5 8GB</a:t>
                      </a:r>
                      <a:endParaRPr lang="en-IN"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635324369"/>
                  </a:ext>
                </a:extLst>
              </a:tr>
              <a:tr h="409927">
                <a:tc>
                  <a:txBody>
                    <a:bodyPr/>
                    <a:lstStyle/>
                    <a:p>
                      <a:pPr marR="335915" algn="ctr">
                        <a:lnSpc>
                          <a:spcPct val="150000"/>
                        </a:lnSpc>
                        <a:spcAft>
                          <a:spcPts val="800"/>
                        </a:spcAft>
                        <a:buNone/>
                      </a:pPr>
                      <a:r>
                        <a:rPr lang="en-IN" sz="1800" kern="100">
                          <a:effectLst/>
                        </a:rPr>
                        <a:t>8.</a:t>
                      </a:r>
                      <a:endParaRPr lang="en-IN"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R="335915" algn="ctr">
                        <a:lnSpc>
                          <a:spcPct val="150000"/>
                        </a:lnSpc>
                        <a:spcAft>
                          <a:spcPts val="800"/>
                        </a:spcAft>
                        <a:buNone/>
                        <a:tabLst>
                          <a:tab pos="1828800" algn="l"/>
                          <a:tab pos="2463800" algn="ctr"/>
                        </a:tabLst>
                      </a:pPr>
                      <a:r>
                        <a:rPr lang="en-US" sz="1800" kern="100">
                          <a:effectLst/>
                        </a:rPr>
                        <a:t>25200mAh 2*6S </a:t>
                      </a:r>
                      <a:r>
                        <a:rPr lang="en-IN" sz="1800" kern="100">
                          <a:effectLst/>
                        </a:rPr>
                        <a:t>Battery</a:t>
                      </a:r>
                      <a:endParaRPr lang="en-IN"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82966674"/>
                  </a:ext>
                </a:extLst>
              </a:tr>
              <a:tr h="409927">
                <a:tc>
                  <a:txBody>
                    <a:bodyPr/>
                    <a:lstStyle/>
                    <a:p>
                      <a:pPr marR="335915" algn="ctr">
                        <a:lnSpc>
                          <a:spcPct val="150000"/>
                        </a:lnSpc>
                        <a:spcAft>
                          <a:spcPts val="800"/>
                        </a:spcAft>
                        <a:buNone/>
                      </a:pPr>
                      <a:r>
                        <a:rPr lang="en-IN" sz="1800" kern="100">
                          <a:effectLst/>
                        </a:rPr>
                        <a:t>9.</a:t>
                      </a:r>
                      <a:endParaRPr lang="en-IN"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R="335915" algn="ctr">
                        <a:lnSpc>
                          <a:spcPct val="150000"/>
                        </a:lnSpc>
                        <a:spcAft>
                          <a:spcPts val="800"/>
                        </a:spcAft>
                        <a:buNone/>
                      </a:pPr>
                      <a:r>
                        <a:rPr lang="en-IN" sz="1800" kern="100">
                          <a:effectLst/>
                        </a:rPr>
                        <a:t>Servo Motor MG995</a:t>
                      </a:r>
                      <a:endParaRPr lang="en-IN"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83175357"/>
                  </a:ext>
                </a:extLst>
              </a:tr>
              <a:tr h="409927">
                <a:tc>
                  <a:txBody>
                    <a:bodyPr/>
                    <a:lstStyle/>
                    <a:p>
                      <a:pPr marR="335915" algn="ctr">
                        <a:lnSpc>
                          <a:spcPct val="150000"/>
                        </a:lnSpc>
                        <a:spcAft>
                          <a:spcPts val="800"/>
                        </a:spcAft>
                        <a:buNone/>
                      </a:pPr>
                      <a:r>
                        <a:rPr lang="en-IN" sz="1800" kern="100">
                          <a:effectLst/>
                        </a:rPr>
                        <a:t>10.</a:t>
                      </a:r>
                      <a:endParaRPr lang="en-IN"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R="335915" algn="ctr">
                        <a:lnSpc>
                          <a:spcPct val="150000"/>
                        </a:lnSpc>
                        <a:spcAft>
                          <a:spcPts val="800"/>
                        </a:spcAft>
                        <a:buNone/>
                      </a:pPr>
                      <a:r>
                        <a:rPr lang="en-IN" sz="1800" kern="100" dirty="0">
                          <a:effectLst/>
                        </a:rPr>
                        <a:t> Power Distribution Board PDB-200A</a:t>
                      </a:r>
                      <a:endParaRPr lang="en-IN" sz="18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675202477"/>
                  </a:ext>
                </a:extLst>
              </a:tr>
            </a:tbl>
          </a:graphicData>
        </a:graphic>
      </p:graphicFrame>
    </p:spTree>
    <p:extLst>
      <p:ext uri="{BB962C8B-B14F-4D97-AF65-F5344CB8AC3E}">
        <p14:creationId xmlns:p14="http://schemas.microsoft.com/office/powerpoint/2010/main" val="3968435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down)">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0F5C3-CE03-7391-1634-0F1DA48AFAB6}"/>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3CBFB216-500B-BE0F-D286-10C5EBC54C42}"/>
              </a:ext>
            </a:extLst>
          </p:cNvPr>
          <p:cNvPicPr>
            <a:picLocks noChangeAspect="1"/>
          </p:cNvPicPr>
          <p:nvPr/>
        </p:nvPicPr>
        <p:blipFill>
          <a:blip r:embed="rId3">
            <a:clrChange>
              <a:clrFrom>
                <a:srgbClr val="071002"/>
              </a:clrFrom>
              <a:clrTo>
                <a:srgbClr val="071002">
                  <a:alpha val="0"/>
                </a:srgbClr>
              </a:clrTo>
            </a:clrChange>
            <a:extLst>
              <a:ext uri="{BEBA8EAE-BF5A-486C-A8C5-ECC9F3942E4B}">
                <a14:imgProps xmlns:a14="http://schemas.microsoft.com/office/drawing/2010/main">
                  <a14:imgLayer r:embed="rId4">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sp>
        <p:nvSpPr>
          <p:cNvPr id="8" name="Rectangle 7">
            <a:extLst>
              <a:ext uri="{FF2B5EF4-FFF2-40B4-BE49-F238E27FC236}">
                <a16:creationId xmlns:a16="http://schemas.microsoft.com/office/drawing/2014/main" id="{B0DBBA46-BAFC-C0EB-30C7-6D805DAFAA62}"/>
              </a:ext>
            </a:extLst>
          </p:cNvPr>
          <p:cNvSpPr/>
          <p:nvPr/>
        </p:nvSpPr>
        <p:spPr>
          <a:xfrm>
            <a:off x="-1" y="401452"/>
            <a:ext cx="9611833" cy="741600"/>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700"/>
              </a:spcAft>
            </a:pPr>
            <a:r>
              <a:rPr lang="en-US" sz="4400" b="1" dirty="0">
                <a:latin typeface="Times New Roman" panose="02020603050405020304" pitchFamily="18" charset="0"/>
                <a:cs typeface="Times New Roman" panose="02020603050405020304" pitchFamily="18" charset="0"/>
              </a:rPr>
              <a:t>   AVIONCS:</a:t>
            </a:r>
          </a:p>
        </p:txBody>
      </p:sp>
      <p:sp>
        <p:nvSpPr>
          <p:cNvPr id="2" name="Rectangle: Rounded Corners 1">
            <a:extLst>
              <a:ext uri="{FF2B5EF4-FFF2-40B4-BE49-F238E27FC236}">
                <a16:creationId xmlns:a16="http://schemas.microsoft.com/office/drawing/2014/main" id="{9B5E5E7F-1566-0107-0C55-393DD5C4EAF4}"/>
              </a:ext>
            </a:extLst>
          </p:cNvPr>
          <p:cNvSpPr/>
          <p:nvPr/>
        </p:nvSpPr>
        <p:spPr>
          <a:xfrm>
            <a:off x="213360" y="1291771"/>
            <a:ext cx="11978639" cy="5164777"/>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3" name="Table 2">
            <a:extLst>
              <a:ext uri="{FF2B5EF4-FFF2-40B4-BE49-F238E27FC236}">
                <a16:creationId xmlns:a16="http://schemas.microsoft.com/office/drawing/2014/main" id="{568A6880-DFCF-836F-1F14-95C77194EA1F}"/>
              </a:ext>
            </a:extLst>
          </p:cNvPr>
          <p:cNvGraphicFramePr>
            <a:graphicFrameLocks noGrp="1"/>
          </p:cNvGraphicFramePr>
          <p:nvPr>
            <p:extLst>
              <p:ext uri="{D42A27DB-BD31-4B8C-83A1-F6EECF244321}">
                <p14:modId xmlns:p14="http://schemas.microsoft.com/office/powerpoint/2010/main" val="1744991908"/>
              </p:ext>
            </p:extLst>
          </p:nvPr>
        </p:nvGraphicFramePr>
        <p:xfrm>
          <a:off x="1591290" y="1667435"/>
          <a:ext cx="9399439" cy="4497067"/>
        </p:xfrm>
        <a:graphic>
          <a:graphicData uri="http://schemas.openxmlformats.org/drawingml/2006/table">
            <a:tbl>
              <a:tblPr firstRow="1" firstCol="1" bandRow="1">
                <a:tableStyleId>{5940675A-B579-460E-94D1-54222C63F5DA}</a:tableStyleId>
              </a:tblPr>
              <a:tblGrid>
                <a:gridCol w="950950">
                  <a:extLst>
                    <a:ext uri="{9D8B030D-6E8A-4147-A177-3AD203B41FA5}">
                      <a16:colId xmlns:a16="http://schemas.microsoft.com/office/drawing/2014/main" val="4279843889"/>
                    </a:ext>
                  </a:extLst>
                </a:gridCol>
                <a:gridCol w="2836584">
                  <a:extLst>
                    <a:ext uri="{9D8B030D-6E8A-4147-A177-3AD203B41FA5}">
                      <a16:colId xmlns:a16="http://schemas.microsoft.com/office/drawing/2014/main" val="362457447"/>
                    </a:ext>
                  </a:extLst>
                </a:gridCol>
                <a:gridCol w="5611905">
                  <a:extLst>
                    <a:ext uri="{9D8B030D-6E8A-4147-A177-3AD203B41FA5}">
                      <a16:colId xmlns:a16="http://schemas.microsoft.com/office/drawing/2014/main" val="417830961"/>
                    </a:ext>
                  </a:extLst>
                </a:gridCol>
              </a:tblGrid>
              <a:tr h="417611">
                <a:tc>
                  <a:txBody>
                    <a:bodyPr/>
                    <a:lstStyle/>
                    <a:p>
                      <a:pPr>
                        <a:lnSpc>
                          <a:spcPct val="107000"/>
                        </a:lnSpc>
                        <a:spcAft>
                          <a:spcPts val="800"/>
                        </a:spcAft>
                        <a:buNone/>
                      </a:pPr>
                      <a:r>
                        <a:rPr lang="en-IN" sz="1800" b="1" kern="100">
                          <a:effectLst/>
                        </a:rPr>
                        <a:t>S. no.</a:t>
                      </a:r>
                      <a:endParaRPr lang="en-IN" sz="18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IN" sz="1800" b="1" kern="100">
                          <a:effectLst/>
                        </a:rPr>
                        <a:t>Components</a:t>
                      </a:r>
                      <a:endParaRPr lang="en-IN" sz="18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IN" sz="1800" b="1" kern="100" dirty="0">
                          <a:effectLst/>
                        </a:rPr>
                        <a:t>Name</a:t>
                      </a:r>
                      <a:endParaRPr lang="en-IN" sz="1800" b="1"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971777919"/>
                  </a:ext>
                </a:extLst>
              </a:tr>
              <a:tr h="417611">
                <a:tc>
                  <a:txBody>
                    <a:bodyPr/>
                    <a:lstStyle/>
                    <a:p>
                      <a:pPr>
                        <a:lnSpc>
                          <a:spcPct val="107000"/>
                        </a:lnSpc>
                        <a:spcAft>
                          <a:spcPts val="800"/>
                        </a:spcAft>
                        <a:buNone/>
                      </a:pPr>
                      <a:r>
                        <a:rPr lang="en-IN" sz="1800" kern="100" dirty="0">
                          <a:effectLst/>
                          <a:latin typeface="Aptos Display" panose="020B0004020202020204" pitchFamily="34" charset="0"/>
                        </a:rPr>
                        <a:t>1</a:t>
                      </a:r>
                      <a:endParaRPr lang="en-IN" sz="1800" kern="100" dirty="0">
                        <a:effectLst/>
                        <a:latin typeface="Aptos Display"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IN" sz="1800" kern="100">
                          <a:effectLst/>
                          <a:latin typeface="Aptos Display" panose="020B0004020202020204" pitchFamily="34" charset="0"/>
                        </a:rPr>
                        <a:t>Flight Controller </a:t>
                      </a:r>
                      <a:endParaRPr lang="en-IN" sz="1800" kern="100">
                        <a:effectLst/>
                        <a:latin typeface="Aptos Display"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IN" sz="1800" kern="100">
                          <a:effectLst/>
                          <a:latin typeface="Aptos Display" panose="020B0004020202020204" pitchFamily="34" charset="0"/>
                        </a:rPr>
                        <a:t>Pixhawk Cube 1Orange</a:t>
                      </a:r>
                      <a:endParaRPr lang="en-IN" sz="1800" kern="100">
                        <a:effectLst/>
                        <a:latin typeface="Aptos Display"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580048187"/>
                  </a:ext>
                </a:extLst>
              </a:tr>
              <a:tr h="854351">
                <a:tc>
                  <a:txBody>
                    <a:bodyPr/>
                    <a:lstStyle/>
                    <a:p>
                      <a:pPr>
                        <a:lnSpc>
                          <a:spcPct val="107000"/>
                        </a:lnSpc>
                        <a:spcAft>
                          <a:spcPts val="800"/>
                        </a:spcAft>
                        <a:buNone/>
                      </a:pPr>
                      <a:r>
                        <a:rPr lang="en-IN" sz="1800" kern="100">
                          <a:effectLst/>
                          <a:latin typeface="Aptos Display" panose="020B0004020202020204" pitchFamily="34" charset="0"/>
                        </a:rPr>
                        <a:t>2</a:t>
                      </a:r>
                      <a:endParaRPr lang="en-IN" sz="1800" kern="100">
                        <a:effectLst/>
                        <a:latin typeface="Aptos Display"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IN" sz="1800" kern="100">
                          <a:effectLst/>
                          <a:latin typeface="Aptos Display" panose="020B0004020202020204" pitchFamily="34" charset="0"/>
                        </a:rPr>
                        <a:t>ESC (Electronic Speed Controller)</a:t>
                      </a:r>
                      <a:endParaRPr lang="en-IN" sz="1800" kern="100">
                        <a:effectLst/>
                        <a:latin typeface="Aptos Display"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IN" sz="1800" kern="100">
                          <a:effectLst/>
                          <a:latin typeface="Aptos Display" panose="020B0004020202020204" pitchFamily="34" charset="0"/>
                        </a:rPr>
                        <a:t>Cyclone 45A ESC</a:t>
                      </a:r>
                      <a:endParaRPr lang="en-IN" sz="1800" kern="100">
                        <a:effectLst/>
                        <a:latin typeface="Aptos Display"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310113792"/>
                  </a:ext>
                </a:extLst>
              </a:tr>
              <a:tr h="417611">
                <a:tc>
                  <a:txBody>
                    <a:bodyPr/>
                    <a:lstStyle/>
                    <a:p>
                      <a:pPr>
                        <a:lnSpc>
                          <a:spcPct val="107000"/>
                        </a:lnSpc>
                        <a:spcAft>
                          <a:spcPts val="800"/>
                        </a:spcAft>
                        <a:buNone/>
                      </a:pPr>
                      <a:r>
                        <a:rPr lang="en-IN" sz="1800" kern="100">
                          <a:effectLst/>
                          <a:latin typeface="Aptos Display" panose="020B0004020202020204" pitchFamily="34" charset="0"/>
                        </a:rPr>
                        <a:t>3</a:t>
                      </a:r>
                      <a:endParaRPr lang="en-IN" sz="1800" kern="100">
                        <a:effectLst/>
                        <a:latin typeface="Aptos Display"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IN" sz="1800" kern="100">
                          <a:effectLst/>
                          <a:latin typeface="Aptos Display" panose="020B0004020202020204" pitchFamily="34" charset="0"/>
                        </a:rPr>
                        <a:t>Transmitter</a:t>
                      </a:r>
                      <a:endParaRPr lang="en-IN" sz="1800" kern="100">
                        <a:effectLst/>
                        <a:latin typeface="Aptos Display"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IN" sz="1800" kern="100">
                          <a:effectLst/>
                          <a:latin typeface="Aptos Display" panose="020B0004020202020204" pitchFamily="34" charset="0"/>
                        </a:rPr>
                        <a:t>Skydroid T10</a:t>
                      </a:r>
                      <a:endParaRPr lang="en-IN" sz="1800" kern="100">
                        <a:effectLst/>
                        <a:latin typeface="Aptos Display"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78807362"/>
                  </a:ext>
                </a:extLst>
              </a:tr>
              <a:tr h="417611">
                <a:tc>
                  <a:txBody>
                    <a:bodyPr/>
                    <a:lstStyle/>
                    <a:p>
                      <a:pPr>
                        <a:lnSpc>
                          <a:spcPct val="107000"/>
                        </a:lnSpc>
                        <a:spcAft>
                          <a:spcPts val="800"/>
                        </a:spcAft>
                        <a:buNone/>
                      </a:pPr>
                      <a:r>
                        <a:rPr lang="en-IN" sz="1800" kern="100">
                          <a:effectLst/>
                          <a:latin typeface="Aptos Display" panose="020B0004020202020204" pitchFamily="34" charset="0"/>
                        </a:rPr>
                        <a:t>4</a:t>
                      </a:r>
                      <a:endParaRPr lang="en-IN" sz="1800" kern="100">
                        <a:effectLst/>
                        <a:latin typeface="Aptos Display"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IN" sz="1800" kern="100">
                          <a:effectLst/>
                          <a:latin typeface="Aptos Display" panose="020B0004020202020204" pitchFamily="34" charset="0"/>
                        </a:rPr>
                        <a:t>Receiver</a:t>
                      </a:r>
                      <a:endParaRPr lang="en-IN" sz="1800" kern="100">
                        <a:effectLst/>
                        <a:latin typeface="Aptos Display"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IN" sz="1800" kern="100" dirty="0">
                          <a:effectLst/>
                          <a:latin typeface="Aptos Display" panose="020B0004020202020204" pitchFamily="34" charset="0"/>
                        </a:rPr>
                        <a:t>T10 </a:t>
                      </a:r>
                      <a:r>
                        <a:rPr lang="en-IN" sz="1800" kern="100" dirty="0" err="1">
                          <a:effectLst/>
                          <a:latin typeface="Aptos Display" panose="020B0004020202020204" pitchFamily="34" charset="0"/>
                        </a:rPr>
                        <a:t>Reciever</a:t>
                      </a:r>
                      <a:endParaRPr lang="en-IN" sz="1800" kern="100" dirty="0">
                        <a:effectLst/>
                        <a:latin typeface="Aptos Display"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799002284"/>
                  </a:ext>
                </a:extLst>
              </a:tr>
              <a:tr h="737654">
                <a:tc>
                  <a:txBody>
                    <a:bodyPr/>
                    <a:lstStyle/>
                    <a:p>
                      <a:pPr algn="ctr">
                        <a:lnSpc>
                          <a:spcPct val="107000"/>
                        </a:lnSpc>
                        <a:spcAft>
                          <a:spcPts val="800"/>
                        </a:spcAft>
                        <a:buNone/>
                      </a:pPr>
                      <a:r>
                        <a:rPr lang="en-US" sz="1800" kern="100" dirty="0">
                          <a:effectLst/>
                          <a:latin typeface="Aptos Display" panose="020B0004020202020204" pitchFamily="34" charset="0"/>
                          <a:ea typeface="Aptos" panose="020B0004020202020204" pitchFamily="34" charset="0"/>
                          <a:cs typeface="Arial" panose="020B0604020202020204" pitchFamily="34" charset="0"/>
                        </a:rPr>
                        <a:t>5</a:t>
                      </a:r>
                      <a:endParaRPr lang="en-IN" sz="1800" kern="100" dirty="0">
                        <a:effectLst/>
                        <a:latin typeface="Aptos Display"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IN" sz="1800" kern="100">
                          <a:effectLst/>
                          <a:latin typeface="Aptos Display" panose="020B0004020202020204" pitchFamily="34" charset="0"/>
                          <a:ea typeface="Aptos" panose="020B0004020202020204" pitchFamily="34" charset="0"/>
                          <a:cs typeface="Arial" panose="020B0604020202020204" pitchFamily="34" charset="0"/>
                        </a:rPr>
                        <a:t>C-RTK2 HP</a:t>
                      </a:r>
                    </a:p>
                  </a:txBody>
                  <a:tcPr marL="68580" marR="68580" marT="0" marB="0"/>
                </a:tc>
                <a:tc>
                  <a:txBody>
                    <a:bodyPr/>
                    <a:lstStyle/>
                    <a:p>
                      <a:pPr>
                        <a:lnSpc>
                          <a:spcPct val="107000"/>
                        </a:lnSpc>
                        <a:spcAft>
                          <a:spcPts val="800"/>
                        </a:spcAft>
                        <a:buNone/>
                      </a:pPr>
                      <a:r>
                        <a:rPr lang="en-IN" sz="1800" kern="100" dirty="0">
                          <a:effectLst/>
                          <a:latin typeface="Aptos Display" panose="020B0004020202020204" pitchFamily="34" charset="0"/>
                          <a:ea typeface="Aptos" panose="020B0004020202020204" pitchFamily="34" charset="0"/>
                          <a:cs typeface="Arial" panose="020B0604020202020204" pitchFamily="34" charset="0"/>
                        </a:rPr>
                        <a:t>RTK GPS Module</a:t>
                      </a:r>
                    </a:p>
                    <a:p>
                      <a:pPr>
                        <a:lnSpc>
                          <a:spcPct val="107000"/>
                        </a:lnSpc>
                        <a:spcAft>
                          <a:spcPts val="800"/>
                        </a:spcAft>
                        <a:buNone/>
                      </a:pPr>
                      <a:r>
                        <a:rPr lang="en-IN" sz="1800" kern="100" dirty="0">
                          <a:effectLst/>
                          <a:latin typeface="Aptos Display" panose="020B0004020202020204" pitchFamily="34" charset="0"/>
                          <a:ea typeface="Aptos" panose="020B0004020202020204" pitchFamily="34" charset="0"/>
                          <a:cs typeface="Arial" panose="020B0604020202020204" pitchFamily="34" charset="0"/>
                        </a:rPr>
                        <a:t>Compass RM3100</a:t>
                      </a:r>
                    </a:p>
                  </a:txBody>
                  <a:tcPr marL="68580" marR="68580" marT="0" marB="0"/>
                </a:tc>
                <a:extLst>
                  <a:ext uri="{0D108BD9-81ED-4DB2-BD59-A6C34878D82A}">
                    <a16:rowId xmlns:a16="http://schemas.microsoft.com/office/drawing/2014/main" val="3882179267"/>
                  </a:ext>
                </a:extLst>
              </a:tr>
              <a:tr h="1234618">
                <a:tc>
                  <a:txBody>
                    <a:bodyPr/>
                    <a:lstStyle/>
                    <a:p>
                      <a:pPr algn="ctr">
                        <a:lnSpc>
                          <a:spcPct val="107000"/>
                        </a:lnSpc>
                        <a:spcAft>
                          <a:spcPts val="800"/>
                        </a:spcAft>
                        <a:buNone/>
                      </a:pPr>
                      <a:r>
                        <a:rPr lang="en-US" sz="1800" kern="100" dirty="0">
                          <a:effectLst/>
                          <a:latin typeface="Aptos Display" panose="020B0004020202020204" pitchFamily="34" charset="0"/>
                          <a:ea typeface="Aptos" panose="020B0004020202020204" pitchFamily="34" charset="0"/>
                          <a:cs typeface="Arial" panose="020B0604020202020204" pitchFamily="34" charset="0"/>
                        </a:rPr>
                        <a:t>6</a:t>
                      </a:r>
                      <a:endParaRPr lang="en-IN" sz="1800" kern="100" dirty="0">
                        <a:effectLst/>
                        <a:latin typeface="Aptos Display"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IN" sz="1800" kern="100">
                          <a:effectLst/>
                          <a:latin typeface="Aptos Display" panose="020B0004020202020204" pitchFamily="34" charset="0"/>
                          <a:ea typeface="Aptos" panose="020B0004020202020204" pitchFamily="34" charset="0"/>
                          <a:cs typeface="Arial" panose="020B0604020202020204" pitchFamily="34" charset="0"/>
                        </a:rPr>
                        <a:t>Pixhawk Cube</a:t>
                      </a:r>
                    </a:p>
                  </a:txBody>
                  <a:tcPr marL="68580" marR="68580" marT="0" marB="0"/>
                </a:tc>
                <a:tc>
                  <a:txBody>
                    <a:bodyPr/>
                    <a:lstStyle/>
                    <a:p>
                      <a:pPr>
                        <a:lnSpc>
                          <a:spcPct val="115000"/>
                        </a:lnSpc>
                        <a:spcAft>
                          <a:spcPts val="800"/>
                        </a:spcAft>
                        <a:buNone/>
                      </a:pPr>
                      <a:r>
                        <a:rPr lang="en-IN" sz="1800" kern="100" dirty="0">
                          <a:effectLst/>
                          <a:latin typeface="Aptos Display" panose="020B0004020202020204" pitchFamily="34" charset="0"/>
                          <a:ea typeface="Aptos" panose="020B0004020202020204" pitchFamily="34" charset="0"/>
                          <a:cs typeface="Arial" panose="020B0604020202020204" pitchFamily="34" charset="0"/>
                        </a:rPr>
                        <a:t>3x ICM-45686 Accelerometer/Gyroscope</a:t>
                      </a:r>
                    </a:p>
                    <a:p>
                      <a:pPr>
                        <a:lnSpc>
                          <a:spcPct val="115000"/>
                        </a:lnSpc>
                        <a:spcAft>
                          <a:spcPts val="800"/>
                        </a:spcAft>
                        <a:buNone/>
                      </a:pPr>
                      <a:r>
                        <a:rPr lang="en-IN" sz="1800" kern="100" dirty="0">
                          <a:effectLst/>
                          <a:latin typeface="Aptos Display" panose="020B0004020202020204" pitchFamily="34" charset="0"/>
                          <a:ea typeface="Aptos" panose="020B0004020202020204" pitchFamily="34" charset="0"/>
                          <a:cs typeface="Arial" panose="020B0604020202020204" pitchFamily="34" charset="0"/>
                        </a:rPr>
                        <a:t>Barometers: 2 x MS5611</a:t>
                      </a:r>
                    </a:p>
                    <a:p>
                      <a:pPr>
                        <a:lnSpc>
                          <a:spcPct val="115000"/>
                        </a:lnSpc>
                        <a:spcAft>
                          <a:spcPts val="800"/>
                        </a:spcAft>
                        <a:buNone/>
                      </a:pPr>
                      <a:r>
                        <a:rPr lang="en-IN" sz="1800" kern="100" dirty="0">
                          <a:effectLst/>
                          <a:latin typeface="Aptos Display" panose="020B0004020202020204" pitchFamily="34" charset="0"/>
                          <a:ea typeface="Aptos" panose="020B0004020202020204" pitchFamily="34" charset="0"/>
                          <a:cs typeface="Arial" panose="020B0604020202020204" pitchFamily="34" charset="0"/>
                        </a:rPr>
                        <a:t>Magnetometer: BMM150</a:t>
                      </a:r>
                    </a:p>
                  </a:txBody>
                  <a:tcPr marL="68580" marR="68580" marT="0" marB="0"/>
                </a:tc>
                <a:extLst>
                  <a:ext uri="{0D108BD9-81ED-4DB2-BD59-A6C34878D82A}">
                    <a16:rowId xmlns:a16="http://schemas.microsoft.com/office/drawing/2014/main" val="3045637267"/>
                  </a:ext>
                </a:extLst>
              </a:tr>
            </a:tbl>
          </a:graphicData>
        </a:graphic>
      </p:graphicFrame>
    </p:spTree>
    <p:custDataLst>
      <p:tags r:id="rId1"/>
    </p:custDataLst>
    <p:extLst>
      <p:ext uri="{BB962C8B-B14F-4D97-AF65-F5344CB8AC3E}">
        <p14:creationId xmlns:p14="http://schemas.microsoft.com/office/powerpoint/2010/main" val="717018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BBD92-BC68-082F-1CFD-5EF31BA1D2F8}"/>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AA6C359-C17A-AA8D-2B81-9C5E7717AE3B}"/>
              </a:ext>
            </a:extLst>
          </p:cNvPr>
          <p:cNvPicPr>
            <a:picLocks noChangeAspect="1"/>
          </p:cNvPicPr>
          <p:nvPr/>
        </p:nvPicPr>
        <p:blipFill>
          <a:blip r:embed="rId2">
            <a:clrChange>
              <a:clrFrom>
                <a:srgbClr val="071002"/>
              </a:clrFrom>
              <a:clrTo>
                <a:srgbClr val="071002">
                  <a:alpha val="0"/>
                </a:srgbClr>
              </a:clrTo>
            </a:clrChange>
            <a:extLst>
              <a:ext uri="{BEBA8EAE-BF5A-486C-A8C5-ECC9F3942E4B}">
                <a14:imgProps xmlns:a14="http://schemas.microsoft.com/office/drawing/2010/main">
                  <a14:imgLayer r:embed="rId3">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pic>
        <p:nvPicPr>
          <p:cNvPr id="10" name="Picture Placeholder 6">
            <a:extLst>
              <a:ext uri="{FF2B5EF4-FFF2-40B4-BE49-F238E27FC236}">
                <a16:creationId xmlns:a16="http://schemas.microsoft.com/office/drawing/2014/main" id="{3AD81110-1F96-06FF-DD6D-C4C147C84625}"/>
              </a:ext>
            </a:extLst>
          </p:cNvPr>
          <p:cNvPicPr>
            <a:picLocks noChangeAspect="1"/>
          </p:cNvPicPr>
          <p:nvPr/>
        </p:nvPicPr>
        <p:blipFill>
          <a:blip r:embed="rId4">
            <a:extLst>
              <a:ext uri="{28A0092B-C50C-407E-A947-70E740481C1C}">
                <a14:useLocalDpi xmlns:a14="http://schemas.microsoft.com/office/drawing/2010/main" val="0"/>
              </a:ext>
            </a:extLst>
          </a:blip>
          <a:srcRect l="5683" r="5683"/>
          <a:stretch/>
        </p:blipFill>
        <p:spPr>
          <a:xfrm>
            <a:off x="7277011" y="7884006"/>
            <a:ext cx="3220879" cy="2085022"/>
          </a:xfrm>
          <a:prstGeom prst="roundRect">
            <a:avLst/>
          </a:prstGeom>
          <a:ln w="15875">
            <a:solidFill>
              <a:schemeClr val="tx1">
                <a:alpha val="40000"/>
              </a:schemeClr>
            </a:solidFill>
          </a:ln>
          <a:effectLst>
            <a:innerShdw blurRad="57150" dist="38100" dir="14460000">
              <a:srgbClr val="000000">
                <a:alpha val="70000"/>
              </a:srgbClr>
            </a:innerShdw>
          </a:effectLst>
        </p:spPr>
      </p:pic>
      <p:pic>
        <p:nvPicPr>
          <p:cNvPr id="11" name="Picture Placeholder 6">
            <a:extLst>
              <a:ext uri="{FF2B5EF4-FFF2-40B4-BE49-F238E27FC236}">
                <a16:creationId xmlns:a16="http://schemas.microsoft.com/office/drawing/2014/main" id="{4290D1E8-73D0-8728-27F0-DE9E699BA722}"/>
              </a:ext>
            </a:extLst>
          </p:cNvPr>
          <p:cNvPicPr>
            <a:picLocks noChangeAspect="1"/>
          </p:cNvPicPr>
          <p:nvPr/>
        </p:nvPicPr>
        <p:blipFill>
          <a:blip r:embed="rId5">
            <a:extLst>
              <a:ext uri="{28A0092B-C50C-407E-A947-70E740481C1C}">
                <a14:useLocalDpi xmlns:a14="http://schemas.microsoft.com/office/drawing/2010/main" val="0"/>
              </a:ext>
            </a:extLst>
          </a:blip>
          <a:srcRect l="6953" r="6953"/>
          <a:stretch/>
        </p:blipFill>
        <p:spPr>
          <a:xfrm>
            <a:off x="7277011" y="10207945"/>
            <a:ext cx="3220879" cy="2085022"/>
          </a:xfrm>
          <a:prstGeom prst="roundRect">
            <a:avLst/>
          </a:prstGeom>
          <a:ln w="15875">
            <a:solidFill>
              <a:schemeClr val="tx1">
                <a:alpha val="40000"/>
              </a:schemeClr>
            </a:solidFill>
          </a:ln>
          <a:effectLst>
            <a:innerShdw blurRad="57150" dist="38100" dir="14460000">
              <a:srgbClr val="000000">
                <a:alpha val="70000"/>
              </a:srgbClr>
            </a:innerShdw>
          </a:effectLst>
        </p:spPr>
      </p:pic>
      <p:sp>
        <p:nvSpPr>
          <p:cNvPr id="4" name="TextBox 3">
            <a:extLst>
              <a:ext uri="{FF2B5EF4-FFF2-40B4-BE49-F238E27FC236}">
                <a16:creationId xmlns:a16="http://schemas.microsoft.com/office/drawing/2014/main" id="{3F39BD84-01BE-526A-9C31-75970974D85D}"/>
              </a:ext>
            </a:extLst>
          </p:cNvPr>
          <p:cNvSpPr txBox="1"/>
          <p:nvPr/>
        </p:nvSpPr>
        <p:spPr>
          <a:xfrm>
            <a:off x="613200" y="1061832"/>
            <a:ext cx="5979124" cy="4370427"/>
          </a:xfrm>
          <a:prstGeom prst="rect">
            <a:avLst/>
          </a:prstGeom>
          <a:noFill/>
        </p:spPr>
        <p:txBody>
          <a:bodyPr wrap="square" rtlCol="0">
            <a:spAutoFit/>
          </a:bodyPr>
          <a:lstStyle/>
          <a:p>
            <a:pPr>
              <a:buNone/>
            </a:pPr>
            <a:r>
              <a:rPr lang="en-US" sz="4000" b="1" kern="100" dirty="0">
                <a:effectLst/>
                <a:latin typeface="Liberation Serif"/>
                <a:ea typeface="Noto Serif CJK SC"/>
                <a:cs typeface="Noto Sans Devanagari" panose="020B0502040504020204" pitchFamily="34" charset="0"/>
              </a:rPr>
              <a:t>MOTOR</a:t>
            </a:r>
            <a:r>
              <a:rPr lang="en-US" sz="4000" kern="100" dirty="0">
                <a:effectLst/>
                <a:latin typeface="Liberation Serif"/>
                <a:ea typeface="Noto Serif CJK SC"/>
                <a:cs typeface="Noto Sans Devanagari" panose="020B0502040504020204" pitchFamily="34" charset="0"/>
              </a:rPr>
              <a:t>:</a:t>
            </a:r>
            <a:endParaRPr lang="en-IN" sz="4000" kern="100" dirty="0">
              <a:effectLst/>
              <a:latin typeface="Liberation Serif"/>
              <a:ea typeface="Noto Serif CJK SC"/>
              <a:cs typeface="Noto Sans Devanagari" panose="020B0502040504020204" pitchFamily="34" charset="0"/>
            </a:endParaRPr>
          </a:p>
          <a:p>
            <a:r>
              <a:rPr lang="en-IN" dirty="0">
                <a:latin typeface="Liberation Serif"/>
              </a:rPr>
              <a:t>The propulsion system design began with the selection of a motor suitable for a multi-rotor UAV intended for disaster management operations. After evaluating various high-power propulsion options, the </a:t>
            </a:r>
            <a:r>
              <a:rPr lang="en-IN" b="1" dirty="0" err="1">
                <a:latin typeface="Liberation Serif"/>
              </a:rPr>
              <a:t>Hobbywing</a:t>
            </a:r>
            <a:r>
              <a:rPr lang="en-IN" b="1" dirty="0">
                <a:latin typeface="Liberation Serif"/>
              </a:rPr>
              <a:t> X6 Plus 150KV brushless motor</a:t>
            </a:r>
            <a:r>
              <a:rPr lang="en-IN" dirty="0">
                <a:latin typeface="Liberation Serif"/>
              </a:rPr>
              <a:t> was selected for its high torque output, reliability, and efficient performance with large-diameter propellers. The low-KV configuration enables stable lift at lower rotational speeds, improving flight efficiency, endurance, and control, which are essential for precise </a:t>
            </a:r>
            <a:r>
              <a:rPr lang="en-IN" dirty="0" err="1">
                <a:latin typeface="Liberation Serif"/>
              </a:rPr>
              <a:t>maneuvering</a:t>
            </a:r>
            <a:r>
              <a:rPr lang="en-IN" dirty="0">
                <a:latin typeface="Liberation Serif"/>
              </a:rPr>
              <a:t> and payload delivery in emergency response missions</a:t>
            </a:r>
          </a:p>
          <a:p>
            <a:pPr>
              <a:buNone/>
            </a:pPr>
            <a:endParaRPr lang="en-IN" dirty="0">
              <a:latin typeface="Liberation Serif"/>
            </a:endParaRPr>
          </a:p>
          <a:p>
            <a:endParaRPr lang="en-IN" dirty="0"/>
          </a:p>
        </p:txBody>
      </p:sp>
      <p:sp>
        <p:nvSpPr>
          <p:cNvPr id="12" name="TextBox 11">
            <a:extLst>
              <a:ext uri="{FF2B5EF4-FFF2-40B4-BE49-F238E27FC236}">
                <a16:creationId xmlns:a16="http://schemas.microsoft.com/office/drawing/2014/main" id="{896DD3C4-70D8-EC1E-ABE4-50ED00210544}"/>
              </a:ext>
            </a:extLst>
          </p:cNvPr>
          <p:cNvSpPr txBox="1"/>
          <p:nvPr/>
        </p:nvSpPr>
        <p:spPr>
          <a:xfrm>
            <a:off x="613200" y="7690331"/>
            <a:ext cx="5482800" cy="4397101"/>
          </a:xfrm>
          <a:prstGeom prst="rect">
            <a:avLst/>
          </a:prstGeom>
          <a:noFill/>
        </p:spPr>
        <p:txBody>
          <a:bodyPr wrap="square" rtlCol="0">
            <a:spAutoFit/>
          </a:bodyPr>
          <a:lstStyle/>
          <a:p>
            <a:pPr>
              <a:lnSpc>
                <a:spcPct val="115000"/>
              </a:lnSpc>
              <a:spcAft>
                <a:spcPts val="700"/>
              </a:spcAft>
              <a:buNone/>
            </a:pPr>
            <a:r>
              <a:rPr lang="en-US" sz="6600" b="1" kern="100" dirty="0">
                <a:effectLst/>
                <a:latin typeface="Liberation Serif"/>
                <a:ea typeface="Noto Serif CJK SC"/>
                <a:cs typeface="Noto Sans Devanagari" panose="020B0502040504020204" pitchFamily="34" charset="0"/>
              </a:rPr>
              <a:t>ESC</a:t>
            </a:r>
            <a:endParaRPr lang="en-IN" sz="6600" kern="100" dirty="0">
              <a:effectLst/>
              <a:latin typeface="Liberation Serif"/>
              <a:ea typeface="Noto Serif CJK SC"/>
              <a:cs typeface="Noto Sans Devanagari" panose="020B0502040504020204" pitchFamily="34" charset="0"/>
            </a:endParaRPr>
          </a:p>
          <a:p>
            <a:r>
              <a:rPr lang="en-IN" dirty="0">
                <a:latin typeface="Liberation Serif"/>
              </a:rPr>
              <a:t>An Electronic Speed Controller (ESC) is a crucial component in our UAV, acting as the link between the flight controller and motors by regulating power delivery to control motor speed, torque, and thrust precisely.</a:t>
            </a:r>
          </a:p>
          <a:p>
            <a:r>
              <a:rPr lang="en-IN" dirty="0">
                <a:latin typeface="Liberation Serif"/>
              </a:rPr>
              <a:t>Each motor is paired with a </a:t>
            </a:r>
            <a:r>
              <a:rPr lang="en-IN" b="1" dirty="0" err="1">
                <a:latin typeface="Liberation Serif"/>
              </a:rPr>
              <a:t>ReadytoSky</a:t>
            </a:r>
            <a:r>
              <a:rPr lang="en-IN" b="1" dirty="0">
                <a:latin typeface="Liberation Serif"/>
              </a:rPr>
              <a:t> OPTO 40A ESC</a:t>
            </a:r>
            <a:r>
              <a:rPr lang="en-IN" dirty="0">
                <a:latin typeface="Liberation Serif"/>
              </a:rPr>
              <a:t>, selected for its 40A continuous current rating, optical isolation, and compatibility with our motor-propeller configuration. The ESC ensures smooth throttle response, reduced electrical noise, and reliable performance under high load conditions.</a:t>
            </a:r>
          </a:p>
          <a:p>
            <a:endParaRPr lang="en-IN" dirty="0"/>
          </a:p>
        </p:txBody>
      </p:sp>
      <p:graphicFrame>
        <p:nvGraphicFramePr>
          <p:cNvPr id="13" name="Table 12">
            <a:extLst>
              <a:ext uri="{FF2B5EF4-FFF2-40B4-BE49-F238E27FC236}">
                <a16:creationId xmlns:a16="http://schemas.microsoft.com/office/drawing/2014/main" id="{32CA047F-DDE3-DA90-A4A5-66AF6C8F7410}"/>
              </a:ext>
            </a:extLst>
          </p:cNvPr>
          <p:cNvGraphicFramePr>
            <a:graphicFrameLocks noGrp="1"/>
          </p:cNvGraphicFramePr>
          <p:nvPr>
            <p:extLst>
              <p:ext uri="{D42A27DB-BD31-4B8C-83A1-F6EECF244321}">
                <p14:modId xmlns:p14="http://schemas.microsoft.com/office/powerpoint/2010/main" val="1226337811"/>
              </p:ext>
            </p:extLst>
          </p:nvPr>
        </p:nvGraphicFramePr>
        <p:xfrm>
          <a:off x="613200" y="11982498"/>
          <a:ext cx="3472501" cy="2085022"/>
        </p:xfrm>
        <a:graphic>
          <a:graphicData uri="http://schemas.openxmlformats.org/drawingml/2006/table">
            <a:tbl>
              <a:tblPr firstRow="1" firstCol="1" bandRow="1">
                <a:tableStyleId>{2D5ABB26-0587-4C30-8999-92F81FD0307C}</a:tableStyleId>
              </a:tblPr>
              <a:tblGrid>
                <a:gridCol w="1441020">
                  <a:extLst>
                    <a:ext uri="{9D8B030D-6E8A-4147-A177-3AD203B41FA5}">
                      <a16:colId xmlns:a16="http://schemas.microsoft.com/office/drawing/2014/main" val="2502392011"/>
                    </a:ext>
                  </a:extLst>
                </a:gridCol>
                <a:gridCol w="2031481">
                  <a:extLst>
                    <a:ext uri="{9D8B030D-6E8A-4147-A177-3AD203B41FA5}">
                      <a16:colId xmlns:a16="http://schemas.microsoft.com/office/drawing/2014/main" val="639308829"/>
                    </a:ext>
                  </a:extLst>
                </a:gridCol>
              </a:tblGrid>
              <a:tr h="271801">
                <a:tc gridSpan="2">
                  <a:txBody>
                    <a:bodyPr/>
                    <a:lstStyle/>
                    <a:p>
                      <a:pPr marL="67945">
                        <a:buNone/>
                      </a:pPr>
                      <a:r>
                        <a:rPr lang="en-IN" sz="1200" b="1" dirty="0">
                          <a:solidFill>
                            <a:schemeClr val="tx1"/>
                          </a:solidFill>
                          <a:effectLst/>
                          <a:latin typeface="Arial" panose="020B0604020202020204" pitchFamily="34" charset="0"/>
                          <a:ea typeface="Arial" panose="020B0604020202020204" pitchFamily="34" charset="0"/>
                        </a:rPr>
                        <a:t>Specification</a:t>
                      </a:r>
                      <a:endParaRPr lang="en-IN" sz="1100" dirty="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847511"/>
                  </a:ext>
                </a:extLst>
              </a:tr>
              <a:tr h="454216">
                <a:tc>
                  <a:txBody>
                    <a:bodyPr/>
                    <a:lstStyle/>
                    <a:p>
                      <a:pPr marL="67945">
                        <a:buNone/>
                      </a:pPr>
                      <a:r>
                        <a:rPr lang="en-IN" sz="1200">
                          <a:solidFill>
                            <a:schemeClr val="tx1"/>
                          </a:solidFill>
                          <a:effectLst/>
                          <a:latin typeface="Arial" panose="020B0604020202020204" pitchFamily="34" charset="0"/>
                          <a:ea typeface="Arial" panose="020B0604020202020204" pitchFamily="34" charset="0"/>
                        </a:rPr>
                        <a:t>Continuous Current</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buNone/>
                      </a:pPr>
                      <a:r>
                        <a:rPr lang="en-IN" sz="1200" dirty="0">
                          <a:solidFill>
                            <a:schemeClr val="tx1"/>
                          </a:solidFill>
                          <a:effectLst/>
                          <a:latin typeface="Arial" panose="020B0604020202020204" pitchFamily="34" charset="0"/>
                          <a:ea typeface="Arial" panose="020B0604020202020204" pitchFamily="34" charset="0"/>
                        </a:rPr>
                        <a:t>40 A</a:t>
                      </a:r>
                      <a:endParaRPr lang="en-IN" sz="1100" dirty="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6075293"/>
                  </a:ext>
                </a:extLst>
              </a:tr>
              <a:tr h="271801">
                <a:tc>
                  <a:txBody>
                    <a:bodyPr/>
                    <a:lstStyle/>
                    <a:p>
                      <a:pPr marL="67945">
                        <a:spcBef>
                          <a:spcPts val="10"/>
                        </a:spcBef>
                        <a:buNone/>
                      </a:pPr>
                      <a:r>
                        <a:rPr lang="en-IN" sz="1200">
                          <a:solidFill>
                            <a:schemeClr val="tx1"/>
                          </a:solidFill>
                          <a:effectLst/>
                          <a:latin typeface="Arial" panose="020B0604020202020204" pitchFamily="34" charset="0"/>
                          <a:ea typeface="Arial" panose="020B0604020202020204" pitchFamily="34" charset="0"/>
                        </a:rPr>
                        <a:t>Burst Current</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spcBef>
                          <a:spcPts val="10"/>
                        </a:spcBef>
                        <a:buNone/>
                      </a:pPr>
                      <a:r>
                        <a:rPr lang="en-IN" sz="1200">
                          <a:solidFill>
                            <a:schemeClr val="tx1"/>
                          </a:solidFill>
                          <a:effectLst/>
                          <a:latin typeface="Arial" panose="020B0604020202020204" pitchFamily="34" charset="0"/>
                          <a:ea typeface="Arial" panose="020B0604020202020204" pitchFamily="34" charset="0"/>
                        </a:rPr>
                        <a:t>60A</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4861176"/>
                  </a:ext>
                </a:extLst>
              </a:tr>
              <a:tr h="271801">
                <a:tc>
                  <a:txBody>
                    <a:bodyPr/>
                    <a:lstStyle/>
                    <a:p>
                      <a:pPr marL="67945">
                        <a:spcBef>
                          <a:spcPts val="5"/>
                        </a:spcBef>
                        <a:buNone/>
                      </a:pPr>
                      <a:r>
                        <a:rPr lang="en-IN" sz="1200">
                          <a:solidFill>
                            <a:schemeClr val="tx1"/>
                          </a:solidFill>
                          <a:effectLst/>
                          <a:latin typeface="Arial" panose="020B0604020202020204" pitchFamily="34" charset="0"/>
                          <a:ea typeface="Arial" panose="020B0604020202020204" pitchFamily="34" charset="0"/>
                        </a:rPr>
                        <a:t>Weight(g)</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spcBef>
                          <a:spcPts val="5"/>
                        </a:spcBef>
                        <a:buNone/>
                      </a:pPr>
                      <a:r>
                        <a:rPr lang="en-IN" sz="1200" dirty="0">
                          <a:solidFill>
                            <a:schemeClr val="tx1"/>
                          </a:solidFill>
                          <a:effectLst/>
                          <a:latin typeface="Arial" panose="020B0604020202020204" pitchFamily="34" charset="0"/>
                          <a:ea typeface="Arial" panose="020B0604020202020204" pitchFamily="34" charset="0"/>
                        </a:rPr>
                        <a:t>26g</a:t>
                      </a:r>
                      <a:endParaRPr lang="en-IN" sz="1100" dirty="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8678909"/>
                  </a:ext>
                </a:extLst>
              </a:tr>
              <a:tr h="271801">
                <a:tc>
                  <a:txBody>
                    <a:bodyPr/>
                    <a:lstStyle/>
                    <a:p>
                      <a:pPr marL="67945">
                        <a:buNone/>
                      </a:pPr>
                      <a:r>
                        <a:rPr lang="en-IN" sz="1200">
                          <a:solidFill>
                            <a:schemeClr val="tx1"/>
                          </a:solidFill>
                          <a:effectLst/>
                          <a:latin typeface="Arial" panose="020B0604020202020204" pitchFamily="34" charset="0"/>
                          <a:ea typeface="Arial" panose="020B0604020202020204" pitchFamily="34" charset="0"/>
                        </a:rPr>
                        <a:t>Length (mm)</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buNone/>
                      </a:pPr>
                      <a:r>
                        <a:rPr lang="en-IN" sz="1200">
                          <a:solidFill>
                            <a:schemeClr val="tx1"/>
                          </a:solidFill>
                          <a:effectLst/>
                          <a:latin typeface="Arial" panose="020B0604020202020204" pitchFamily="34" charset="0"/>
                          <a:ea typeface="Arial" panose="020B0604020202020204" pitchFamily="34" charset="0"/>
                        </a:rPr>
                        <a:t>68 mm</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3620231"/>
                  </a:ext>
                </a:extLst>
              </a:tr>
              <a:tr h="271801">
                <a:tc>
                  <a:txBody>
                    <a:bodyPr/>
                    <a:lstStyle/>
                    <a:p>
                      <a:pPr marL="67945">
                        <a:buNone/>
                      </a:pPr>
                      <a:r>
                        <a:rPr lang="en-IN" sz="1200">
                          <a:solidFill>
                            <a:schemeClr val="tx1"/>
                          </a:solidFill>
                          <a:effectLst/>
                          <a:latin typeface="Arial" panose="020B0604020202020204" pitchFamily="34" charset="0"/>
                          <a:ea typeface="Arial" panose="020B0604020202020204" pitchFamily="34" charset="0"/>
                        </a:rPr>
                        <a:t>Width (mm)</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buNone/>
                      </a:pPr>
                      <a:r>
                        <a:rPr lang="en-IN" sz="1200">
                          <a:solidFill>
                            <a:schemeClr val="tx1"/>
                          </a:solidFill>
                          <a:effectLst/>
                          <a:latin typeface="Arial" panose="020B0604020202020204" pitchFamily="34" charset="0"/>
                          <a:ea typeface="Arial" panose="020B0604020202020204" pitchFamily="34" charset="0"/>
                        </a:rPr>
                        <a:t>25 mm</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7857746"/>
                  </a:ext>
                </a:extLst>
              </a:tr>
              <a:tr h="271801">
                <a:tc>
                  <a:txBody>
                    <a:bodyPr/>
                    <a:lstStyle/>
                    <a:p>
                      <a:pPr marL="67945">
                        <a:buNone/>
                      </a:pPr>
                      <a:r>
                        <a:rPr lang="en-IN" sz="1200">
                          <a:solidFill>
                            <a:schemeClr val="tx1"/>
                          </a:solidFill>
                          <a:effectLst/>
                          <a:latin typeface="Arial" panose="020B0604020202020204" pitchFamily="34" charset="0"/>
                          <a:ea typeface="Arial" panose="020B0604020202020204" pitchFamily="34" charset="0"/>
                        </a:rPr>
                        <a:t>Height (mm)</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buNone/>
                      </a:pPr>
                      <a:r>
                        <a:rPr lang="en-IN" sz="1200" dirty="0">
                          <a:solidFill>
                            <a:schemeClr val="tx1"/>
                          </a:solidFill>
                          <a:effectLst/>
                          <a:latin typeface="Arial" panose="020B0604020202020204" pitchFamily="34" charset="0"/>
                          <a:ea typeface="Arial" panose="020B0604020202020204" pitchFamily="34" charset="0"/>
                        </a:rPr>
                        <a:t>8.7 mm</a:t>
                      </a:r>
                      <a:endParaRPr lang="en-IN" sz="1100" dirty="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7793637"/>
                  </a:ext>
                </a:extLst>
              </a:tr>
            </a:tbl>
          </a:graphicData>
        </a:graphic>
      </p:graphicFrame>
      <p:graphicFrame>
        <p:nvGraphicFramePr>
          <p:cNvPr id="3" name="Table 2">
            <a:extLst>
              <a:ext uri="{FF2B5EF4-FFF2-40B4-BE49-F238E27FC236}">
                <a16:creationId xmlns:a16="http://schemas.microsoft.com/office/drawing/2014/main" id="{D1A573BE-E091-7DC7-3563-5AA618D6056C}"/>
              </a:ext>
            </a:extLst>
          </p:cNvPr>
          <p:cNvGraphicFramePr>
            <a:graphicFrameLocks noGrp="1"/>
          </p:cNvGraphicFramePr>
          <p:nvPr>
            <p:extLst>
              <p:ext uri="{D42A27DB-BD31-4B8C-83A1-F6EECF244321}">
                <p14:modId xmlns:p14="http://schemas.microsoft.com/office/powerpoint/2010/main" val="150642597"/>
              </p:ext>
            </p:extLst>
          </p:nvPr>
        </p:nvGraphicFramePr>
        <p:xfrm>
          <a:off x="2185486" y="4918119"/>
          <a:ext cx="3800430" cy="1971251"/>
        </p:xfrm>
        <a:graphic>
          <a:graphicData uri="http://schemas.openxmlformats.org/drawingml/2006/table">
            <a:tbl>
              <a:tblPr firstRow="1" firstCol="1" bandRow="1">
                <a:tableStyleId>{5940675A-B579-460E-94D1-54222C63F5DA}</a:tableStyleId>
              </a:tblPr>
              <a:tblGrid>
                <a:gridCol w="1262777">
                  <a:extLst>
                    <a:ext uri="{9D8B030D-6E8A-4147-A177-3AD203B41FA5}">
                      <a16:colId xmlns:a16="http://schemas.microsoft.com/office/drawing/2014/main" val="3862854992"/>
                    </a:ext>
                  </a:extLst>
                </a:gridCol>
                <a:gridCol w="2537653">
                  <a:extLst>
                    <a:ext uri="{9D8B030D-6E8A-4147-A177-3AD203B41FA5}">
                      <a16:colId xmlns:a16="http://schemas.microsoft.com/office/drawing/2014/main" val="1722195128"/>
                    </a:ext>
                  </a:extLst>
                </a:gridCol>
              </a:tblGrid>
              <a:tr h="248608">
                <a:tc>
                  <a:txBody>
                    <a:bodyPr/>
                    <a:lstStyle/>
                    <a:p>
                      <a:pPr>
                        <a:lnSpc>
                          <a:spcPct val="115000"/>
                        </a:lnSpc>
                        <a:spcAft>
                          <a:spcPts val="800"/>
                        </a:spcAft>
                        <a:buNone/>
                      </a:pPr>
                      <a:r>
                        <a:rPr lang="en-IN" sz="1200" kern="100">
                          <a:effectLst/>
                        </a:rPr>
                        <a:t>Specification</a:t>
                      </a:r>
                      <a:endParaRPr lang="en-IN"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15000"/>
                        </a:lnSpc>
                        <a:spcAft>
                          <a:spcPts val="800"/>
                        </a:spcAft>
                        <a:buNone/>
                      </a:pPr>
                      <a:r>
                        <a:rPr lang="en-IN" sz="1200" kern="100" dirty="0">
                          <a:effectLst/>
                        </a:rPr>
                        <a:t> </a:t>
                      </a:r>
                      <a:endParaRPr lang="en-IN"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979331371"/>
                  </a:ext>
                </a:extLst>
              </a:tr>
              <a:tr h="248768">
                <a:tc>
                  <a:txBody>
                    <a:bodyPr/>
                    <a:lstStyle/>
                    <a:p>
                      <a:pPr>
                        <a:lnSpc>
                          <a:spcPct val="115000"/>
                        </a:lnSpc>
                        <a:spcAft>
                          <a:spcPts val="800"/>
                        </a:spcAft>
                        <a:buNone/>
                      </a:pPr>
                      <a:r>
                        <a:rPr lang="en-IN" sz="1200" kern="100">
                          <a:effectLst/>
                        </a:rPr>
                        <a:t>Max Thrust</a:t>
                      </a:r>
                      <a:endParaRPr lang="en-IN"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15000"/>
                        </a:lnSpc>
                        <a:spcAft>
                          <a:spcPts val="800"/>
                        </a:spcAft>
                        <a:buNone/>
                      </a:pPr>
                      <a:r>
                        <a:rPr lang="en-IN" sz="1200" kern="100">
                          <a:effectLst/>
                        </a:rPr>
                        <a:t>11.8kg/Axis (46V, Sea Level)</a:t>
                      </a:r>
                      <a:endParaRPr lang="en-IN"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524788657"/>
                  </a:ext>
                </a:extLst>
              </a:tr>
              <a:tr h="248768">
                <a:tc>
                  <a:txBody>
                    <a:bodyPr/>
                    <a:lstStyle/>
                    <a:p>
                      <a:pPr>
                        <a:lnSpc>
                          <a:spcPct val="115000"/>
                        </a:lnSpc>
                        <a:spcAft>
                          <a:spcPts val="800"/>
                        </a:spcAft>
                        <a:buNone/>
                      </a:pPr>
                      <a:r>
                        <a:rPr lang="en-IN" sz="1200" kern="100">
                          <a:effectLst/>
                        </a:rPr>
                        <a:t>Weight</a:t>
                      </a:r>
                      <a:endParaRPr lang="en-IN"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15000"/>
                        </a:lnSpc>
                        <a:spcAft>
                          <a:spcPts val="800"/>
                        </a:spcAft>
                        <a:buNone/>
                      </a:pPr>
                      <a:r>
                        <a:rPr lang="en-IN" sz="1200" kern="100">
                          <a:effectLst/>
                        </a:rPr>
                        <a:t>790g</a:t>
                      </a:r>
                      <a:endParaRPr lang="en-IN"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49728637"/>
                  </a:ext>
                </a:extLst>
              </a:tr>
              <a:tr h="248768">
                <a:tc>
                  <a:txBody>
                    <a:bodyPr/>
                    <a:lstStyle/>
                    <a:p>
                      <a:pPr>
                        <a:lnSpc>
                          <a:spcPct val="115000"/>
                        </a:lnSpc>
                        <a:spcAft>
                          <a:spcPts val="800"/>
                        </a:spcAft>
                        <a:buNone/>
                      </a:pPr>
                      <a:r>
                        <a:rPr lang="en-IN" sz="1200" kern="100">
                          <a:effectLst/>
                        </a:rPr>
                        <a:t>Rated Power Input</a:t>
                      </a:r>
                      <a:endParaRPr lang="en-IN"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15000"/>
                        </a:lnSpc>
                        <a:spcAft>
                          <a:spcPts val="800"/>
                        </a:spcAft>
                        <a:buNone/>
                      </a:pPr>
                      <a:r>
                        <a:rPr lang="en-IN" sz="1200" kern="100">
                          <a:effectLst/>
                        </a:rPr>
                        <a:t>700W</a:t>
                      </a:r>
                      <a:endParaRPr lang="en-IN"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219002640"/>
                  </a:ext>
                </a:extLst>
              </a:tr>
              <a:tr h="321666">
                <a:tc>
                  <a:txBody>
                    <a:bodyPr/>
                    <a:lstStyle/>
                    <a:p>
                      <a:pPr>
                        <a:lnSpc>
                          <a:spcPct val="115000"/>
                        </a:lnSpc>
                        <a:spcAft>
                          <a:spcPts val="800"/>
                        </a:spcAft>
                        <a:buNone/>
                      </a:pPr>
                      <a:r>
                        <a:rPr lang="en-IN" sz="1200" kern="100">
                          <a:effectLst/>
                        </a:rPr>
                        <a:t>Rated Power Output</a:t>
                      </a:r>
                      <a:endParaRPr lang="en-IN"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15000"/>
                        </a:lnSpc>
                        <a:spcAft>
                          <a:spcPts val="800"/>
                        </a:spcAft>
                        <a:buNone/>
                      </a:pPr>
                      <a:r>
                        <a:rPr lang="en-IN" sz="1200" kern="100">
                          <a:effectLst/>
                        </a:rPr>
                        <a:t>580W</a:t>
                      </a:r>
                      <a:endParaRPr lang="en-IN"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322910594"/>
                  </a:ext>
                </a:extLst>
              </a:tr>
              <a:tr h="321666">
                <a:tc>
                  <a:txBody>
                    <a:bodyPr/>
                    <a:lstStyle/>
                    <a:p>
                      <a:pPr>
                        <a:lnSpc>
                          <a:spcPct val="115000"/>
                        </a:lnSpc>
                        <a:spcAft>
                          <a:spcPts val="800"/>
                        </a:spcAft>
                        <a:buNone/>
                      </a:pPr>
                      <a:r>
                        <a:rPr lang="en-IN" sz="1200" kern="100" dirty="0">
                          <a:effectLst/>
                        </a:rPr>
                        <a:t>Recommended Battery</a:t>
                      </a:r>
                      <a:endParaRPr lang="en-IN"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15000"/>
                        </a:lnSpc>
                        <a:spcAft>
                          <a:spcPts val="800"/>
                        </a:spcAft>
                        <a:buNone/>
                      </a:pPr>
                      <a:r>
                        <a:rPr lang="en-IN" sz="1200" kern="100" dirty="0">
                          <a:effectLst/>
                        </a:rPr>
                        <a:t>12-14S(LiPo)</a:t>
                      </a:r>
                      <a:endParaRPr lang="en-IN"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46139443"/>
                  </a:ext>
                </a:extLst>
              </a:tr>
            </a:tbl>
          </a:graphicData>
        </a:graphic>
      </p:graphicFrame>
      <p:sp>
        <p:nvSpPr>
          <p:cNvPr id="14" name="Rectangle 13">
            <a:extLst>
              <a:ext uri="{FF2B5EF4-FFF2-40B4-BE49-F238E27FC236}">
                <a16:creationId xmlns:a16="http://schemas.microsoft.com/office/drawing/2014/main" id="{7EC3C7A0-3E48-2496-9FDF-B20FE24F208F}"/>
              </a:ext>
            </a:extLst>
          </p:cNvPr>
          <p:cNvSpPr/>
          <p:nvPr/>
        </p:nvSpPr>
        <p:spPr>
          <a:xfrm>
            <a:off x="0" y="212655"/>
            <a:ext cx="9611833" cy="741600"/>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700"/>
              </a:spcAft>
            </a:pPr>
            <a:r>
              <a:rPr lang="en-US" sz="4400" b="1" dirty="0">
                <a:latin typeface="Times New Roman" panose="02020603050405020304" pitchFamily="18" charset="0"/>
                <a:cs typeface="Times New Roman" panose="02020603050405020304" pitchFamily="18" charset="0"/>
              </a:rPr>
              <a:t>   PROPULSION SYSTEM:</a:t>
            </a:r>
          </a:p>
        </p:txBody>
      </p:sp>
    </p:spTree>
    <p:extLst>
      <p:ext uri="{BB962C8B-B14F-4D97-AF65-F5344CB8AC3E}">
        <p14:creationId xmlns:p14="http://schemas.microsoft.com/office/powerpoint/2010/main" val="35378193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879F1-C599-2FDA-CBF1-32F32DD7FDA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70A5D1C-73D4-78AB-B713-216E75ACE399}"/>
              </a:ext>
            </a:extLst>
          </p:cNvPr>
          <p:cNvPicPr>
            <a:picLocks noChangeAspect="1"/>
          </p:cNvPicPr>
          <p:nvPr/>
        </p:nvPicPr>
        <p:blipFill>
          <a:blip r:embed="rId2">
            <a:clrChange>
              <a:clrFrom>
                <a:srgbClr val="071002"/>
              </a:clrFrom>
              <a:clrTo>
                <a:srgbClr val="071002">
                  <a:alpha val="0"/>
                </a:srgbClr>
              </a:clrTo>
            </a:clrChange>
            <a:extLst>
              <a:ext uri="{BEBA8EAE-BF5A-486C-A8C5-ECC9F3942E4B}">
                <a14:imgProps xmlns:a14="http://schemas.microsoft.com/office/drawing/2010/main">
                  <a14:imgLayer r:embed="rId3">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pic>
        <p:nvPicPr>
          <p:cNvPr id="7" name="Picture Placeholder 6">
            <a:extLst>
              <a:ext uri="{FF2B5EF4-FFF2-40B4-BE49-F238E27FC236}">
                <a16:creationId xmlns:a16="http://schemas.microsoft.com/office/drawing/2014/main" id="{01556265-8D41-721E-230F-44294FCFFA7F}"/>
              </a:ext>
            </a:extLst>
          </p:cNvPr>
          <p:cNvPicPr>
            <a:picLocks noGrp="1" noChangeAspect="1"/>
          </p:cNvPicPr>
          <p:nvPr>
            <p:ph type="pic" idx="1"/>
          </p:nvPr>
        </p:nvPicPr>
        <p:blipFill>
          <a:blip r:embed="rId4">
            <a:extLst>
              <a:ext uri="{28A0092B-C50C-407E-A947-70E740481C1C}">
                <a14:useLocalDpi xmlns:a14="http://schemas.microsoft.com/office/drawing/2010/main" val="0"/>
              </a:ext>
            </a:extLst>
          </a:blip>
          <a:srcRect l="4226" r="4226"/>
          <a:stretch/>
        </p:blipFill>
        <p:spPr>
          <a:xfrm>
            <a:off x="7277011" y="-2766721"/>
            <a:ext cx="3219918" cy="2084400"/>
          </a:xfrm>
          <a:prstGeom prst="roundRect">
            <a:avLst/>
          </a:prstGeom>
        </p:spPr>
      </p:pic>
      <p:pic>
        <p:nvPicPr>
          <p:cNvPr id="11" name="Picture Placeholder 6">
            <a:extLst>
              <a:ext uri="{FF2B5EF4-FFF2-40B4-BE49-F238E27FC236}">
                <a16:creationId xmlns:a16="http://schemas.microsoft.com/office/drawing/2014/main" id="{31031FA0-CE0D-C047-77B1-BC343FB0546B}"/>
              </a:ext>
            </a:extLst>
          </p:cNvPr>
          <p:cNvPicPr>
            <a:picLocks noChangeAspect="1"/>
          </p:cNvPicPr>
          <p:nvPr/>
        </p:nvPicPr>
        <p:blipFill>
          <a:blip r:embed="rId5">
            <a:extLst>
              <a:ext uri="{28A0092B-C50C-407E-A947-70E740481C1C}">
                <a14:useLocalDpi xmlns:a14="http://schemas.microsoft.com/office/drawing/2010/main" val="0"/>
              </a:ext>
            </a:extLst>
          </a:blip>
          <a:srcRect l="6953" r="6953"/>
          <a:stretch/>
        </p:blipFill>
        <p:spPr>
          <a:xfrm>
            <a:off x="7276050" y="8236547"/>
            <a:ext cx="3220879" cy="2085022"/>
          </a:xfrm>
          <a:prstGeom prst="roundRect">
            <a:avLst/>
          </a:prstGeom>
          <a:ln w="15875">
            <a:solidFill>
              <a:schemeClr val="tx1">
                <a:alpha val="40000"/>
              </a:schemeClr>
            </a:solidFill>
          </a:ln>
          <a:effectLst>
            <a:innerShdw blurRad="57150" dist="38100" dir="14460000">
              <a:srgbClr val="000000">
                <a:alpha val="70000"/>
              </a:srgbClr>
            </a:innerShdw>
          </a:effectLst>
        </p:spPr>
      </p:pic>
      <p:sp>
        <p:nvSpPr>
          <p:cNvPr id="3" name="TextBox 2">
            <a:extLst>
              <a:ext uri="{FF2B5EF4-FFF2-40B4-BE49-F238E27FC236}">
                <a16:creationId xmlns:a16="http://schemas.microsoft.com/office/drawing/2014/main" id="{C4DAF705-8063-C294-91F1-CB7FC9F94BD7}"/>
              </a:ext>
            </a:extLst>
          </p:cNvPr>
          <p:cNvSpPr txBox="1"/>
          <p:nvPr/>
        </p:nvSpPr>
        <p:spPr>
          <a:xfrm>
            <a:off x="652078" y="1081162"/>
            <a:ext cx="5482800" cy="3936975"/>
          </a:xfrm>
          <a:prstGeom prst="rect">
            <a:avLst/>
          </a:prstGeom>
          <a:noFill/>
        </p:spPr>
        <p:txBody>
          <a:bodyPr wrap="square" rtlCol="0">
            <a:spAutoFit/>
          </a:bodyPr>
          <a:lstStyle/>
          <a:p>
            <a:pPr>
              <a:lnSpc>
                <a:spcPct val="115000"/>
              </a:lnSpc>
              <a:spcAft>
                <a:spcPts val="700"/>
              </a:spcAft>
              <a:buNone/>
            </a:pPr>
            <a:r>
              <a:rPr lang="en-US" sz="4000" b="1" kern="100" dirty="0">
                <a:effectLst/>
                <a:latin typeface="Liberation Serif"/>
                <a:ea typeface="Noto Serif CJK SC"/>
                <a:cs typeface="Noto Sans Devanagari" panose="020B0502040504020204" pitchFamily="34" charset="0"/>
              </a:rPr>
              <a:t>ESC</a:t>
            </a:r>
            <a:endParaRPr lang="en-IN" sz="4000" kern="100" dirty="0">
              <a:effectLst/>
              <a:latin typeface="Liberation Serif"/>
              <a:ea typeface="Noto Serif CJK SC"/>
              <a:cs typeface="Noto Sans Devanagari" panose="020B0502040504020204" pitchFamily="34" charset="0"/>
            </a:endParaRPr>
          </a:p>
          <a:p>
            <a:r>
              <a:rPr lang="en-IN" dirty="0">
                <a:latin typeface="Liberation Serif"/>
              </a:rPr>
              <a:t>An </a:t>
            </a:r>
            <a:r>
              <a:rPr lang="en-IN" b="1" dirty="0">
                <a:latin typeface="Liberation Serif"/>
              </a:rPr>
              <a:t>Electronic Speed Controller (ESC)</a:t>
            </a:r>
            <a:r>
              <a:rPr lang="en-IN" dirty="0">
                <a:latin typeface="Liberation Serif"/>
              </a:rPr>
              <a:t> regulates power delivery from the battery to the motor based on commands from the flight controller, enabling precise control of motor speed and thrust. In this design, the ESC is </a:t>
            </a:r>
            <a:r>
              <a:rPr lang="en-IN" b="1" dirty="0">
                <a:latin typeface="Liberation Serif"/>
              </a:rPr>
              <a:t>integrated With the </a:t>
            </a:r>
            <a:r>
              <a:rPr lang="en-IN" b="1" dirty="0" err="1">
                <a:latin typeface="Liberation Serif"/>
              </a:rPr>
              <a:t>Hobbywing</a:t>
            </a:r>
            <a:r>
              <a:rPr lang="en-IN" b="1" dirty="0">
                <a:latin typeface="Liberation Serif"/>
              </a:rPr>
              <a:t> X6 Plus motor</a:t>
            </a:r>
            <a:r>
              <a:rPr lang="en-IN" dirty="0">
                <a:latin typeface="Liberation Serif"/>
              </a:rPr>
              <a:t>, eliminating the need for an external unit and reducing wiring complexity. The in-built ESC ensures smooth throttle response, efficient power management, and reliable performance during high-load and payload-carrying operations.</a:t>
            </a:r>
          </a:p>
          <a:p>
            <a:endParaRPr lang="en-IN" dirty="0"/>
          </a:p>
        </p:txBody>
      </p:sp>
      <p:sp>
        <p:nvSpPr>
          <p:cNvPr id="6" name="TextBox 5">
            <a:extLst>
              <a:ext uri="{FF2B5EF4-FFF2-40B4-BE49-F238E27FC236}">
                <a16:creationId xmlns:a16="http://schemas.microsoft.com/office/drawing/2014/main" id="{1C34E817-0853-F030-7370-2A617848F1EA}"/>
              </a:ext>
            </a:extLst>
          </p:cNvPr>
          <p:cNvSpPr txBox="1"/>
          <p:nvPr/>
        </p:nvSpPr>
        <p:spPr>
          <a:xfrm>
            <a:off x="613200" y="-7455465"/>
            <a:ext cx="5482800" cy="4154984"/>
          </a:xfrm>
          <a:prstGeom prst="rect">
            <a:avLst/>
          </a:prstGeom>
          <a:noFill/>
        </p:spPr>
        <p:txBody>
          <a:bodyPr wrap="square" rtlCol="0">
            <a:spAutoFit/>
          </a:bodyPr>
          <a:lstStyle/>
          <a:p>
            <a:pPr>
              <a:buNone/>
            </a:pPr>
            <a:r>
              <a:rPr lang="en-US" sz="6600" b="1" kern="100" dirty="0">
                <a:effectLst/>
                <a:latin typeface="Liberation Serif"/>
                <a:ea typeface="Noto Serif CJK SC"/>
                <a:cs typeface="Noto Sans Devanagari" panose="020B0502040504020204" pitchFamily="34" charset="0"/>
              </a:rPr>
              <a:t>MOTOR</a:t>
            </a:r>
            <a:r>
              <a:rPr lang="en-US" sz="6600" kern="100" dirty="0">
                <a:effectLst/>
                <a:latin typeface="Liberation Serif"/>
                <a:ea typeface="Noto Serif CJK SC"/>
                <a:cs typeface="Noto Sans Devanagari" panose="020B0502040504020204" pitchFamily="34" charset="0"/>
              </a:rPr>
              <a:t>:</a:t>
            </a:r>
            <a:endParaRPr lang="en-IN" sz="6600" kern="100" dirty="0">
              <a:effectLst/>
              <a:latin typeface="Liberation Serif"/>
              <a:ea typeface="Noto Serif CJK SC"/>
              <a:cs typeface="Noto Sans Devanagari" panose="020B0502040504020204" pitchFamily="34" charset="0"/>
            </a:endParaRPr>
          </a:p>
          <a:p>
            <a:r>
              <a:rPr lang="en-IN" dirty="0">
                <a:latin typeface="Liberation Serif"/>
              </a:rPr>
              <a:t>The propulsion system design began with selecting a motor suitable for our quadrotor UAV. After evaluating multiple options, the </a:t>
            </a:r>
            <a:r>
              <a:rPr lang="en-IN" b="1" dirty="0">
                <a:latin typeface="Liberation Serif"/>
              </a:rPr>
              <a:t>Xing2 3110 900KV </a:t>
            </a:r>
            <a:r>
              <a:rPr lang="en-IN" dirty="0">
                <a:latin typeface="Liberation Serif"/>
              </a:rPr>
              <a:t>Brushless Outrunner Motor was chosen for its balanced performance, delivering high torque and efficient thrust with </a:t>
            </a:r>
            <a:r>
              <a:rPr lang="en-IN" dirty="0" err="1">
                <a:latin typeface="Liberation Serif"/>
              </a:rPr>
              <a:t>HQProp</a:t>
            </a:r>
            <a:r>
              <a:rPr lang="en-IN" dirty="0">
                <a:latin typeface="Liberation Serif"/>
              </a:rPr>
              <a:t> 8x4x3 propellers. Each motor produces up to 2000g of thrust, enabling a total of 8000g, resulting in a thrust-to-weight ratio of ~3.8:1, ideal for stable lift and agile manoeuvrability.</a:t>
            </a:r>
          </a:p>
          <a:p>
            <a:pPr>
              <a:buNone/>
            </a:pPr>
            <a:endParaRPr lang="en-IN" dirty="0"/>
          </a:p>
          <a:p>
            <a:endParaRPr lang="en-IN" dirty="0"/>
          </a:p>
        </p:txBody>
      </p:sp>
      <p:graphicFrame>
        <p:nvGraphicFramePr>
          <p:cNvPr id="12" name="Table 11">
            <a:extLst>
              <a:ext uri="{FF2B5EF4-FFF2-40B4-BE49-F238E27FC236}">
                <a16:creationId xmlns:a16="http://schemas.microsoft.com/office/drawing/2014/main" id="{5DB380B3-4A74-F54A-A0AC-D73C0F978848}"/>
              </a:ext>
            </a:extLst>
          </p:cNvPr>
          <p:cNvGraphicFramePr>
            <a:graphicFrameLocks noGrp="1"/>
          </p:cNvGraphicFramePr>
          <p:nvPr>
            <p:extLst>
              <p:ext uri="{D42A27DB-BD31-4B8C-83A1-F6EECF244321}">
                <p14:modId xmlns:p14="http://schemas.microsoft.com/office/powerpoint/2010/main" val="2121144991"/>
              </p:ext>
            </p:extLst>
          </p:nvPr>
        </p:nvGraphicFramePr>
        <p:xfrm>
          <a:off x="1256891" y="-3708002"/>
          <a:ext cx="3346873" cy="1800225"/>
        </p:xfrm>
        <a:graphic>
          <a:graphicData uri="http://schemas.openxmlformats.org/drawingml/2006/table">
            <a:tbl>
              <a:tblPr firstRow="1" firstCol="1" lastRow="1" lastCol="1" bandRow="1" bandCol="1">
                <a:tableStyleId>{2D5ABB26-0587-4C30-8999-92F81FD0307C}</a:tableStyleId>
              </a:tblPr>
              <a:tblGrid>
                <a:gridCol w="1537715">
                  <a:extLst>
                    <a:ext uri="{9D8B030D-6E8A-4147-A177-3AD203B41FA5}">
                      <a16:colId xmlns:a16="http://schemas.microsoft.com/office/drawing/2014/main" val="1806358160"/>
                    </a:ext>
                  </a:extLst>
                </a:gridCol>
                <a:gridCol w="1809158">
                  <a:extLst>
                    <a:ext uri="{9D8B030D-6E8A-4147-A177-3AD203B41FA5}">
                      <a16:colId xmlns:a16="http://schemas.microsoft.com/office/drawing/2014/main" val="1553108328"/>
                    </a:ext>
                  </a:extLst>
                </a:gridCol>
              </a:tblGrid>
              <a:tr h="71755">
                <a:tc gridSpan="2">
                  <a:txBody>
                    <a:bodyPr/>
                    <a:lstStyle/>
                    <a:p>
                      <a:pPr marL="67945">
                        <a:spcBef>
                          <a:spcPts val="10"/>
                        </a:spcBef>
                        <a:buNone/>
                      </a:pPr>
                      <a:r>
                        <a:rPr lang="en-IN" sz="1200" b="1">
                          <a:solidFill>
                            <a:schemeClr val="tx1"/>
                          </a:solidFill>
                          <a:effectLst/>
                          <a:latin typeface="Arial" panose="020B0604020202020204" pitchFamily="34" charset="0"/>
                          <a:ea typeface="Arial" panose="020B0604020202020204" pitchFamily="34" charset="0"/>
                        </a:rPr>
                        <a:t>Specification</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797795"/>
                  </a:ext>
                </a:extLst>
              </a:tr>
              <a:tr h="71755">
                <a:tc>
                  <a:txBody>
                    <a:bodyPr/>
                    <a:lstStyle/>
                    <a:p>
                      <a:pPr marL="67945">
                        <a:buNone/>
                      </a:pPr>
                      <a:r>
                        <a:rPr lang="en-IN" sz="1200" dirty="0">
                          <a:solidFill>
                            <a:schemeClr val="tx1"/>
                          </a:solidFill>
                          <a:effectLst/>
                          <a:latin typeface="Arial" panose="020B0604020202020204" pitchFamily="34" charset="0"/>
                          <a:ea typeface="Arial" panose="020B0604020202020204" pitchFamily="34" charset="0"/>
                        </a:rPr>
                        <a:t>Motor Dimensions</a:t>
                      </a:r>
                      <a:endParaRPr lang="en-IN" sz="1100" dirty="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buNone/>
                      </a:pPr>
                      <a:r>
                        <a:rPr lang="en-IN" sz="1200">
                          <a:solidFill>
                            <a:schemeClr val="tx1"/>
                          </a:solidFill>
                          <a:effectLst/>
                          <a:latin typeface="Arial" panose="020B0604020202020204" pitchFamily="34" charset="0"/>
                          <a:ea typeface="Arial" panose="020B0604020202020204" pitchFamily="34" charset="0"/>
                        </a:rPr>
                        <a:t>Φ38.72 X 24.6 mm</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7453570"/>
                  </a:ext>
                </a:extLst>
              </a:tr>
              <a:tr h="337185">
                <a:tc>
                  <a:txBody>
                    <a:bodyPr/>
                    <a:lstStyle/>
                    <a:p>
                      <a:pPr marL="67945">
                        <a:buNone/>
                      </a:pPr>
                      <a:r>
                        <a:rPr lang="en-IN" sz="1200">
                          <a:solidFill>
                            <a:schemeClr val="tx1"/>
                          </a:solidFill>
                          <a:effectLst/>
                          <a:latin typeface="Arial" panose="020B0604020202020204" pitchFamily="34" charset="0"/>
                          <a:ea typeface="Arial" panose="020B0604020202020204" pitchFamily="34" charset="0"/>
                        </a:rPr>
                        <a:t>Weight (g)</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buNone/>
                      </a:pPr>
                      <a:r>
                        <a:rPr lang="en-IN" sz="1200">
                          <a:solidFill>
                            <a:schemeClr val="tx1"/>
                          </a:solidFill>
                          <a:effectLst/>
                          <a:latin typeface="Arial" panose="020B0604020202020204" pitchFamily="34" charset="0"/>
                          <a:ea typeface="Arial" panose="020B0604020202020204" pitchFamily="34" charset="0"/>
                        </a:rPr>
                        <a:t>80 (including wire)</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0673031"/>
                  </a:ext>
                </a:extLst>
              </a:tr>
              <a:tr h="71755">
                <a:tc>
                  <a:txBody>
                    <a:bodyPr/>
                    <a:lstStyle/>
                    <a:p>
                      <a:pPr marL="67945">
                        <a:buNone/>
                      </a:pPr>
                      <a:r>
                        <a:rPr lang="en-IN" sz="1200">
                          <a:solidFill>
                            <a:schemeClr val="tx1"/>
                          </a:solidFill>
                          <a:effectLst/>
                          <a:latin typeface="Arial" panose="020B0604020202020204" pitchFamily="34" charset="0"/>
                          <a:ea typeface="Arial" panose="020B0604020202020204" pitchFamily="34" charset="0"/>
                        </a:rPr>
                        <a:t>Max RPM (4S)</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buNone/>
                      </a:pPr>
                      <a:r>
                        <a:rPr lang="en-IN" sz="1200">
                          <a:solidFill>
                            <a:schemeClr val="tx1"/>
                          </a:solidFill>
                          <a:effectLst/>
                          <a:latin typeface="Arial" panose="020B0604020202020204" pitchFamily="34" charset="0"/>
                          <a:ea typeface="Arial" panose="020B0604020202020204" pitchFamily="34" charset="0"/>
                        </a:rPr>
                        <a:t>15120</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7975310"/>
                  </a:ext>
                </a:extLst>
              </a:tr>
              <a:tr h="71755">
                <a:tc>
                  <a:txBody>
                    <a:bodyPr/>
                    <a:lstStyle/>
                    <a:p>
                      <a:pPr marL="67945">
                        <a:buNone/>
                      </a:pPr>
                      <a:r>
                        <a:rPr lang="en-IN" sz="1200">
                          <a:solidFill>
                            <a:schemeClr val="tx1"/>
                          </a:solidFill>
                          <a:effectLst/>
                          <a:latin typeface="Arial" panose="020B0604020202020204" pitchFamily="34" charset="0"/>
                          <a:ea typeface="Arial" panose="020B0604020202020204" pitchFamily="34" charset="0"/>
                        </a:rPr>
                        <a:t>Peak Current (4S)</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buNone/>
                      </a:pPr>
                      <a:r>
                        <a:rPr lang="en-IN" sz="1200">
                          <a:solidFill>
                            <a:schemeClr val="tx1"/>
                          </a:solidFill>
                          <a:effectLst/>
                          <a:latin typeface="Arial" panose="020B0604020202020204" pitchFamily="34" charset="0"/>
                          <a:ea typeface="Arial" panose="020B0604020202020204" pitchFamily="34" charset="0"/>
                        </a:rPr>
                        <a:t>40 Amps (estimated with 8x4x3 prop on 4S)</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3516092"/>
                  </a:ext>
                </a:extLst>
              </a:tr>
              <a:tr h="71755">
                <a:tc>
                  <a:txBody>
                    <a:bodyPr/>
                    <a:lstStyle/>
                    <a:p>
                      <a:pPr marL="67945">
                        <a:spcBef>
                          <a:spcPts val="10"/>
                        </a:spcBef>
                        <a:buNone/>
                      </a:pPr>
                      <a:r>
                        <a:rPr lang="en-IN" sz="1200">
                          <a:solidFill>
                            <a:schemeClr val="tx1"/>
                          </a:solidFill>
                          <a:effectLst/>
                          <a:latin typeface="Arial" panose="020B0604020202020204" pitchFamily="34" charset="0"/>
                          <a:ea typeface="Arial" panose="020B0604020202020204" pitchFamily="34" charset="0"/>
                        </a:rPr>
                        <a:t>Max. Power(4S)</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spcBef>
                          <a:spcPts val="10"/>
                        </a:spcBef>
                        <a:buNone/>
                      </a:pPr>
                      <a:r>
                        <a:rPr lang="en-IN" sz="1200" dirty="0">
                          <a:solidFill>
                            <a:schemeClr val="tx1"/>
                          </a:solidFill>
                          <a:effectLst/>
                          <a:latin typeface="Arial" panose="020B0604020202020204" pitchFamily="34" charset="0"/>
                          <a:ea typeface="Arial" panose="020B0604020202020204" pitchFamily="34" charset="0"/>
                        </a:rPr>
                        <a:t>672 Watts</a:t>
                      </a:r>
                      <a:endParaRPr lang="en-IN" sz="1100" dirty="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4793362"/>
                  </a:ext>
                </a:extLst>
              </a:tr>
              <a:tr h="71755">
                <a:tc>
                  <a:txBody>
                    <a:bodyPr/>
                    <a:lstStyle/>
                    <a:p>
                      <a:pPr marL="67945">
                        <a:buNone/>
                      </a:pPr>
                      <a:r>
                        <a:rPr lang="en-IN" sz="1200">
                          <a:solidFill>
                            <a:schemeClr val="tx1"/>
                          </a:solidFill>
                          <a:effectLst/>
                          <a:latin typeface="Arial" panose="020B0604020202020204" pitchFamily="34" charset="0"/>
                          <a:ea typeface="Arial" panose="020B0604020202020204" pitchFamily="34" charset="0"/>
                        </a:rPr>
                        <a:t>Recommended Propeller</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buNone/>
                      </a:pPr>
                      <a:r>
                        <a:rPr lang="en-IN" sz="1200" dirty="0">
                          <a:solidFill>
                            <a:schemeClr val="tx1"/>
                          </a:solidFill>
                          <a:effectLst/>
                          <a:latin typeface="Arial" panose="020B0604020202020204" pitchFamily="34" charset="0"/>
                          <a:ea typeface="Arial" panose="020B0604020202020204" pitchFamily="34" charset="0"/>
                        </a:rPr>
                        <a:t>8x4x3</a:t>
                      </a:r>
                      <a:endParaRPr lang="en-IN" sz="1100" dirty="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210738"/>
                  </a:ext>
                </a:extLst>
              </a:tr>
            </a:tbl>
          </a:graphicData>
        </a:graphic>
      </p:graphicFrame>
      <p:sp>
        <p:nvSpPr>
          <p:cNvPr id="13" name="TextBox 12">
            <a:extLst>
              <a:ext uri="{FF2B5EF4-FFF2-40B4-BE49-F238E27FC236}">
                <a16:creationId xmlns:a16="http://schemas.microsoft.com/office/drawing/2014/main" id="{068D0901-F54E-F956-AAFB-DF4AE362CB0D}"/>
              </a:ext>
            </a:extLst>
          </p:cNvPr>
          <p:cNvSpPr txBox="1"/>
          <p:nvPr/>
        </p:nvSpPr>
        <p:spPr>
          <a:xfrm>
            <a:off x="613200" y="7469932"/>
            <a:ext cx="5482800" cy="3289106"/>
          </a:xfrm>
          <a:prstGeom prst="rect">
            <a:avLst/>
          </a:prstGeom>
          <a:noFill/>
        </p:spPr>
        <p:txBody>
          <a:bodyPr wrap="square" rtlCol="0">
            <a:spAutoFit/>
          </a:bodyPr>
          <a:lstStyle/>
          <a:p>
            <a:pPr>
              <a:lnSpc>
                <a:spcPct val="115000"/>
              </a:lnSpc>
              <a:spcAft>
                <a:spcPts val="700"/>
              </a:spcAft>
              <a:buNone/>
            </a:pPr>
            <a:r>
              <a:rPr lang="en-US" sz="6600" b="1" kern="100" dirty="0">
                <a:effectLst/>
                <a:latin typeface="Liberation Serif"/>
                <a:ea typeface="Noto Serif CJK SC"/>
                <a:cs typeface="Noto Sans Devanagari" panose="020B0502040504020204" pitchFamily="34" charset="0"/>
              </a:rPr>
              <a:t>Propellers:</a:t>
            </a:r>
          </a:p>
          <a:p>
            <a:r>
              <a:rPr lang="en-IN" dirty="0">
                <a:latin typeface="Liberation Serif"/>
              </a:rPr>
              <a:t>Propellers are mechanical devices that convert rotational motion into thrust. In drones, they generate upward lift by spinning and creating airflow, which causes a pressure difference between the top and bottom surfaces.</a:t>
            </a:r>
          </a:p>
          <a:p>
            <a:r>
              <a:rPr lang="en-IN" dirty="0">
                <a:latin typeface="Liberation Serif"/>
              </a:rPr>
              <a:t>We have used </a:t>
            </a:r>
            <a:r>
              <a:rPr lang="en-IN" b="1" dirty="0">
                <a:latin typeface="Liberation Serif"/>
              </a:rPr>
              <a:t>HQ 8×4×3 propellers </a:t>
            </a:r>
            <a:r>
              <a:rPr lang="en-IN" dirty="0">
                <a:latin typeface="Liberation Serif"/>
              </a:rPr>
              <a:t>for our drone, which provide an optimal balance between thrust and power consumption when paired with our motors.</a:t>
            </a:r>
          </a:p>
        </p:txBody>
      </p:sp>
      <p:graphicFrame>
        <p:nvGraphicFramePr>
          <p:cNvPr id="16" name="Table 15">
            <a:extLst>
              <a:ext uri="{FF2B5EF4-FFF2-40B4-BE49-F238E27FC236}">
                <a16:creationId xmlns:a16="http://schemas.microsoft.com/office/drawing/2014/main" id="{0CE4263B-3D90-4C54-54AA-43702DE6BAB4}"/>
              </a:ext>
            </a:extLst>
          </p:cNvPr>
          <p:cNvGraphicFramePr>
            <a:graphicFrameLocks noGrp="1"/>
          </p:cNvGraphicFramePr>
          <p:nvPr>
            <p:extLst>
              <p:ext uri="{D42A27DB-BD31-4B8C-83A1-F6EECF244321}">
                <p14:modId xmlns:p14="http://schemas.microsoft.com/office/powerpoint/2010/main" val="3496763376"/>
              </p:ext>
            </p:extLst>
          </p:nvPr>
        </p:nvGraphicFramePr>
        <p:xfrm>
          <a:off x="721725" y="11098804"/>
          <a:ext cx="4983480" cy="731520"/>
        </p:xfrm>
        <a:graphic>
          <a:graphicData uri="http://schemas.openxmlformats.org/drawingml/2006/table">
            <a:tbl>
              <a:tblPr>
                <a:tableStyleId>{5C22544A-7EE6-4342-B048-85BDC9FD1C3A}</a:tableStyleId>
              </a:tblPr>
              <a:tblGrid>
                <a:gridCol w="867090">
                  <a:extLst>
                    <a:ext uri="{9D8B030D-6E8A-4147-A177-3AD203B41FA5}">
                      <a16:colId xmlns:a16="http://schemas.microsoft.com/office/drawing/2014/main" val="2686175960"/>
                    </a:ext>
                  </a:extLst>
                </a:gridCol>
                <a:gridCol w="960101">
                  <a:extLst>
                    <a:ext uri="{9D8B030D-6E8A-4147-A177-3AD203B41FA5}">
                      <a16:colId xmlns:a16="http://schemas.microsoft.com/office/drawing/2014/main" val="3288188635"/>
                    </a:ext>
                  </a:extLst>
                </a:gridCol>
                <a:gridCol w="778145">
                  <a:extLst>
                    <a:ext uri="{9D8B030D-6E8A-4147-A177-3AD203B41FA5}">
                      <a16:colId xmlns:a16="http://schemas.microsoft.com/office/drawing/2014/main" val="2165802906"/>
                    </a:ext>
                  </a:extLst>
                </a:gridCol>
                <a:gridCol w="685133">
                  <a:extLst>
                    <a:ext uri="{9D8B030D-6E8A-4147-A177-3AD203B41FA5}">
                      <a16:colId xmlns:a16="http://schemas.microsoft.com/office/drawing/2014/main" val="2917595379"/>
                    </a:ext>
                  </a:extLst>
                </a:gridCol>
                <a:gridCol w="823380">
                  <a:extLst>
                    <a:ext uri="{9D8B030D-6E8A-4147-A177-3AD203B41FA5}">
                      <a16:colId xmlns:a16="http://schemas.microsoft.com/office/drawing/2014/main" val="1259732223"/>
                    </a:ext>
                  </a:extLst>
                </a:gridCol>
                <a:gridCol w="869631">
                  <a:extLst>
                    <a:ext uri="{9D8B030D-6E8A-4147-A177-3AD203B41FA5}">
                      <a16:colId xmlns:a16="http://schemas.microsoft.com/office/drawing/2014/main" val="3885735283"/>
                    </a:ext>
                  </a:extLst>
                </a:gridCol>
              </a:tblGrid>
              <a:tr h="201930">
                <a:tc>
                  <a:txBody>
                    <a:bodyPr/>
                    <a:lstStyle/>
                    <a:p>
                      <a:pPr marL="5715" algn="ctr">
                        <a:spcBef>
                          <a:spcPts val="10"/>
                        </a:spcBef>
                        <a:buNone/>
                      </a:pPr>
                      <a:r>
                        <a:rPr lang="en-IN" sz="1200">
                          <a:solidFill>
                            <a:schemeClr val="tx1"/>
                          </a:solidFill>
                          <a:effectLst/>
                        </a:rPr>
                        <a:t>Propeller</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4445" algn="ctr">
                        <a:spcBef>
                          <a:spcPts val="10"/>
                        </a:spcBef>
                        <a:buNone/>
                      </a:pPr>
                      <a:r>
                        <a:rPr lang="en-IN" sz="1200">
                          <a:solidFill>
                            <a:schemeClr val="tx1"/>
                          </a:solidFill>
                          <a:effectLst/>
                        </a:rPr>
                        <a:t>Thrust</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5715" marR="2540" algn="ctr">
                        <a:spcBef>
                          <a:spcPts val="10"/>
                        </a:spcBef>
                        <a:buNone/>
                      </a:pPr>
                      <a:r>
                        <a:rPr lang="en-IN" sz="1200">
                          <a:solidFill>
                            <a:schemeClr val="tx1"/>
                          </a:solidFill>
                          <a:effectLst/>
                        </a:rPr>
                        <a:t>Voltage</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7620" marR="3175" algn="ctr">
                        <a:spcBef>
                          <a:spcPts val="10"/>
                        </a:spcBef>
                        <a:buNone/>
                      </a:pPr>
                      <a:r>
                        <a:rPr lang="en-IN" sz="1200">
                          <a:solidFill>
                            <a:schemeClr val="tx1"/>
                          </a:solidFill>
                          <a:effectLst/>
                        </a:rPr>
                        <a:t>Current</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1430" marR="3175" algn="ctr">
                        <a:spcBef>
                          <a:spcPts val="10"/>
                        </a:spcBef>
                        <a:buNone/>
                      </a:pPr>
                      <a:r>
                        <a:rPr lang="en-IN" sz="1200">
                          <a:solidFill>
                            <a:schemeClr val="tx1"/>
                          </a:solidFill>
                          <a:effectLst/>
                        </a:rPr>
                        <a:t>Power</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8255" algn="ctr">
                        <a:spcBef>
                          <a:spcPts val="10"/>
                        </a:spcBef>
                        <a:buNone/>
                      </a:pPr>
                      <a:r>
                        <a:rPr lang="en-IN" sz="1200">
                          <a:solidFill>
                            <a:schemeClr val="tx1"/>
                          </a:solidFill>
                          <a:effectLst/>
                        </a:rPr>
                        <a:t>Efficiency</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0165250"/>
                  </a:ext>
                </a:extLst>
              </a:tr>
              <a:tr h="200660">
                <a:tc>
                  <a:txBody>
                    <a:bodyPr/>
                    <a:lstStyle/>
                    <a:p>
                      <a:pPr marL="5715" algn="ctr">
                        <a:buNone/>
                      </a:pPr>
                      <a:r>
                        <a:rPr lang="en-IN" sz="1200">
                          <a:solidFill>
                            <a:schemeClr val="tx1"/>
                          </a:solidFill>
                          <a:effectLst/>
                        </a:rPr>
                        <a:t>HQ 8*4*3</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4445" marR="1905" algn="ctr">
                        <a:buNone/>
                      </a:pPr>
                      <a:r>
                        <a:rPr lang="en-IN" sz="1200">
                          <a:solidFill>
                            <a:schemeClr val="tx1"/>
                          </a:solidFill>
                          <a:effectLst/>
                        </a:rPr>
                        <a:t>~2000g(max)</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5715" algn="ctr">
                        <a:buNone/>
                      </a:pPr>
                      <a:r>
                        <a:rPr lang="en-IN" sz="1200" dirty="0">
                          <a:solidFill>
                            <a:schemeClr val="tx1"/>
                          </a:solidFill>
                          <a:effectLst/>
                        </a:rPr>
                        <a:t>16.8V (max)</a:t>
                      </a:r>
                      <a:endParaRPr lang="en-IN" sz="1100" dirty="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7620" marR="635" algn="ctr">
                        <a:buNone/>
                      </a:pPr>
                      <a:r>
                        <a:rPr lang="en-IN" sz="1200">
                          <a:solidFill>
                            <a:schemeClr val="tx1"/>
                          </a:solidFill>
                          <a:effectLst/>
                        </a:rPr>
                        <a:t>40A</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1430" algn="ctr">
                        <a:buNone/>
                      </a:pPr>
                      <a:r>
                        <a:rPr lang="en-IN" sz="1200">
                          <a:solidFill>
                            <a:schemeClr val="tx1"/>
                          </a:solidFill>
                          <a:effectLst/>
                        </a:rPr>
                        <a:t>672W</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8255" algn="ctr">
                        <a:buNone/>
                      </a:pPr>
                      <a:r>
                        <a:rPr lang="en-IN" sz="1200" dirty="0">
                          <a:solidFill>
                            <a:schemeClr val="tx1"/>
                          </a:solidFill>
                          <a:effectLst/>
                        </a:rPr>
                        <a:t>~2.9g/W</a:t>
                      </a:r>
                      <a:endParaRPr lang="en-IN" sz="1100" dirty="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9286642"/>
                  </a:ext>
                </a:extLst>
              </a:tr>
            </a:tbl>
          </a:graphicData>
        </a:graphic>
      </p:graphicFrame>
      <p:graphicFrame>
        <p:nvGraphicFramePr>
          <p:cNvPr id="4" name="Table 3">
            <a:extLst>
              <a:ext uri="{FF2B5EF4-FFF2-40B4-BE49-F238E27FC236}">
                <a16:creationId xmlns:a16="http://schemas.microsoft.com/office/drawing/2014/main" id="{D6EF31DD-1538-063A-311A-92CB7FDC1FB0}"/>
              </a:ext>
            </a:extLst>
          </p:cNvPr>
          <p:cNvGraphicFramePr>
            <a:graphicFrameLocks noGrp="1"/>
          </p:cNvGraphicFramePr>
          <p:nvPr>
            <p:extLst>
              <p:ext uri="{D42A27DB-BD31-4B8C-83A1-F6EECF244321}">
                <p14:modId xmlns:p14="http://schemas.microsoft.com/office/powerpoint/2010/main" val="1255857856"/>
              </p:ext>
            </p:extLst>
          </p:nvPr>
        </p:nvGraphicFramePr>
        <p:xfrm>
          <a:off x="1233715" y="5009718"/>
          <a:ext cx="5452310" cy="1807023"/>
        </p:xfrm>
        <a:graphic>
          <a:graphicData uri="http://schemas.openxmlformats.org/drawingml/2006/table">
            <a:tbl>
              <a:tblPr firstRow="1" firstCol="1" bandRow="1">
                <a:tableStyleId>{5940675A-B579-460E-94D1-54222C63F5DA}</a:tableStyleId>
              </a:tblPr>
              <a:tblGrid>
                <a:gridCol w="2378946">
                  <a:extLst>
                    <a:ext uri="{9D8B030D-6E8A-4147-A177-3AD203B41FA5}">
                      <a16:colId xmlns:a16="http://schemas.microsoft.com/office/drawing/2014/main" val="2333116145"/>
                    </a:ext>
                  </a:extLst>
                </a:gridCol>
                <a:gridCol w="3073364">
                  <a:extLst>
                    <a:ext uri="{9D8B030D-6E8A-4147-A177-3AD203B41FA5}">
                      <a16:colId xmlns:a16="http://schemas.microsoft.com/office/drawing/2014/main" val="931857566"/>
                    </a:ext>
                  </a:extLst>
                </a:gridCol>
              </a:tblGrid>
              <a:tr h="187722">
                <a:tc>
                  <a:txBody>
                    <a:bodyPr/>
                    <a:lstStyle/>
                    <a:p>
                      <a:pPr>
                        <a:lnSpc>
                          <a:spcPct val="115000"/>
                        </a:lnSpc>
                        <a:spcAft>
                          <a:spcPts val="800"/>
                        </a:spcAft>
                        <a:buNone/>
                      </a:pPr>
                      <a:r>
                        <a:rPr lang="en-IN" sz="1200" kern="100">
                          <a:effectLst/>
                        </a:rPr>
                        <a:t>Specification</a:t>
                      </a:r>
                      <a:endParaRPr lang="en-IN"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15000"/>
                        </a:lnSpc>
                        <a:spcAft>
                          <a:spcPts val="800"/>
                        </a:spcAft>
                        <a:buNone/>
                      </a:pPr>
                      <a:r>
                        <a:rPr lang="en-IN" sz="1200" kern="100">
                          <a:effectLst/>
                        </a:rPr>
                        <a:t> </a:t>
                      </a:r>
                      <a:endParaRPr lang="en-IN"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67857711"/>
                  </a:ext>
                </a:extLst>
              </a:tr>
              <a:tr h="187722">
                <a:tc>
                  <a:txBody>
                    <a:bodyPr/>
                    <a:lstStyle/>
                    <a:p>
                      <a:pPr>
                        <a:lnSpc>
                          <a:spcPct val="115000"/>
                        </a:lnSpc>
                        <a:spcAft>
                          <a:spcPts val="800"/>
                        </a:spcAft>
                        <a:buNone/>
                      </a:pPr>
                      <a:r>
                        <a:rPr lang="en-IN" sz="1200" kern="100">
                          <a:effectLst/>
                        </a:rPr>
                        <a:t>PWM Input Signal Level</a:t>
                      </a:r>
                      <a:endParaRPr lang="en-IN"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15000"/>
                        </a:lnSpc>
                        <a:spcAft>
                          <a:spcPts val="800"/>
                        </a:spcAft>
                        <a:buNone/>
                      </a:pPr>
                      <a:r>
                        <a:rPr lang="en-IN" sz="1200" kern="100">
                          <a:effectLst/>
                        </a:rPr>
                        <a:t>3.3V/5V</a:t>
                      </a:r>
                      <a:endParaRPr lang="en-IN"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750143791"/>
                  </a:ext>
                </a:extLst>
              </a:tr>
              <a:tr h="187722">
                <a:tc>
                  <a:txBody>
                    <a:bodyPr/>
                    <a:lstStyle/>
                    <a:p>
                      <a:pPr>
                        <a:lnSpc>
                          <a:spcPct val="115000"/>
                        </a:lnSpc>
                        <a:spcAft>
                          <a:spcPts val="800"/>
                        </a:spcAft>
                        <a:buNone/>
                      </a:pPr>
                      <a:r>
                        <a:rPr lang="en-IN" sz="1200" kern="100">
                          <a:effectLst/>
                        </a:rPr>
                        <a:t>Throttle Signal Frequency</a:t>
                      </a:r>
                      <a:endParaRPr lang="en-IN"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15000"/>
                        </a:lnSpc>
                        <a:spcAft>
                          <a:spcPts val="800"/>
                        </a:spcAft>
                        <a:buNone/>
                      </a:pPr>
                      <a:r>
                        <a:rPr lang="en-IN" sz="1200" kern="100">
                          <a:effectLst/>
                        </a:rPr>
                        <a:t>50-500Hz</a:t>
                      </a:r>
                      <a:endParaRPr lang="en-IN"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411745774"/>
                  </a:ext>
                </a:extLst>
              </a:tr>
              <a:tr h="387059">
                <a:tc>
                  <a:txBody>
                    <a:bodyPr/>
                    <a:lstStyle/>
                    <a:p>
                      <a:pPr>
                        <a:lnSpc>
                          <a:spcPct val="115000"/>
                        </a:lnSpc>
                        <a:spcAft>
                          <a:spcPts val="800"/>
                        </a:spcAft>
                        <a:buNone/>
                      </a:pPr>
                      <a:r>
                        <a:rPr lang="en-IN" sz="1200" kern="100">
                          <a:effectLst/>
                        </a:rPr>
                        <a:t>Operating Pulse Width</a:t>
                      </a:r>
                      <a:endParaRPr lang="en-IN"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15000"/>
                        </a:lnSpc>
                        <a:spcAft>
                          <a:spcPts val="800"/>
                        </a:spcAft>
                        <a:buNone/>
                      </a:pPr>
                      <a:r>
                        <a:rPr lang="en-IN" sz="1200" kern="100">
                          <a:effectLst/>
                        </a:rPr>
                        <a:t>1050-1950us (Fixed or cannot be  Programmed)</a:t>
                      </a:r>
                      <a:endParaRPr lang="en-IN"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898336639"/>
                  </a:ext>
                </a:extLst>
              </a:tr>
              <a:tr h="187722">
                <a:tc>
                  <a:txBody>
                    <a:bodyPr/>
                    <a:lstStyle/>
                    <a:p>
                      <a:pPr>
                        <a:lnSpc>
                          <a:spcPct val="115000"/>
                        </a:lnSpc>
                        <a:spcAft>
                          <a:spcPts val="800"/>
                        </a:spcAft>
                        <a:buNone/>
                      </a:pPr>
                      <a:r>
                        <a:rPr lang="en-IN" sz="1200" kern="100">
                          <a:effectLst/>
                        </a:rPr>
                        <a:t>Max. Input Voltage</a:t>
                      </a:r>
                      <a:endParaRPr lang="en-IN"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15000"/>
                        </a:lnSpc>
                        <a:spcAft>
                          <a:spcPts val="800"/>
                        </a:spcAft>
                        <a:buNone/>
                      </a:pPr>
                      <a:r>
                        <a:rPr lang="en-IN" sz="1200" kern="100">
                          <a:effectLst/>
                        </a:rPr>
                        <a:t>61V</a:t>
                      </a:r>
                      <a:endParaRPr lang="en-IN"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4194889234"/>
                  </a:ext>
                </a:extLst>
              </a:tr>
              <a:tr h="387059">
                <a:tc>
                  <a:txBody>
                    <a:bodyPr/>
                    <a:lstStyle/>
                    <a:p>
                      <a:pPr>
                        <a:lnSpc>
                          <a:spcPct val="115000"/>
                        </a:lnSpc>
                        <a:spcAft>
                          <a:spcPts val="800"/>
                        </a:spcAft>
                        <a:buNone/>
                      </a:pPr>
                      <a:r>
                        <a:rPr lang="en-IN" sz="1200" kern="100">
                          <a:effectLst/>
                        </a:rPr>
                        <a:t>Max. Input Current</a:t>
                      </a:r>
                      <a:endParaRPr lang="en-IN"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15000"/>
                        </a:lnSpc>
                        <a:spcAft>
                          <a:spcPts val="800"/>
                        </a:spcAft>
                        <a:buNone/>
                      </a:pPr>
                      <a:r>
                        <a:rPr lang="en-IN" sz="1200" kern="100">
                          <a:effectLst/>
                        </a:rPr>
                        <a:t>80A (Non-hermetic Ambient Temperature 60°C)</a:t>
                      </a:r>
                      <a:endParaRPr lang="en-IN"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855183444"/>
                  </a:ext>
                </a:extLst>
              </a:tr>
              <a:tr h="187722">
                <a:tc>
                  <a:txBody>
                    <a:bodyPr/>
                    <a:lstStyle/>
                    <a:p>
                      <a:pPr>
                        <a:lnSpc>
                          <a:spcPct val="115000"/>
                        </a:lnSpc>
                        <a:spcAft>
                          <a:spcPts val="800"/>
                        </a:spcAft>
                        <a:buNone/>
                      </a:pPr>
                      <a:r>
                        <a:rPr lang="en-IN" sz="1200" kern="100">
                          <a:effectLst/>
                        </a:rPr>
                        <a:t>BEC</a:t>
                      </a:r>
                      <a:endParaRPr lang="en-IN"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15000"/>
                        </a:lnSpc>
                        <a:spcAft>
                          <a:spcPts val="800"/>
                        </a:spcAft>
                        <a:buNone/>
                      </a:pPr>
                      <a:r>
                        <a:rPr lang="en-IN" sz="1200" kern="100" dirty="0">
                          <a:effectLst/>
                        </a:rPr>
                        <a:t>No</a:t>
                      </a:r>
                      <a:endParaRPr lang="en-IN"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749255063"/>
                  </a:ext>
                </a:extLst>
              </a:tr>
            </a:tbl>
          </a:graphicData>
        </a:graphic>
      </p:graphicFrame>
      <p:sp>
        <p:nvSpPr>
          <p:cNvPr id="5" name="Rectangle 4">
            <a:extLst>
              <a:ext uri="{FF2B5EF4-FFF2-40B4-BE49-F238E27FC236}">
                <a16:creationId xmlns:a16="http://schemas.microsoft.com/office/drawing/2014/main" id="{E574CCD1-0EC5-4993-E3F6-25495A5D4109}"/>
              </a:ext>
            </a:extLst>
          </p:cNvPr>
          <p:cNvSpPr/>
          <p:nvPr/>
        </p:nvSpPr>
        <p:spPr>
          <a:xfrm>
            <a:off x="0" y="212655"/>
            <a:ext cx="9611833" cy="741600"/>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700"/>
              </a:spcAft>
            </a:pPr>
            <a:r>
              <a:rPr lang="en-US" sz="4400" b="1" dirty="0">
                <a:latin typeface="Times New Roman" panose="02020603050405020304" pitchFamily="18" charset="0"/>
                <a:cs typeface="Times New Roman" panose="02020603050405020304" pitchFamily="18" charset="0"/>
              </a:rPr>
              <a:t>   PROPULSION SYSTEM:</a:t>
            </a:r>
          </a:p>
        </p:txBody>
      </p:sp>
    </p:spTree>
    <p:extLst>
      <p:ext uri="{BB962C8B-B14F-4D97-AF65-F5344CB8AC3E}">
        <p14:creationId xmlns:p14="http://schemas.microsoft.com/office/powerpoint/2010/main" val="2172296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D0E23-7BB0-3972-C23E-C8C562DEE8D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F267FF14-BC34-C9D2-5C63-4F6BFFD5294B}"/>
              </a:ext>
            </a:extLst>
          </p:cNvPr>
          <p:cNvPicPr>
            <a:picLocks noChangeAspect="1"/>
          </p:cNvPicPr>
          <p:nvPr/>
        </p:nvPicPr>
        <p:blipFill>
          <a:blip r:embed="rId2">
            <a:clrChange>
              <a:clrFrom>
                <a:srgbClr val="071002"/>
              </a:clrFrom>
              <a:clrTo>
                <a:srgbClr val="071002">
                  <a:alpha val="0"/>
                </a:srgbClr>
              </a:clrTo>
            </a:clrChange>
            <a:extLst>
              <a:ext uri="{BEBA8EAE-BF5A-486C-A8C5-ECC9F3942E4B}">
                <a14:imgProps xmlns:a14="http://schemas.microsoft.com/office/drawing/2010/main">
                  <a14:imgLayer r:embed="rId3">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sp>
        <p:nvSpPr>
          <p:cNvPr id="4" name="TextBox 3">
            <a:extLst>
              <a:ext uri="{FF2B5EF4-FFF2-40B4-BE49-F238E27FC236}">
                <a16:creationId xmlns:a16="http://schemas.microsoft.com/office/drawing/2014/main" id="{A69FA6A3-4F2D-0C28-E67E-F2D4732CCD81}"/>
              </a:ext>
            </a:extLst>
          </p:cNvPr>
          <p:cNvSpPr txBox="1"/>
          <p:nvPr/>
        </p:nvSpPr>
        <p:spPr>
          <a:xfrm>
            <a:off x="365038" y="1545878"/>
            <a:ext cx="5979124" cy="3539430"/>
          </a:xfrm>
          <a:prstGeom prst="rect">
            <a:avLst/>
          </a:prstGeom>
          <a:noFill/>
        </p:spPr>
        <p:txBody>
          <a:bodyPr wrap="square" rtlCol="0">
            <a:spAutoFit/>
          </a:bodyPr>
          <a:lstStyle/>
          <a:p>
            <a:pPr>
              <a:buNone/>
            </a:pPr>
            <a:r>
              <a:rPr lang="en-IN" sz="4000" b="1" dirty="0">
                <a:latin typeface="Liberation Serif"/>
              </a:rPr>
              <a:t>PROPELLERS</a:t>
            </a:r>
            <a:r>
              <a:rPr lang="en-US" sz="4000" b="1" kern="100" dirty="0">
                <a:effectLst/>
                <a:latin typeface="Liberation Serif"/>
                <a:ea typeface="Noto Serif CJK SC"/>
                <a:cs typeface="Noto Sans Devanagari" panose="020B0502040504020204" pitchFamily="34" charset="0"/>
              </a:rPr>
              <a:t>:</a:t>
            </a:r>
          </a:p>
          <a:p>
            <a:pPr>
              <a:buNone/>
            </a:pPr>
            <a:endParaRPr lang="en-IN" sz="4000" kern="100" dirty="0">
              <a:effectLst/>
              <a:latin typeface="Liberation Serif"/>
              <a:ea typeface="Noto Serif CJK SC"/>
              <a:cs typeface="Noto Sans Devanagari" panose="020B0502040504020204" pitchFamily="34" charset="0"/>
            </a:endParaRPr>
          </a:p>
          <a:p>
            <a:r>
              <a:rPr lang="en-IN" dirty="0">
                <a:latin typeface="Liberation Serif"/>
              </a:rPr>
              <a:t>Propellers convert motor rotation into thrust by accelerating airflow. </a:t>
            </a:r>
            <a:r>
              <a:rPr lang="en-IN" b="1" dirty="0">
                <a:latin typeface="Liberation Serif"/>
              </a:rPr>
              <a:t>MFP 24×8.0 propellers</a:t>
            </a:r>
            <a:r>
              <a:rPr lang="en-IN" dirty="0">
                <a:latin typeface="Liberation Serif"/>
              </a:rPr>
              <a:t> are selected for their large diameter, enabling efficient lift generation at lower RPMs. This improves flight efficiency and stability, making them well-suited for payload-carrying disaster management operations.</a:t>
            </a:r>
          </a:p>
          <a:p>
            <a:pPr>
              <a:buNone/>
            </a:pPr>
            <a:endParaRPr lang="en-IN" dirty="0">
              <a:latin typeface="Liberation Serif"/>
            </a:endParaRPr>
          </a:p>
          <a:p>
            <a:endParaRPr lang="en-IN" dirty="0"/>
          </a:p>
        </p:txBody>
      </p:sp>
      <p:sp>
        <p:nvSpPr>
          <p:cNvPr id="12" name="TextBox 11">
            <a:extLst>
              <a:ext uri="{FF2B5EF4-FFF2-40B4-BE49-F238E27FC236}">
                <a16:creationId xmlns:a16="http://schemas.microsoft.com/office/drawing/2014/main" id="{53327A68-3A90-D655-AB79-1C568599204D}"/>
              </a:ext>
            </a:extLst>
          </p:cNvPr>
          <p:cNvSpPr txBox="1"/>
          <p:nvPr/>
        </p:nvSpPr>
        <p:spPr>
          <a:xfrm>
            <a:off x="613200" y="7690331"/>
            <a:ext cx="5482800" cy="4397101"/>
          </a:xfrm>
          <a:prstGeom prst="rect">
            <a:avLst/>
          </a:prstGeom>
          <a:noFill/>
        </p:spPr>
        <p:txBody>
          <a:bodyPr wrap="square" rtlCol="0">
            <a:spAutoFit/>
          </a:bodyPr>
          <a:lstStyle/>
          <a:p>
            <a:pPr>
              <a:lnSpc>
                <a:spcPct val="115000"/>
              </a:lnSpc>
              <a:spcAft>
                <a:spcPts val="700"/>
              </a:spcAft>
              <a:buNone/>
            </a:pPr>
            <a:r>
              <a:rPr lang="en-US" sz="6600" b="1" kern="100" dirty="0">
                <a:effectLst/>
                <a:latin typeface="Liberation Serif"/>
                <a:ea typeface="Noto Serif CJK SC"/>
                <a:cs typeface="Noto Sans Devanagari" panose="020B0502040504020204" pitchFamily="34" charset="0"/>
              </a:rPr>
              <a:t>ESC</a:t>
            </a:r>
            <a:endParaRPr lang="en-IN" sz="6600" kern="100" dirty="0">
              <a:effectLst/>
              <a:latin typeface="Liberation Serif"/>
              <a:ea typeface="Noto Serif CJK SC"/>
              <a:cs typeface="Noto Sans Devanagari" panose="020B0502040504020204" pitchFamily="34" charset="0"/>
            </a:endParaRPr>
          </a:p>
          <a:p>
            <a:r>
              <a:rPr lang="en-IN" dirty="0">
                <a:latin typeface="Liberation Serif"/>
              </a:rPr>
              <a:t>An Electronic Speed Controller (ESC) is a crucial component in our UAV, acting as the link between the flight controller and motors by regulating power delivery to control motor speed, torque, and thrust precisely.</a:t>
            </a:r>
          </a:p>
          <a:p>
            <a:r>
              <a:rPr lang="en-IN" dirty="0">
                <a:latin typeface="Liberation Serif"/>
              </a:rPr>
              <a:t>Each motor is paired with a </a:t>
            </a:r>
            <a:r>
              <a:rPr lang="en-IN" b="1" dirty="0" err="1">
                <a:latin typeface="Liberation Serif"/>
              </a:rPr>
              <a:t>ReadytoSky</a:t>
            </a:r>
            <a:r>
              <a:rPr lang="en-IN" b="1" dirty="0">
                <a:latin typeface="Liberation Serif"/>
              </a:rPr>
              <a:t> OPTO 40A ESC</a:t>
            </a:r>
            <a:r>
              <a:rPr lang="en-IN" dirty="0">
                <a:latin typeface="Liberation Serif"/>
              </a:rPr>
              <a:t>, selected for its 40A continuous current rating, optical isolation, and compatibility with our motor-propeller configuration. The ESC ensures smooth throttle response, reduced electrical noise, and reliable performance under high load conditions.</a:t>
            </a:r>
          </a:p>
          <a:p>
            <a:endParaRPr lang="en-IN" dirty="0"/>
          </a:p>
        </p:txBody>
      </p:sp>
      <p:graphicFrame>
        <p:nvGraphicFramePr>
          <p:cNvPr id="13" name="Table 12">
            <a:extLst>
              <a:ext uri="{FF2B5EF4-FFF2-40B4-BE49-F238E27FC236}">
                <a16:creationId xmlns:a16="http://schemas.microsoft.com/office/drawing/2014/main" id="{5C6C441C-164D-AFEC-8887-6DBD284BBEB3}"/>
              </a:ext>
            </a:extLst>
          </p:cNvPr>
          <p:cNvGraphicFramePr>
            <a:graphicFrameLocks noGrp="1"/>
          </p:cNvGraphicFramePr>
          <p:nvPr/>
        </p:nvGraphicFramePr>
        <p:xfrm>
          <a:off x="613200" y="11982498"/>
          <a:ext cx="3472501" cy="2085022"/>
        </p:xfrm>
        <a:graphic>
          <a:graphicData uri="http://schemas.openxmlformats.org/drawingml/2006/table">
            <a:tbl>
              <a:tblPr firstRow="1" firstCol="1" bandRow="1">
                <a:tableStyleId>{2D5ABB26-0587-4C30-8999-92F81FD0307C}</a:tableStyleId>
              </a:tblPr>
              <a:tblGrid>
                <a:gridCol w="1441020">
                  <a:extLst>
                    <a:ext uri="{9D8B030D-6E8A-4147-A177-3AD203B41FA5}">
                      <a16:colId xmlns:a16="http://schemas.microsoft.com/office/drawing/2014/main" val="2502392011"/>
                    </a:ext>
                  </a:extLst>
                </a:gridCol>
                <a:gridCol w="2031481">
                  <a:extLst>
                    <a:ext uri="{9D8B030D-6E8A-4147-A177-3AD203B41FA5}">
                      <a16:colId xmlns:a16="http://schemas.microsoft.com/office/drawing/2014/main" val="639308829"/>
                    </a:ext>
                  </a:extLst>
                </a:gridCol>
              </a:tblGrid>
              <a:tr h="271801">
                <a:tc gridSpan="2">
                  <a:txBody>
                    <a:bodyPr/>
                    <a:lstStyle/>
                    <a:p>
                      <a:pPr marL="67945">
                        <a:buNone/>
                      </a:pPr>
                      <a:r>
                        <a:rPr lang="en-IN" sz="1200" b="1" dirty="0">
                          <a:solidFill>
                            <a:schemeClr val="tx1"/>
                          </a:solidFill>
                          <a:effectLst/>
                          <a:latin typeface="Arial" panose="020B0604020202020204" pitchFamily="34" charset="0"/>
                          <a:ea typeface="Arial" panose="020B0604020202020204" pitchFamily="34" charset="0"/>
                        </a:rPr>
                        <a:t>Specification</a:t>
                      </a:r>
                      <a:endParaRPr lang="en-IN" sz="1100" dirty="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847511"/>
                  </a:ext>
                </a:extLst>
              </a:tr>
              <a:tr h="454216">
                <a:tc>
                  <a:txBody>
                    <a:bodyPr/>
                    <a:lstStyle/>
                    <a:p>
                      <a:pPr marL="67945">
                        <a:buNone/>
                      </a:pPr>
                      <a:r>
                        <a:rPr lang="en-IN" sz="1200">
                          <a:solidFill>
                            <a:schemeClr val="tx1"/>
                          </a:solidFill>
                          <a:effectLst/>
                          <a:latin typeface="Arial" panose="020B0604020202020204" pitchFamily="34" charset="0"/>
                          <a:ea typeface="Arial" panose="020B0604020202020204" pitchFamily="34" charset="0"/>
                        </a:rPr>
                        <a:t>Continuous Current</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buNone/>
                      </a:pPr>
                      <a:r>
                        <a:rPr lang="en-IN" sz="1200" dirty="0">
                          <a:solidFill>
                            <a:schemeClr val="tx1"/>
                          </a:solidFill>
                          <a:effectLst/>
                          <a:latin typeface="Arial" panose="020B0604020202020204" pitchFamily="34" charset="0"/>
                          <a:ea typeface="Arial" panose="020B0604020202020204" pitchFamily="34" charset="0"/>
                        </a:rPr>
                        <a:t>40 A</a:t>
                      </a:r>
                      <a:endParaRPr lang="en-IN" sz="1100" dirty="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6075293"/>
                  </a:ext>
                </a:extLst>
              </a:tr>
              <a:tr h="271801">
                <a:tc>
                  <a:txBody>
                    <a:bodyPr/>
                    <a:lstStyle/>
                    <a:p>
                      <a:pPr marL="67945">
                        <a:spcBef>
                          <a:spcPts val="10"/>
                        </a:spcBef>
                        <a:buNone/>
                      </a:pPr>
                      <a:r>
                        <a:rPr lang="en-IN" sz="1200">
                          <a:solidFill>
                            <a:schemeClr val="tx1"/>
                          </a:solidFill>
                          <a:effectLst/>
                          <a:latin typeface="Arial" panose="020B0604020202020204" pitchFamily="34" charset="0"/>
                          <a:ea typeface="Arial" panose="020B0604020202020204" pitchFamily="34" charset="0"/>
                        </a:rPr>
                        <a:t>Burst Current</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spcBef>
                          <a:spcPts val="10"/>
                        </a:spcBef>
                        <a:buNone/>
                      </a:pPr>
                      <a:r>
                        <a:rPr lang="en-IN" sz="1200">
                          <a:solidFill>
                            <a:schemeClr val="tx1"/>
                          </a:solidFill>
                          <a:effectLst/>
                          <a:latin typeface="Arial" panose="020B0604020202020204" pitchFamily="34" charset="0"/>
                          <a:ea typeface="Arial" panose="020B0604020202020204" pitchFamily="34" charset="0"/>
                        </a:rPr>
                        <a:t>60A</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4861176"/>
                  </a:ext>
                </a:extLst>
              </a:tr>
              <a:tr h="271801">
                <a:tc>
                  <a:txBody>
                    <a:bodyPr/>
                    <a:lstStyle/>
                    <a:p>
                      <a:pPr marL="67945">
                        <a:spcBef>
                          <a:spcPts val="5"/>
                        </a:spcBef>
                        <a:buNone/>
                      </a:pPr>
                      <a:r>
                        <a:rPr lang="en-IN" sz="1200">
                          <a:solidFill>
                            <a:schemeClr val="tx1"/>
                          </a:solidFill>
                          <a:effectLst/>
                          <a:latin typeface="Arial" panose="020B0604020202020204" pitchFamily="34" charset="0"/>
                          <a:ea typeface="Arial" panose="020B0604020202020204" pitchFamily="34" charset="0"/>
                        </a:rPr>
                        <a:t>Weight(g)</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spcBef>
                          <a:spcPts val="5"/>
                        </a:spcBef>
                        <a:buNone/>
                      </a:pPr>
                      <a:r>
                        <a:rPr lang="en-IN" sz="1200" dirty="0">
                          <a:solidFill>
                            <a:schemeClr val="tx1"/>
                          </a:solidFill>
                          <a:effectLst/>
                          <a:latin typeface="Arial" panose="020B0604020202020204" pitchFamily="34" charset="0"/>
                          <a:ea typeface="Arial" panose="020B0604020202020204" pitchFamily="34" charset="0"/>
                        </a:rPr>
                        <a:t>26g</a:t>
                      </a:r>
                      <a:endParaRPr lang="en-IN" sz="1100" dirty="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8678909"/>
                  </a:ext>
                </a:extLst>
              </a:tr>
              <a:tr h="271801">
                <a:tc>
                  <a:txBody>
                    <a:bodyPr/>
                    <a:lstStyle/>
                    <a:p>
                      <a:pPr marL="67945">
                        <a:buNone/>
                      </a:pPr>
                      <a:r>
                        <a:rPr lang="en-IN" sz="1200">
                          <a:solidFill>
                            <a:schemeClr val="tx1"/>
                          </a:solidFill>
                          <a:effectLst/>
                          <a:latin typeface="Arial" panose="020B0604020202020204" pitchFamily="34" charset="0"/>
                          <a:ea typeface="Arial" panose="020B0604020202020204" pitchFamily="34" charset="0"/>
                        </a:rPr>
                        <a:t>Length (mm)</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buNone/>
                      </a:pPr>
                      <a:r>
                        <a:rPr lang="en-IN" sz="1200">
                          <a:solidFill>
                            <a:schemeClr val="tx1"/>
                          </a:solidFill>
                          <a:effectLst/>
                          <a:latin typeface="Arial" panose="020B0604020202020204" pitchFamily="34" charset="0"/>
                          <a:ea typeface="Arial" panose="020B0604020202020204" pitchFamily="34" charset="0"/>
                        </a:rPr>
                        <a:t>68 mm</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3620231"/>
                  </a:ext>
                </a:extLst>
              </a:tr>
              <a:tr h="271801">
                <a:tc>
                  <a:txBody>
                    <a:bodyPr/>
                    <a:lstStyle/>
                    <a:p>
                      <a:pPr marL="67945">
                        <a:buNone/>
                      </a:pPr>
                      <a:r>
                        <a:rPr lang="en-IN" sz="1200">
                          <a:solidFill>
                            <a:schemeClr val="tx1"/>
                          </a:solidFill>
                          <a:effectLst/>
                          <a:latin typeface="Arial" panose="020B0604020202020204" pitchFamily="34" charset="0"/>
                          <a:ea typeface="Arial" panose="020B0604020202020204" pitchFamily="34" charset="0"/>
                        </a:rPr>
                        <a:t>Width (mm)</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buNone/>
                      </a:pPr>
                      <a:r>
                        <a:rPr lang="en-IN" sz="1200">
                          <a:solidFill>
                            <a:schemeClr val="tx1"/>
                          </a:solidFill>
                          <a:effectLst/>
                          <a:latin typeface="Arial" panose="020B0604020202020204" pitchFamily="34" charset="0"/>
                          <a:ea typeface="Arial" panose="020B0604020202020204" pitchFamily="34" charset="0"/>
                        </a:rPr>
                        <a:t>25 mm</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7857746"/>
                  </a:ext>
                </a:extLst>
              </a:tr>
              <a:tr h="271801">
                <a:tc>
                  <a:txBody>
                    <a:bodyPr/>
                    <a:lstStyle/>
                    <a:p>
                      <a:pPr marL="67945">
                        <a:buNone/>
                      </a:pPr>
                      <a:r>
                        <a:rPr lang="en-IN" sz="1200">
                          <a:solidFill>
                            <a:schemeClr val="tx1"/>
                          </a:solidFill>
                          <a:effectLst/>
                          <a:latin typeface="Arial" panose="020B0604020202020204" pitchFamily="34" charset="0"/>
                          <a:ea typeface="Arial" panose="020B0604020202020204" pitchFamily="34" charset="0"/>
                        </a:rPr>
                        <a:t>Height (mm)</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buNone/>
                      </a:pPr>
                      <a:r>
                        <a:rPr lang="en-IN" sz="1200" dirty="0">
                          <a:solidFill>
                            <a:schemeClr val="tx1"/>
                          </a:solidFill>
                          <a:effectLst/>
                          <a:latin typeface="Arial" panose="020B0604020202020204" pitchFamily="34" charset="0"/>
                          <a:ea typeface="Arial" panose="020B0604020202020204" pitchFamily="34" charset="0"/>
                        </a:rPr>
                        <a:t>8.7 mm</a:t>
                      </a:r>
                      <a:endParaRPr lang="en-IN" sz="1100" dirty="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7793637"/>
                  </a:ext>
                </a:extLst>
              </a:tr>
            </a:tbl>
          </a:graphicData>
        </a:graphic>
      </p:graphicFrame>
      <p:sp>
        <p:nvSpPr>
          <p:cNvPr id="14" name="Rectangle 13">
            <a:extLst>
              <a:ext uri="{FF2B5EF4-FFF2-40B4-BE49-F238E27FC236}">
                <a16:creationId xmlns:a16="http://schemas.microsoft.com/office/drawing/2014/main" id="{892914B4-147F-7928-FEBE-94E2BB5B0953}"/>
              </a:ext>
            </a:extLst>
          </p:cNvPr>
          <p:cNvSpPr/>
          <p:nvPr/>
        </p:nvSpPr>
        <p:spPr>
          <a:xfrm>
            <a:off x="0" y="212655"/>
            <a:ext cx="9611833" cy="741600"/>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700"/>
              </a:spcAft>
            </a:pPr>
            <a:r>
              <a:rPr lang="en-US" sz="4400" b="1" dirty="0">
                <a:latin typeface="Times New Roman" panose="02020603050405020304" pitchFamily="18" charset="0"/>
                <a:cs typeface="Times New Roman" panose="02020603050405020304" pitchFamily="18" charset="0"/>
              </a:rPr>
              <a:t>   PROPULSION SYSTEM:</a:t>
            </a:r>
          </a:p>
        </p:txBody>
      </p:sp>
    </p:spTree>
    <p:extLst>
      <p:ext uri="{BB962C8B-B14F-4D97-AF65-F5344CB8AC3E}">
        <p14:creationId xmlns:p14="http://schemas.microsoft.com/office/powerpoint/2010/main" val="1727346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83FC3-0010-3270-B9FC-312FAD46697E}"/>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3D6356BC-35C0-3065-2B35-51E8D1A3A818}"/>
              </a:ext>
            </a:extLst>
          </p:cNvPr>
          <p:cNvPicPr>
            <a:picLocks noChangeAspect="1"/>
          </p:cNvPicPr>
          <p:nvPr/>
        </p:nvPicPr>
        <p:blipFill>
          <a:blip r:embed="rId3">
            <a:clrChange>
              <a:clrFrom>
                <a:srgbClr val="071002"/>
              </a:clrFrom>
              <a:clrTo>
                <a:srgbClr val="071002">
                  <a:alpha val="0"/>
                </a:srgbClr>
              </a:clrTo>
            </a:clrChange>
            <a:extLst>
              <a:ext uri="{BEBA8EAE-BF5A-486C-A8C5-ECC9F3942E4B}">
                <a14:imgProps xmlns:a14="http://schemas.microsoft.com/office/drawing/2010/main">
                  <a14:imgLayer r:embed="rId4">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sp>
        <p:nvSpPr>
          <p:cNvPr id="4" name="Rectangle 3">
            <a:extLst>
              <a:ext uri="{FF2B5EF4-FFF2-40B4-BE49-F238E27FC236}">
                <a16:creationId xmlns:a16="http://schemas.microsoft.com/office/drawing/2014/main" id="{4CA4905F-C5BD-3111-EC2B-5575E5597B26}"/>
              </a:ext>
            </a:extLst>
          </p:cNvPr>
          <p:cNvSpPr/>
          <p:nvPr/>
        </p:nvSpPr>
        <p:spPr>
          <a:xfrm>
            <a:off x="1" y="401452"/>
            <a:ext cx="3276599" cy="743585"/>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700"/>
              </a:spcAft>
            </a:pPr>
            <a:r>
              <a:rPr lang="en-US" sz="3600" b="1" dirty="0">
                <a:latin typeface="Times New Roman" panose="02020603050405020304" pitchFamily="18" charset="0"/>
                <a:cs typeface="Times New Roman" panose="02020603050405020304" pitchFamily="18" charset="0"/>
              </a:rPr>
              <a:t> UAS SIZING</a:t>
            </a:r>
          </a:p>
        </p:txBody>
      </p:sp>
      <p:grpSp>
        <p:nvGrpSpPr>
          <p:cNvPr id="22" name="Group 21">
            <a:extLst>
              <a:ext uri="{FF2B5EF4-FFF2-40B4-BE49-F238E27FC236}">
                <a16:creationId xmlns:a16="http://schemas.microsoft.com/office/drawing/2014/main" id="{6D6F7607-440A-3253-6146-24C5EB5F7720}"/>
              </a:ext>
            </a:extLst>
          </p:cNvPr>
          <p:cNvGrpSpPr/>
          <p:nvPr/>
        </p:nvGrpSpPr>
        <p:grpSpPr>
          <a:xfrm>
            <a:off x="160021" y="1307256"/>
            <a:ext cx="12031979" cy="2735242"/>
            <a:chOff x="160021" y="1307256"/>
            <a:chExt cx="12031979" cy="2735242"/>
          </a:xfrm>
        </p:grpSpPr>
        <p:sp>
          <p:nvSpPr>
            <p:cNvPr id="2" name="Rectangle: Rounded Corners 1">
              <a:extLst>
                <a:ext uri="{FF2B5EF4-FFF2-40B4-BE49-F238E27FC236}">
                  <a16:creationId xmlns:a16="http://schemas.microsoft.com/office/drawing/2014/main" id="{DBE4524B-7D09-15DC-0B45-47EEE120D2E8}"/>
                </a:ext>
              </a:extLst>
            </p:cNvPr>
            <p:cNvSpPr/>
            <p:nvPr/>
          </p:nvSpPr>
          <p:spPr>
            <a:xfrm>
              <a:off x="160021" y="1307256"/>
              <a:ext cx="5935979" cy="2735242"/>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3C019287-2D99-4786-9641-923BAA7FDE0F}"/>
                </a:ext>
              </a:extLst>
            </p:cNvPr>
            <p:cNvSpPr txBox="1"/>
            <p:nvPr/>
          </p:nvSpPr>
          <p:spPr>
            <a:xfrm>
              <a:off x="5600700" y="2006461"/>
              <a:ext cx="6591300" cy="981231"/>
            </a:xfrm>
            <a:prstGeom prst="rect">
              <a:avLst/>
            </a:prstGeom>
            <a:noFill/>
          </p:spPr>
          <p:txBody>
            <a:bodyPr wrap="square">
              <a:spAutoFit/>
            </a:bodyPr>
            <a:lstStyle/>
            <a:p>
              <a:pPr lvl="2">
                <a:spcBef>
                  <a:spcPts val="810"/>
                </a:spcBef>
                <a:buClr>
                  <a:srgbClr val="0E4660"/>
                </a:buClr>
                <a:buSzPts val="1600"/>
                <a:tabLst>
                  <a:tab pos="610870" algn="l"/>
                </a:tabLst>
              </a:pPr>
              <a:r>
                <a:rPr lang="en-US" sz="1600" b="1" spc="-10" dirty="0">
                  <a:effectLst/>
                  <a:latin typeface="Arial MT"/>
                  <a:ea typeface="Arial MT"/>
                  <a:cs typeface="Arial MT"/>
                </a:rPr>
                <a:t>Wheelbase</a:t>
              </a:r>
              <a:endParaRPr lang="en-IN" sz="1600" b="1" spc="0" dirty="0">
                <a:effectLst/>
                <a:latin typeface="Arial MT"/>
                <a:ea typeface="Arial MT"/>
                <a:cs typeface="Arial MT"/>
              </a:endParaRPr>
            </a:p>
            <a:p>
              <a:pPr marL="1019175" marR="337185" lvl="2" algn="just">
                <a:lnSpc>
                  <a:spcPct val="107000"/>
                </a:lnSpc>
                <a:spcBef>
                  <a:spcPts val="530"/>
                </a:spcBef>
              </a:pPr>
              <a:r>
                <a:rPr lang="en-US" sz="1200" dirty="0">
                  <a:effectLst/>
                  <a:latin typeface="Arial MT"/>
                  <a:ea typeface="Arial MT"/>
                  <a:cs typeface="Arial MT"/>
                </a:rPr>
                <a:t>The wheelbase is the distance between opposite motors and defines the drone's overall size.</a:t>
              </a:r>
              <a:r>
                <a:rPr lang="en-US" sz="1200" spc="-30" dirty="0">
                  <a:effectLst/>
                  <a:latin typeface="Arial MT"/>
                  <a:ea typeface="Arial MT"/>
                  <a:cs typeface="Arial MT"/>
                </a:rPr>
                <a:t> </a:t>
              </a:r>
              <a:r>
                <a:rPr lang="en-US" sz="1200" dirty="0">
                  <a:effectLst/>
                  <a:latin typeface="Arial MT"/>
                  <a:ea typeface="Arial MT"/>
                  <a:cs typeface="Arial MT"/>
                </a:rPr>
                <a:t>For</a:t>
              </a:r>
              <a:r>
                <a:rPr lang="en-US" sz="1200" spc="-30" dirty="0">
                  <a:effectLst/>
                  <a:latin typeface="Arial MT"/>
                  <a:ea typeface="Arial MT"/>
                  <a:cs typeface="Arial MT"/>
                </a:rPr>
                <a:t> </a:t>
              </a:r>
              <a:r>
                <a:rPr lang="en-US" sz="1200" dirty="0">
                  <a:effectLst/>
                  <a:latin typeface="Arial MT"/>
                  <a:ea typeface="Arial MT"/>
                  <a:cs typeface="Arial MT"/>
                </a:rPr>
                <a:t>our</a:t>
              </a:r>
              <a:r>
                <a:rPr lang="en-US" sz="1200" spc="-30" dirty="0">
                  <a:effectLst/>
                  <a:latin typeface="Arial MT"/>
                  <a:ea typeface="Arial MT"/>
                  <a:cs typeface="Arial MT"/>
                </a:rPr>
                <a:t> </a:t>
              </a:r>
              <a:r>
                <a:rPr lang="en-US" sz="1200" dirty="0">
                  <a:effectLst/>
                  <a:latin typeface="Arial MT"/>
                  <a:ea typeface="Arial MT"/>
                  <a:cs typeface="Arial MT"/>
                </a:rPr>
                <a:t>UAV,</a:t>
              </a:r>
              <a:r>
                <a:rPr lang="en-US" sz="1200" spc="-30" dirty="0">
                  <a:effectLst/>
                  <a:latin typeface="Arial MT"/>
                  <a:ea typeface="Arial MT"/>
                  <a:cs typeface="Arial MT"/>
                </a:rPr>
                <a:t> </a:t>
              </a:r>
              <a:r>
                <a:rPr lang="en-US" sz="1200" dirty="0">
                  <a:effectLst/>
                  <a:latin typeface="Arial MT"/>
                  <a:ea typeface="Arial MT"/>
                  <a:cs typeface="Arial MT"/>
                </a:rPr>
                <a:t>a</a:t>
              </a:r>
              <a:r>
                <a:rPr lang="en-US" sz="1200" spc="-20" dirty="0">
                  <a:effectLst/>
                  <a:latin typeface="Arial MT"/>
                  <a:ea typeface="Arial MT"/>
                  <a:cs typeface="Arial MT"/>
                </a:rPr>
                <a:t> </a:t>
              </a:r>
              <a:r>
                <a:rPr lang="en-US" sz="1200" b="1" dirty="0">
                  <a:effectLst/>
                  <a:latin typeface="Arial" panose="020B0604020202020204" pitchFamily="34" charset="0"/>
                  <a:ea typeface="Arial MT"/>
                  <a:cs typeface="Arial MT"/>
                </a:rPr>
                <a:t>~450</a:t>
              </a:r>
              <a:r>
                <a:rPr lang="en-US" sz="1200" b="1" spc="-30" dirty="0">
                  <a:effectLst/>
                  <a:latin typeface="Arial" panose="020B0604020202020204" pitchFamily="34" charset="0"/>
                  <a:ea typeface="Arial MT"/>
                  <a:cs typeface="Arial MT"/>
                </a:rPr>
                <a:t> </a:t>
              </a:r>
              <a:r>
                <a:rPr lang="en-US" sz="1200" b="1" dirty="0">
                  <a:effectLst/>
                  <a:latin typeface="Arial" panose="020B0604020202020204" pitchFamily="34" charset="0"/>
                  <a:ea typeface="Arial MT"/>
                  <a:cs typeface="Arial MT"/>
                </a:rPr>
                <a:t>mm</a:t>
              </a:r>
              <a:r>
                <a:rPr lang="en-US" sz="1200" b="1" spc="-20" dirty="0">
                  <a:effectLst/>
                  <a:latin typeface="Arial" panose="020B0604020202020204" pitchFamily="34" charset="0"/>
                  <a:ea typeface="Arial MT"/>
                  <a:cs typeface="Arial MT"/>
                </a:rPr>
                <a:t> </a:t>
              </a:r>
              <a:r>
                <a:rPr lang="en-US" sz="1200" dirty="0">
                  <a:effectLst/>
                  <a:latin typeface="Arial MT"/>
                  <a:ea typeface="Arial MT"/>
                  <a:cs typeface="Arial MT"/>
                </a:rPr>
                <a:t>wheelbase</a:t>
              </a:r>
              <a:r>
                <a:rPr lang="en-US" sz="1200" spc="-30" dirty="0">
                  <a:effectLst/>
                  <a:latin typeface="Arial MT"/>
                  <a:ea typeface="Arial MT"/>
                  <a:cs typeface="Arial MT"/>
                </a:rPr>
                <a:t> </a:t>
              </a:r>
              <a:r>
                <a:rPr lang="en-US" sz="1200" dirty="0">
                  <a:effectLst/>
                  <a:latin typeface="Arial MT"/>
                  <a:ea typeface="Arial MT"/>
                  <a:cs typeface="Arial MT"/>
                </a:rPr>
                <a:t>offers</a:t>
              </a:r>
              <a:r>
                <a:rPr lang="en-US" sz="1200" spc="-30" dirty="0">
                  <a:effectLst/>
                  <a:latin typeface="Arial MT"/>
                  <a:ea typeface="Arial MT"/>
                  <a:cs typeface="Arial MT"/>
                </a:rPr>
                <a:t> </a:t>
              </a:r>
              <a:r>
                <a:rPr lang="en-US" sz="1200" dirty="0">
                  <a:effectLst/>
                  <a:latin typeface="Arial MT"/>
                  <a:ea typeface="Arial MT"/>
                  <a:cs typeface="Arial MT"/>
                </a:rPr>
                <a:t>a</a:t>
              </a:r>
              <a:r>
                <a:rPr lang="en-US" sz="1200" spc="-30" dirty="0">
                  <a:effectLst/>
                  <a:latin typeface="Arial MT"/>
                  <a:ea typeface="Arial MT"/>
                  <a:cs typeface="Arial MT"/>
                </a:rPr>
                <a:t> </a:t>
              </a:r>
              <a:r>
                <a:rPr lang="en-US" sz="1200" dirty="0">
                  <a:effectLst/>
                  <a:latin typeface="Arial MT"/>
                  <a:ea typeface="Arial MT"/>
                  <a:cs typeface="Arial MT"/>
                </a:rPr>
                <a:t>balanced</a:t>
              </a:r>
              <a:r>
                <a:rPr lang="en-US" sz="1200" spc="-40" dirty="0">
                  <a:effectLst/>
                  <a:latin typeface="Arial MT"/>
                  <a:ea typeface="Arial MT"/>
                  <a:cs typeface="Arial MT"/>
                </a:rPr>
                <a:t> </a:t>
              </a:r>
              <a:r>
                <a:rPr lang="en-US" sz="1200" dirty="0">
                  <a:effectLst/>
                  <a:latin typeface="Arial MT"/>
                  <a:ea typeface="Arial MT"/>
                  <a:cs typeface="Arial MT"/>
                </a:rPr>
                <a:t>platform</a:t>
              </a:r>
              <a:r>
                <a:rPr lang="en-US" sz="1200" spc="-40" dirty="0">
                  <a:effectLst/>
                  <a:latin typeface="Arial MT"/>
                  <a:ea typeface="Arial MT"/>
                  <a:cs typeface="Arial MT"/>
                </a:rPr>
                <a:t> </a:t>
              </a:r>
              <a:r>
                <a:rPr lang="en-US" sz="1200" dirty="0">
                  <a:effectLst/>
                  <a:latin typeface="Arial MT"/>
                  <a:ea typeface="Arial MT"/>
                  <a:cs typeface="Arial MT"/>
                </a:rPr>
                <a:t>for</a:t>
              </a:r>
              <a:r>
                <a:rPr lang="en-US" sz="1200" spc="-30" dirty="0">
                  <a:effectLst/>
                  <a:latin typeface="Arial MT"/>
                  <a:ea typeface="Arial MT"/>
                  <a:cs typeface="Arial MT"/>
                </a:rPr>
                <a:t> </a:t>
              </a:r>
              <a:r>
                <a:rPr lang="en-US" sz="1200" dirty="0">
                  <a:effectLst/>
                  <a:latin typeface="Arial MT"/>
                  <a:ea typeface="Arial MT"/>
                  <a:cs typeface="Arial MT"/>
                </a:rPr>
                <a:t>stable</a:t>
              </a:r>
              <a:r>
                <a:rPr lang="en-US" sz="1200" spc="-30" dirty="0">
                  <a:effectLst/>
                  <a:latin typeface="Arial MT"/>
                  <a:ea typeface="Arial MT"/>
                  <a:cs typeface="Arial MT"/>
                </a:rPr>
                <a:t> </a:t>
              </a:r>
              <a:r>
                <a:rPr lang="en-US" sz="1200" dirty="0">
                  <a:effectLst/>
                  <a:latin typeface="Arial MT"/>
                  <a:ea typeface="Arial MT"/>
                  <a:cs typeface="Arial MT"/>
                </a:rPr>
                <a:t>flight</a:t>
              </a:r>
              <a:r>
                <a:rPr lang="en-US" sz="1200" spc="-30" dirty="0">
                  <a:effectLst/>
                  <a:latin typeface="Arial MT"/>
                  <a:ea typeface="Arial MT"/>
                  <a:cs typeface="Arial MT"/>
                </a:rPr>
                <a:t> </a:t>
              </a:r>
              <a:r>
                <a:rPr lang="en-US" sz="1200" dirty="0">
                  <a:effectLst/>
                  <a:latin typeface="Arial MT"/>
                  <a:ea typeface="Arial MT"/>
                  <a:cs typeface="Arial MT"/>
                </a:rPr>
                <a:t>and efficient thrust.</a:t>
              </a:r>
              <a:endParaRPr lang="en-IN" sz="1200" dirty="0">
                <a:effectLst/>
                <a:latin typeface="Arial MT"/>
                <a:ea typeface="Arial MT"/>
                <a:cs typeface="Arial MT"/>
              </a:endParaRPr>
            </a:p>
          </p:txBody>
        </p:sp>
      </p:grpSp>
      <p:grpSp>
        <p:nvGrpSpPr>
          <p:cNvPr id="23" name="Group 22">
            <a:extLst>
              <a:ext uri="{FF2B5EF4-FFF2-40B4-BE49-F238E27FC236}">
                <a16:creationId xmlns:a16="http://schemas.microsoft.com/office/drawing/2014/main" id="{7CFC58D9-DD15-DEA4-4963-0B9B21062553}"/>
              </a:ext>
            </a:extLst>
          </p:cNvPr>
          <p:cNvGrpSpPr/>
          <p:nvPr/>
        </p:nvGrpSpPr>
        <p:grpSpPr>
          <a:xfrm>
            <a:off x="-99047" y="4183123"/>
            <a:ext cx="12131026" cy="2735242"/>
            <a:chOff x="-99047" y="4183123"/>
            <a:chExt cx="12131026" cy="2735242"/>
          </a:xfrm>
        </p:grpSpPr>
        <p:sp>
          <p:nvSpPr>
            <p:cNvPr id="12" name="Rectangle: Rounded Corners 11">
              <a:extLst>
                <a:ext uri="{FF2B5EF4-FFF2-40B4-BE49-F238E27FC236}">
                  <a16:creationId xmlns:a16="http://schemas.microsoft.com/office/drawing/2014/main" id="{52A89F8E-E9F8-463B-8E6F-64E5C8867F62}"/>
                </a:ext>
              </a:extLst>
            </p:cNvPr>
            <p:cNvSpPr/>
            <p:nvPr/>
          </p:nvSpPr>
          <p:spPr>
            <a:xfrm>
              <a:off x="6096000" y="4183123"/>
              <a:ext cx="5935979" cy="2735242"/>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1E317D06-74A5-2064-E673-423E1EFA5834}"/>
                </a:ext>
              </a:extLst>
            </p:cNvPr>
            <p:cNvSpPr txBox="1"/>
            <p:nvPr/>
          </p:nvSpPr>
          <p:spPr>
            <a:xfrm>
              <a:off x="-99047" y="4569512"/>
              <a:ext cx="5600701" cy="981231"/>
            </a:xfrm>
            <a:prstGeom prst="rect">
              <a:avLst/>
            </a:prstGeom>
            <a:noFill/>
          </p:spPr>
          <p:txBody>
            <a:bodyPr wrap="square">
              <a:spAutoFit/>
            </a:bodyPr>
            <a:lstStyle/>
            <a:p>
              <a:pPr lvl="2">
                <a:spcBef>
                  <a:spcPts val="280"/>
                </a:spcBef>
                <a:buClr>
                  <a:srgbClr val="0E4660"/>
                </a:buClr>
                <a:buSzPts val="1600"/>
                <a:tabLst>
                  <a:tab pos="610870" algn="l"/>
                </a:tabLst>
              </a:pPr>
              <a:r>
                <a:rPr lang="en-US" sz="1600" b="1" spc="0" dirty="0">
                  <a:effectLst/>
                  <a:latin typeface="Arial MT"/>
                  <a:ea typeface="Arial MT"/>
                  <a:cs typeface="Arial MT"/>
                </a:rPr>
                <a:t>Rotor</a:t>
              </a:r>
              <a:r>
                <a:rPr lang="en-US" sz="1600" b="1" spc="-115" dirty="0">
                  <a:effectLst/>
                  <a:latin typeface="Arial MT"/>
                  <a:ea typeface="Arial MT"/>
                  <a:cs typeface="Arial MT"/>
                </a:rPr>
                <a:t> </a:t>
              </a:r>
              <a:r>
                <a:rPr lang="en-US" sz="1600" b="1" spc="0" dirty="0">
                  <a:effectLst/>
                  <a:latin typeface="Arial MT"/>
                  <a:ea typeface="Arial MT"/>
                  <a:cs typeface="Arial MT"/>
                </a:rPr>
                <a:t>Arm</a:t>
              </a:r>
              <a:r>
                <a:rPr lang="en-US" sz="1600" b="1" spc="-40" dirty="0">
                  <a:effectLst/>
                  <a:latin typeface="Arial MT"/>
                  <a:ea typeface="Arial MT"/>
                  <a:cs typeface="Arial MT"/>
                </a:rPr>
                <a:t> </a:t>
              </a:r>
              <a:r>
                <a:rPr lang="en-US" sz="1600" b="1" spc="-10" dirty="0">
                  <a:effectLst/>
                  <a:latin typeface="Arial MT"/>
                  <a:ea typeface="Arial MT"/>
                  <a:cs typeface="Arial MT"/>
                </a:rPr>
                <a:t>Length</a:t>
              </a:r>
              <a:endParaRPr lang="en-IN" sz="1600" b="1" spc="0" dirty="0">
                <a:effectLst/>
                <a:latin typeface="Arial MT"/>
                <a:ea typeface="Arial MT"/>
                <a:cs typeface="Arial MT"/>
              </a:endParaRPr>
            </a:p>
            <a:p>
              <a:pPr marL="1019175" lvl="2">
                <a:lnSpc>
                  <a:spcPct val="107000"/>
                </a:lnSpc>
                <a:spcBef>
                  <a:spcPts val="540"/>
                </a:spcBef>
              </a:pPr>
              <a:r>
                <a:rPr lang="en-US" sz="1200" dirty="0">
                  <a:effectLst/>
                  <a:latin typeface="Arial MT"/>
                  <a:ea typeface="Arial MT"/>
                  <a:cs typeface="Arial MT"/>
                </a:rPr>
                <a:t>The rotor</a:t>
              </a:r>
              <a:r>
                <a:rPr lang="en-US" sz="1200" spc="-10" dirty="0">
                  <a:effectLst/>
                  <a:latin typeface="Arial MT"/>
                  <a:ea typeface="Arial MT"/>
                  <a:cs typeface="Arial MT"/>
                </a:rPr>
                <a:t> </a:t>
              </a:r>
              <a:r>
                <a:rPr lang="en-US" sz="1200" dirty="0">
                  <a:effectLst/>
                  <a:latin typeface="Arial MT"/>
                  <a:ea typeface="Arial MT"/>
                  <a:cs typeface="Arial MT"/>
                </a:rPr>
                <a:t>arm</a:t>
              </a:r>
              <a:r>
                <a:rPr lang="en-US" sz="1200" spc="-10" dirty="0">
                  <a:effectLst/>
                  <a:latin typeface="Arial MT"/>
                  <a:ea typeface="Arial MT"/>
                  <a:cs typeface="Arial MT"/>
                </a:rPr>
                <a:t> </a:t>
              </a:r>
              <a:r>
                <a:rPr lang="en-US" sz="1200" dirty="0">
                  <a:effectLst/>
                  <a:latin typeface="Arial MT"/>
                  <a:ea typeface="Arial MT"/>
                  <a:cs typeface="Arial MT"/>
                </a:rPr>
                <a:t>length of</a:t>
              </a:r>
              <a:r>
                <a:rPr lang="en-US" sz="1200" spc="-15" dirty="0">
                  <a:effectLst/>
                  <a:latin typeface="Arial MT"/>
                  <a:ea typeface="Arial MT"/>
                  <a:cs typeface="Arial MT"/>
                </a:rPr>
                <a:t> </a:t>
              </a:r>
              <a:r>
                <a:rPr lang="en-US" sz="1200" dirty="0">
                  <a:effectLst/>
                  <a:latin typeface="Arial MT"/>
                  <a:ea typeface="Arial MT"/>
                  <a:cs typeface="Arial MT"/>
                </a:rPr>
                <a:t>our</a:t>
              </a:r>
              <a:r>
                <a:rPr lang="en-US" sz="1200" spc="-10" dirty="0">
                  <a:effectLst/>
                  <a:latin typeface="Arial MT"/>
                  <a:ea typeface="Arial MT"/>
                  <a:cs typeface="Arial MT"/>
                </a:rPr>
                <a:t> </a:t>
              </a:r>
              <a:r>
                <a:rPr lang="en-US" sz="1200" dirty="0">
                  <a:effectLst/>
                  <a:latin typeface="Arial MT"/>
                  <a:ea typeface="Arial MT"/>
                  <a:cs typeface="Arial MT"/>
                </a:rPr>
                <a:t>UAV is </a:t>
              </a:r>
              <a:r>
                <a:rPr lang="en-US" sz="1200" b="1" dirty="0">
                  <a:effectLst/>
                  <a:latin typeface="Arial" panose="020B0604020202020204" pitchFamily="34" charset="0"/>
                  <a:ea typeface="Arial MT"/>
                  <a:cs typeface="Arial MT"/>
                </a:rPr>
                <a:t>~190 mm</a:t>
              </a:r>
              <a:r>
                <a:rPr lang="en-US" sz="1200" dirty="0">
                  <a:effectLst/>
                  <a:latin typeface="Arial MT"/>
                  <a:ea typeface="Arial MT"/>
                  <a:cs typeface="Arial MT"/>
                </a:rPr>
                <a:t>,</a:t>
              </a:r>
              <a:r>
                <a:rPr lang="en-US" sz="1200" spc="-15" dirty="0">
                  <a:effectLst/>
                  <a:latin typeface="Arial MT"/>
                  <a:ea typeface="Arial MT"/>
                  <a:cs typeface="Arial MT"/>
                </a:rPr>
                <a:t> </a:t>
              </a:r>
              <a:r>
                <a:rPr lang="en-US" sz="1200" dirty="0">
                  <a:effectLst/>
                  <a:latin typeface="Arial MT"/>
                  <a:ea typeface="Arial MT"/>
                  <a:cs typeface="Arial MT"/>
                </a:rPr>
                <a:t>providing the necessary</a:t>
              </a:r>
              <a:r>
                <a:rPr lang="en-US" sz="1200" spc="-10" dirty="0">
                  <a:effectLst/>
                  <a:latin typeface="Arial MT"/>
                  <a:ea typeface="Arial MT"/>
                  <a:cs typeface="Arial MT"/>
                </a:rPr>
                <a:t> </a:t>
              </a:r>
              <a:r>
                <a:rPr lang="en-US" sz="1200" dirty="0">
                  <a:effectLst/>
                  <a:latin typeface="Arial MT"/>
                  <a:ea typeface="Arial MT"/>
                  <a:cs typeface="Arial MT"/>
                </a:rPr>
                <a:t>clearance for</a:t>
              </a:r>
              <a:r>
                <a:rPr lang="en-US" sz="1200" spc="-10" dirty="0">
                  <a:effectLst/>
                  <a:latin typeface="Arial MT"/>
                  <a:ea typeface="Arial MT"/>
                  <a:cs typeface="Arial MT"/>
                </a:rPr>
                <a:t> </a:t>
              </a:r>
              <a:r>
                <a:rPr lang="en-US" sz="1200" dirty="0">
                  <a:effectLst/>
                  <a:latin typeface="Arial MT"/>
                  <a:ea typeface="Arial MT"/>
                  <a:cs typeface="Arial MT"/>
                </a:rPr>
                <a:t>optimal propeller size and efficient thrust generation.</a:t>
              </a:r>
              <a:endParaRPr lang="en-IN" sz="1200" dirty="0">
                <a:effectLst/>
                <a:latin typeface="Arial MT"/>
                <a:ea typeface="Arial MT"/>
                <a:cs typeface="Arial MT"/>
              </a:endParaRPr>
            </a:p>
          </p:txBody>
        </p:sp>
      </p:grpSp>
    </p:spTree>
    <p:custDataLst>
      <p:tags r:id="rId1"/>
    </p:custDataLst>
    <p:extLst>
      <p:ext uri="{BB962C8B-B14F-4D97-AF65-F5344CB8AC3E}">
        <p14:creationId xmlns:p14="http://schemas.microsoft.com/office/powerpoint/2010/main" val="1875895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1000"/>
                                        <p:tgtEl>
                                          <p:spTgt spid="23"/>
                                        </p:tgtEl>
                                      </p:cBhvr>
                                    </p:animEffect>
                                    <p:anim calcmode="lin" valueType="num">
                                      <p:cBhvr>
                                        <p:cTn id="14" dur="1000" fill="hold"/>
                                        <p:tgtEl>
                                          <p:spTgt spid="23"/>
                                        </p:tgtEl>
                                        <p:attrNameLst>
                                          <p:attrName>ppt_x</p:attrName>
                                        </p:attrNameLst>
                                      </p:cBhvr>
                                      <p:tavLst>
                                        <p:tav tm="0">
                                          <p:val>
                                            <p:strVal val="#ppt_x"/>
                                          </p:val>
                                        </p:tav>
                                        <p:tav tm="100000">
                                          <p:val>
                                            <p:strVal val="#ppt_x"/>
                                          </p:val>
                                        </p:tav>
                                      </p:tavLst>
                                    </p:anim>
                                    <p:anim calcmode="lin" valueType="num">
                                      <p:cBhvr>
                                        <p:cTn id="15"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48B1A-09AE-18D1-75AC-637939B2C1ED}"/>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542424F6-B04E-788D-0359-9AD723E0683E}"/>
              </a:ext>
            </a:extLst>
          </p:cNvPr>
          <p:cNvPicPr>
            <a:picLocks noChangeAspect="1"/>
          </p:cNvPicPr>
          <p:nvPr/>
        </p:nvPicPr>
        <p:blipFill>
          <a:blip r:embed="rId3">
            <a:clrChange>
              <a:clrFrom>
                <a:srgbClr val="071002"/>
              </a:clrFrom>
              <a:clrTo>
                <a:srgbClr val="071002">
                  <a:alpha val="0"/>
                </a:srgbClr>
              </a:clrTo>
            </a:clrChange>
            <a:extLst>
              <a:ext uri="{BEBA8EAE-BF5A-486C-A8C5-ECC9F3942E4B}">
                <a14:imgProps xmlns:a14="http://schemas.microsoft.com/office/drawing/2010/main">
                  <a14:imgLayer r:embed="rId4">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sp>
        <p:nvSpPr>
          <p:cNvPr id="4" name="Rectangle 3">
            <a:extLst>
              <a:ext uri="{FF2B5EF4-FFF2-40B4-BE49-F238E27FC236}">
                <a16:creationId xmlns:a16="http://schemas.microsoft.com/office/drawing/2014/main" id="{E53A8869-8478-7FCE-FFA3-1DF04E974404}"/>
              </a:ext>
            </a:extLst>
          </p:cNvPr>
          <p:cNvSpPr/>
          <p:nvPr/>
        </p:nvSpPr>
        <p:spPr>
          <a:xfrm>
            <a:off x="1" y="401452"/>
            <a:ext cx="3276599" cy="743585"/>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700"/>
              </a:spcAft>
            </a:pPr>
            <a:r>
              <a:rPr lang="en-US" sz="3600" b="1" dirty="0">
                <a:latin typeface="Times New Roman" panose="02020603050405020304" pitchFamily="18" charset="0"/>
                <a:cs typeface="Times New Roman" panose="02020603050405020304" pitchFamily="18" charset="0"/>
              </a:rPr>
              <a:t> UAS SIZING</a:t>
            </a:r>
          </a:p>
        </p:txBody>
      </p:sp>
      <p:grpSp>
        <p:nvGrpSpPr>
          <p:cNvPr id="21" name="Group 20">
            <a:extLst>
              <a:ext uri="{FF2B5EF4-FFF2-40B4-BE49-F238E27FC236}">
                <a16:creationId xmlns:a16="http://schemas.microsoft.com/office/drawing/2014/main" id="{9B12C87F-61FA-848D-91C5-78B08A56D499}"/>
              </a:ext>
            </a:extLst>
          </p:cNvPr>
          <p:cNvGrpSpPr/>
          <p:nvPr/>
        </p:nvGrpSpPr>
        <p:grpSpPr>
          <a:xfrm>
            <a:off x="160021" y="1307256"/>
            <a:ext cx="9237979" cy="1802130"/>
            <a:chOff x="160021" y="1307256"/>
            <a:chExt cx="9237979" cy="1802130"/>
          </a:xfrm>
        </p:grpSpPr>
        <p:sp>
          <p:nvSpPr>
            <p:cNvPr id="2" name="Rectangle: Rounded Corners 1">
              <a:extLst>
                <a:ext uri="{FF2B5EF4-FFF2-40B4-BE49-F238E27FC236}">
                  <a16:creationId xmlns:a16="http://schemas.microsoft.com/office/drawing/2014/main" id="{EC5B34AF-B681-7BAD-B212-07188DED5C6E}"/>
                </a:ext>
              </a:extLst>
            </p:cNvPr>
            <p:cNvSpPr/>
            <p:nvPr/>
          </p:nvSpPr>
          <p:spPr>
            <a:xfrm>
              <a:off x="160021" y="1307256"/>
              <a:ext cx="3276599" cy="1802130"/>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E69C4A60-ECEB-37C2-5702-46513E91952E}"/>
                </a:ext>
              </a:extLst>
            </p:cNvPr>
            <p:cNvSpPr txBox="1"/>
            <p:nvPr/>
          </p:nvSpPr>
          <p:spPr>
            <a:xfrm>
              <a:off x="2794000" y="1659845"/>
              <a:ext cx="6604000" cy="969496"/>
            </a:xfrm>
            <a:prstGeom prst="rect">
              <a:avLst/>
            </a:prstGeom>
            <a:noFill/>
          </p:spPr>
          <p:txBody>
            <a:bodyPr wrap="square">
              <a:spAutoFit/>
            </a:bodyPr>
            <a:lstStyle/>
            <a:p>
              <a:pPr lvl="2">
                <a:spcBef>
                  <a:spcPts val="5"/>
                </a:spcBef>
                <a:buClr>
                  <a:srgbClr val="0E4660"/>
                </a:buClr>
                <a:buSzPts val="1600"/>
                <a:tabLst>
                  <a:tab pos="611505" algn="l"/>
                </a:tabLst>
              </a:pPr>
              <a:r>
                <a:rPr lang="en-US" sz="1600" b="1" spc="0" dirty="0">
                  <a:effectLst/>
                  <a:latin typeface="Arial MT"/>
                  <a:ea typeface="Arial MT"/>
                  <a:cs typeface="Arial MT"/>
                </a:rPr>
                <a:t>Hub</a:t>
              </a:r>
              <a:r>
                <a:rPr lang="en-US" sz="1600" b="1" spc="-45" dirty="0">
                  <a:effectLst/>
                  <a:latin typeface="Arial MT"/>
                  <a:ea typeface="Arial MT"/>
                  <a:cs typeface="Arial MT"/>
                </a:rPr>
                <a:t> </a:t>
              </a:r>
              <a:r>
                <a:rPr lang="en-US" sz="1600" b="1" spc="-20" dirty="0">
                  <a:effectLst/>
                  <a:latin typeface="Arial MT"/>
                  <a:ea typeface="Arial MT"/>
                  <a:cs typeface="Arial MT"/>
                </a:rPr>
                <a:t>Size</a:t>
              </a:r>
              <a:endParaRPr lang="en-IN" sz="1600" b="1" spc="0" dirty="0">
                <a:effectLst/>
                <a:latin typeface="Arial MT"/>
                <a:ea typeface="Arial MT"/>
                <a:cs typeface="Arial MT"/>
              </a:endParaRPr>
            </a:p>
            <a:p>
              <a:pPr marL="1019175" lvl="2">
                <a:spcBef>
                  <a:spcPts val="535"/>
                </a:spcBef>
              </a:pPr>
              <a:r>
                <a:rPr lang="en-US" sz="1200" dirty="0">
                  <a:effectLst/>
                  <a:latin typeface="Arial MT"/>
                  <a:ea typeface="Arial MT"/>
                  <a:cs typeface="Arial MT"/>
                </a:rPr>
                <a:t>The</a:t>
              </a:r>
              <a:r>
                <a:rPr lang="en-US" sz="1200" spc="45" dirty="0">
                  <a:effectLst/>
                  <a:latin typeface="Arial MT"/>
                  <a:ea typeface="Arial MT"/>
                  <a:cs typeface="Arial MT"/>
                </a:rPr>
                <a:t> </a:t>
              </a:r>
              <a:r>
                <a:rPr lang="en-US" sz="1200" dirty="0">
                  <a:effectLst/>
                  <a:latin typeface="Arial MT"/>
                  <a:ea typeface="Arial MT"/>
                  <a:cs typeface="Arial MT"/>
                </a:rPr>
                <a:t>drone’s</a:t>
              </a:r>
              <a:r>
                <a:rPr lang="en-US" sz="1200" spc="70" dirty="0">
                  <a:effectLst/>
                  <a:latin typeface="Arial MT"/>
                  <a:ea typeface="Arial MT"/>
                  <a:cs typeface="Arial MT"/>
                </a:rPr>
                <a:t> </a:t>
              </a:r>
              <a:r>
                <a:rPr lang="en-US" sz="1200" dirty="0">
                  <a:effectLst/>
                  <a:latin typeface="Arial MT"/>
                  <a:ea typeface="Arial MT"/>
                  <a:cs typeface="Arial MT"/>
                </a:rPr>
                <a:t>hub</a:t>
              </a:r>
              <a:r>
                <a:rPr lang="en-US" sz="1200" spc="55" dirty="0">
                  <a:effectLst/>
                  <a:latin typeface="Arial MT"/>
                  <a:ea typeface="Arial MT"/>
                  <a:cs typeface="Arial MT"/>
                </a:rPr>
                <a:t> </a:t>
              </a:r>
              <a:r>
                <a:rPr lang="en-US" sz="1200" dirty="0">
                  <a:effectLst/>
                  <a:latin typeface="Arial MT"/>
                  <a:ea typeface="Arial MT"/>
                  <a:cs typeface="Arial MT"/>
                </a:rPr>
                <a:t>size,</a:t>
              </a:r>
              <a:r>
                <a:rPr lang="en-US" sz="1200" spc="50" dirty="0">
                  <a:effectLst/>
                  <a:latin typeface="Arial MT"/>
                  <a:ea typeface="Arial MT"/>
                  <a:cs typeface="Arial MT"/>
                </a:rPr>
                <a:t> </a:t>
              </a:r>
              <a:r>
                <a:rPr lang="en-US" sz="1200" dirty="0">
                  <a:effectLst/>
                  <a:latin typeface="Arial MT"/>
                  <a:ea typeface="Arial MT"/>
                  <a:cs typeface="Arial MT"/>
                </a:rPr>
                <a:t>measured</a:t>
              </a:r>
              <a:r>
                <a:rPr lang="en-US" sz="1200" spc="55" dirty="0">
                  <a:effectLst/>
                  <a:latin typeface="Arial MT"/>
                  <a:ea typeface="Arial MT"/>
                  <a:cs typeface="Arial MT"/>
                </a:rPr>
                <a:t> </a:t>
              </a:r>
              <a:r>
                <a:rPr lang="en-US" sz="1200" dirty="0">
                  <a:effectLst/>
                  <a:latin typeface="Arial MT"/>
                  <a:ea typeface="Arial MT"/>
                  <a:cs typeface="Arial MT"/>
                </a:rPr>
                <a:t>diagonally</a:t>
              </a:r>
              <a:r>
                <a:rPr lang="en-US" sz="1200" spc="55" dirty="0">
                  <a:effectLst/>
                  <a:latin typeface="Arial MT"/>
                  <a:ea typeface="Arial MT"/>
                  <a:cs typeface="Arial MT"/>
                </a:rPr>
                <a:t> </a:t>
              </a:r>
              <a:r>
                <a:rPr lang="en-US" sz="1200" dirty="0">
                  <a:effectLst/>
                  <a:latin typeface="Arial MT"/>
                  <a:ea typeface="Arial MT"/>
                  <a:cs typeface="Arial MT"/>
                </a:rPr>
                <a:t>between</a:t>
              </a:r>
              <a:r>
                <a:rPr lang="en-US" sz="1200" spc="70" dirty="0">
                  <a:effectLst/>
                  <a:latin typeface="Arial MT"/>
                  <a:ea typeface="Arial MT"/>
                  <a:cs typeface="Arial MT"/>
                </a:rPr>
                <a:t> </a:t>
              </a:r>
              <a:r>
                <a:rPr lang="en-US" sz="1200" dirty="0">
                  <a:effectLst/>
                  <a:latin typeface="Arial MT"/>
                  <a:ea typeface="Arial MT"/>
                  <a:cs typeface="Arial MT"/>
                </a:rPr>
                <a:t>motor</a:t>
              </a:r>
              <a:r>
                <a:rPr lang="en-US" sz="1200" spc="60" dirty="0">
                  <a:effectLst/>
                  <a:latin typeface="Arial MT"/>
                  <a:ea typeface="Arial MT"/>
                  <a:cs typeface="Arial MT"/>
                </a:rPr>
                <a:t> </a:t>
              </a:r>
              <a:r>
                <a:rPr lang="en-US" sz="1200" dirty="0">
                  <a:effectLst/>
                  <a:latin typeface="Arial MT"/>
                  <a:ea typeface="Arial MT"/>
                  <a:cs typeface="Arial MT"/>
                </a:rPr>
                <a:t>mounts,</a:t>
              </a:r>
              <a:r>
                <a:rPr lang="en-US" sz="1200" spc="60" dirty="0">
                  <a:effectLst/>
                  <a:latin typeface="Arial MT"/>
                  <a:ea typeface="Arial MT"/>
                  <a:cs typeface="Arial MT"/>
                </a:rPr>
                <a:t> </a:t>
              </a:r>
              <a:r>
                <a:rPr lang="en-US" sz="1200" dirty="0">
                  <a:effectLst/>
                  <a:latin typeface="Arial MT"/>
                  <a:ea typeface="Arial MT"/>
                  <a:cs typeface="Arial MT"/>
                </a:rPr>
                <a:t>is</a:t>
              </a:r>
              <a:r>
                <a:rPr lang="en-US" sz="1200" spc="60" dirty="0">
                  <a:effectLst/>
                  <a:latin typeface="Arial MT"/>
                  <a:ea typeface="Arial MT"/>
                  <a:cs typeface="Arial MT"/>
                </a:rPr>
                <a:t> </a:t>
              </a:r>
              <a:r>
                <a:rPr lang="en-US" sz="1200" dirty="0">
                  <a:effectLst/>
                  <a:latin typeface="Arial MT"/>
                  <a:ea typeface="Arial MT"/>
                  <a:cs typeface="Arial MT"/>
                </a:rPr>
                <a:t>about</a:t>
              </a:r>
              <a:r>
                <a:rPr lang="en-US" sz="1200" spc="110" dirty="0">
                  <a:effectLst/>
                  <a:latin typeface="Arial MT"/>
                  <a:ea typeface="Arial MT"/>
                  <a:cs typeface="Arial MT"/>
                </a:rPr>
                <a:t> </a:t>
              </a:r>
              <a:r>
                <a:rPr lang="en-US" sz="1200" b="1" dirty="0">
                  <a:effectLst/>
                  <a:latin typeface="Arial" panose="020B0604020202020204" pitchFamily="34" charset="0"/>
                  <a:ea typeface="Arial MT"/>
                  <a:cs typeface="Arial MT"/>
                </a:rPr>
                <a:t>~15.5</a:t>
              </a:r>
              <a:r>
                <a:rPr lang="en-US" sz="1200" b="1" spc="65" dirty="0">
                  <a:effectLst/>
                  <a:latin typeface="Arial" panose="020B0604020202020204" pitchFamily="34" charset="0"/>
                  <a:ea typeface="Arial MT"/>
                  <a:cs typeface="Arial MT"/>
                </a:rPr>
                <a:t> </a:t>
              </a:r>
              <a:r>
                <a:rPr lang="en-US" sz="1200" b="1" dirty="0">
                  <a:effectLst/>
                  <a:latin typeface="Arial" panose="020B0604020202020204" pitchFamily="34" charset="0"/>
                  <a:ea typeface="Arial MT"/>
                  <a:cs typeface="Arial MT"/>
                </a:rPr>
                <a:t>mm</a:t>
              </a:r>
              <a:r>
                <a:rPr lang="en-US" sz="1200" b="1" spc="60" dirty="0">
                  <a:effectLst/>
                  <a:latin typeface="Arial" panose="020B0604020202020204" pitchFamily="34" charset="0"/>
                  <a:ea typeface="Arial MT"/>
                  <a:cs typeface="Arial MT"/>
                </a:rPr>
                <a:t> </a:t>
              </a:r>
              <a:r>
                <a:rPr lang="en-US" sz="1200" spc="-25" dirty="0">
                  <a:effectLst/>
                  <a:latin typeface="Arial MT"/>
                  <a:ea typeface="Arial MT"/>
                  <a:cs typeface="Arial MT"/>
                </a:rPr>
                <a:t>by</a:t>
              </a:r>
              <a:endParaRPr lang="en-IN" sz="1200" dirty="0">
                <a:effectLst/>
                <a:latin typeface="Arial MT"/>
                <a:ea typeface="Arial MT"/>
                <a:cs typeface="Arial MT"/>
              </a:endParaRPr>
            </a:p>
            <a:p>
              <a:pPr marL="1019175" lvl="2" algn="just">
                <a:spcBef>
                  <a:spcPts val="110"/>
                </a:spcBef>
              </a:pPr>
              <a:r>
                <a:rPr lang="en-US" sz="1200" b="1" dirty="0">
                  <a:effectLst/>
                  <a:latin typeface="Arial" panose="020B0604020202020204" pitchFamily="34" charset="0"/>
                  <a:ea typeface="Arial MT"/>
                  <a:cs typeface="Arial MT"/>
                </a:rPr>
                <a:t>~20</a:t>
              </a:r>
              <a:r>
                <a:rPr lang="en-US" sz="1200" b="1" spc="-25" dirty="0">
                  <a:effectLst/>
                  <a:latin typeface="Arial" panose="020B0604020202020204" pitchFamily="34" charset="0"/>
                  <a:ea typeface="Arial MT"/>
                  <a:cs typeface="Arial MT"/>
                </a:rPr>
                <a:t> </a:t>
              </a:r>
              <a:r>
                <a:rPr lang="en-US" sz="1200" b="1" dirty="0">
                  <a:effectLst/>
                  <a:latin typeface="Arial" panose="020B0604020202020204" pitchFamily="34" charset="0"/>
                  <a:ea typeface="Arial MT"/>
                  <a:cs typeface="Arial MT"/>
                </a:rPr>
                <a:t>mm</a:t>
              </a:r>
              <a:r>
                <a:rPr lang="en-US" sz="1200" dirty="0">
                  <a:effectLst/>
                  <a:latin typeface="Arial MT"/>
                  <a:ea typeface="Arial MT"/>
                  <a:cs typeface="Arial MT"/>
                </a:rPr>
                <a:t>,</a:t>
              </a:r>
              <a:r>
                <a:rPr lang="en-US" sz="1200" spc="-15" dirty="0">
                  <a:effectLst/>
                  <a:latin typeface="Arial MT"/>
                  <a:ea typeface="Arial MT"/>
                  <a:cs typeface="Arial MT"/>
                </a:rPr>
                <a:t> </a:t>
              </a:r>
              <a:r>
                <a:rPr lang="en-US" sz="1200" dirty="0">
                  <a:effectLst/>
                  <a:latin typeface="Arial MT"/>
                  <a:ea typeface="Arial MT"/>
                  <a:cs typeface="Arial MT"/>
                </a:rPr>
                <a:t>ensuring</a:t>
              </a:r>
              <a:r>
                <a:rPr lang="en-US" sz="1200" spc="-15" dirty="0">
                  <a:effectLst/>
                  <a:latin typeface="Arial MT"/>
                  <a:ea typeface="Arial MT"/>
                  <a:cs typeface="Arial MT"/>
                </a:rPr>
                <a:t> </a:t>
              </a:r>
              <a:r>
                <a:rPr lang="en-US" sz="1200" dirty="0">
                  <a:effectLst/>
                  <a:latin typeface="Arial MT"/>
                  <a:ea typeface="Arial MT"/>
                  <a:cs typeface="Arial MT"/>
                </a:rPr>
                <a:t>secure</a:t>
              </a:r>
              <a:r>
                <a:rPr lang="en-US" sz="1200" spc="-10" dirty="0">
                  <a:effectLst/>
                  <a:latin typeface="Arial MT"/>
                  <a:ea typeface="Arial MT"/>
                  <a:cs typeface="Arial MT"/>
                </a:rPr>
                <a:t> </a:t>
              </a:r>
              <a:r>
                <a:rPr lang="en-US" sz="1200" dirty="0">
                  <a:effectLst/>
                  <a:latin typeface="Arial MT"/>
                  <a:ea typeface="Arial MT"/>
                  <a:cs typeface="Arial MT"/>
                </a:rPr>
                <a:t>motor</a:t>
              </a:r>
              <a:r>
                <a:rPr lang="en-US" sz="1200" spc="-10" dirty="0">
                  <a:effectLst/>
                  <a:latin typeface="Arial MT"/>
                  <a:ea typeface="Arial MT"/>
                  <a:cs typeface="Arial MT"/>
                </a:rPr>
                <a:t> </a:t>
              </a:r>
              <a:r>
                <a:rPr lang="en-US" sz="1200" dirty="0">
                  <a:effectLst/>
                  <a:latin typeface="Arial MT"/>
                  <a:ea typeface="Arial MT"/>
                  <a:cs typeface="Arial MT"/>
                </a:rPr>
                <a:t>fit</a:t>
              </a:r>
              <a:r>
                <a:rPr lang="en-US" sz="1200" spc="-20" dirty="0">
                  <a:effectLst/>
                  <a:latin typeface="Arial MT"/>
                  <a:ea typeface="Arial MT"/>
                  <a:cs typeface="Arial MT"/>
                </a:rPr>
                <a:t> </a:t>
              </a:r>
              <a:r>
                <a:rPr lang="en-US" sz="1200" dirty="0">
                  <a:effectLst/>
                  <a:latin typeface="Arial MT"/>
                  <a:ea typeface="Arial MT"/>
                  <a:cs typeface="Arial MT"/>
                </a:rPr>
                <a:t>and</a:t>
              </a:r>
              <a:r>
                <a:rPr lang="en-US" sz="1200" spc="-15" dirty="0">
                  <a:effectLst/>
                  <a:latin typeface="Arial MT"/>
                  <a:ea typeface="Arial MT"/>
                  <a:cs typeface="Arial MT"/>
                </a:rPr>
                <a:t> </a:t>
              </a:r>
              <a:r>
                <a:rPr lang="en-US" sz="1200" dirty="0">
                  <a:effectLst/>
                  <a:latin typeface="Arial MT"/>
                  <a:ea typeface="Arial MT"/>
                  <a:cs typeface="Arial MT"/>
                </a:rPr>
                <a:t>stable</a:t>
              </a:r>
              <a:r>
                <a:rPr lang="en-US" sz="1200" spc="-15" dirty="0">
                  <a:effectLst/>
                  <a:latin typeface="Arial MT"/>
                  <a:ea typeface="Arial MT"/>
                  <a:cs typeface="Arial MT"/>
                </a:rPr>
                <a:t> </a:t>
              </a:r>
              <a:r>
                <a:rPr lang="en-US" sz="1200" spc="-10" dirty="0">
                  <a:effectLst/>
                  <a:latin typeface="Arial MT"/>
                  <a:ea typeface="Arial MT"/>
                  <a:cs typeface="Arial MT"/>
                </a:rPr>
                <a:t>flight.</a:t>
              </a:r>
              <a:endParaRPr lang="en-IN" sz="1200" dirty="0">
                <a:effectLst/>
                <a:latin typeface="Arial MT"/>
                <a:ea typeface="Arial MT"/>
                <a:cs typeface="Arial MT"/>
              </a:endParaRPr>
            </a:p>
          </p:txBody>
        </p:sp>
      </p:grpSp>
      <p:grpSp>
        <p:nvGrpSpPr>
          <p:cNvPr id="23" name="Group 22">
            <a:extLst>
              <a:ext uri="{FF2B5EF4-FFF2-40B4-BE49-F238E27FC236}">
                <a16:creationId xmlns:a16="http://schemas.microsoft.com/office/drawing/2014/main" id="{19E33520-6764-9D01-1271-56CFD01C0CA3}"/>
              </a:ext>
            </a:extLst>
          </p:cNvPr>
          <p:cNvGrpSpPr/>
          <p:nvPr/>
        </p:nvGrpSpPr>
        <p:grpSpPr>
          <a:xfrm>
            <a:off x="160021" y="4649678"/>
            <a:ext cx="6973223" cy="1802130"/>
            <a:chOff x="160021" y="4649678"/>
            <a:chExt cx="6973223" cy="1802130"/>
          </a:xfrm>
        </p:grpSpPr>
        <p:sp>
          <p:nvSpPr>
            <p:cNvPr id="9" name="Rectangle: Rounded Corners 8">
              <a:extLst>
                <a:ext uri="{FF2B5EF4-FFF2-40B4-BE49-F238E27FC236}">
                  <a16:creationId xmlns:a16="http://schemas.microsoft.com/office/drawing/2014/main" id="{4D30529F-3754-2750-5EE3-C64993FBEC2B}"/>
                </a:ext>
              </a:extLst>
            </p:cNvPr>
            <p:cNvSpPr/>
            <p:nvPr/>
          </p:nvSpPr>
          <p:spPr>
            <a:xfrm>
              <a:off x="160021" y="4649678"/>
              <a:ext cx="3276599" cy="1802130"/>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76473E7D-F273-332A-442B-8D00475F3955}"/>
                </a:ext>
              </a:extLst>
            </p:cNvPr>
            <p:cNvSpPr txBox="1"/>
            <p:nvPr/>
          </p:nvSpPr>
          <p:spPr>
            <a:xfrm>
              <a:off x="2794000" y="4959711"/>
              <a:ext cx="4339244" cy="1200329"/>
            </a:xfrm>
            <a:prstGeom prst="rect">
              <a:avLst/>
            </a:prstGeom>
            <a:noFill/>
          </p:spPr>
          <p:txBody>
            <a:bodyPr wrap="square">
              <a:spAutoFit/>
            </a:bodyPr>
            <a:lstStyle/>
            <a:p>
              <a:r>
                <a:rPr lang="en-US" sz="800" b="1" dirty="0"/>
                <a:t> </a:t>
              </a:r>
              <a:endParaRPr lang="en-IN" sz="1600" dirty="0">
                <a:latin typeface="Arial MT"/>
              </a:endParaRPr>
            </a:p>
            <a:p>
              <a:pPr lvl="2"/>
              <a:r>
                <a:rPr lang="en-US" sz="1600" b="1" dirty="0">
                  <a:latin typeface="Arial MT"/>
                </a:rPr>
                <a:t>Landing Gear Dimensions</a:t>
              </a:r>
              <a:endParaRPr lang="en-IN" sz="1600" b="1" dirty="0">
                <a:latin typeface="Arial MT"/>
              </a:endParaRPr>
            </a:p>
            <a:p>
              <a:pPr lvl="2"/>
              <a:r>
                <a:rPr lang="en-US" sz="1200" dirty="0">
                  <a:latin typeface="Arial MT"/>
                </a:rPr>
                <a:t>For our drone, the Ground Clearence is </a:t>
              </a:r>
              <a:r>
                <a:rPr lang="en-US" sz="1200" b="1" dirty="0">
                  <a:latin typeface="Arial MT"/>
                </a:rPr>
                <a:t>~193 mm</a:t>
              </a:r>
              <a:r>
                <a:rPr lang="en-US" sz="1200" dirty="0">
                  <a:latin typeface="Arial MT"/>
                </a:rPr>
                <a:t>, Landing Gear Length is </a:t>
              </a:r>
              <a:r>
                <a:rPr lang="en-US" sz="1200" b="1" dirty="0">
                  <a:latin typeface="Arial MT"/>
                </a:rPr>
                <a:t>~213 mm</a:t>
              </a:r>
              <a:endParaRPr lang="en-IN" sz="1200" dirty="0">
                <a:latin typeface="Arial MT"/>
              </a:endParaRPr>
            </a:p>
            <a:p>
              <a:pPr lvl="2"/>
              <a:r>
                <a:rPr lang="en-US" sz="1200" dirty="0">
                  <a:latin typeface="Arial MT"/>
                </a:rPr>
                <a:t>providing sufficient clearance from the ground.</a:t>
              </a:r>
              <a:endParaRPr lang="en-IN" sz="1200" dirty="0">
                <a:latin typeface="Arial MT"/>
              </a:endParaRPr>
            </a:p>
            <a:p>
              <a:pPr lvl="2">
                <a:spcBef>
                  <a:spcPts val="5"/>
                </a:spcBef>
                <a:buClr>
                  <a:srgbClr val="0E4660"/>
                </a:buClr>
                <a:buSzPts val="1600"/>
                <a:tabLst>
                  <a:tab pos="611505" algn="l"/>
                </a:tabLst>
              </a:pPr>
              <a:endParaRPr lang="en-IN" sz="1200" dirty="0">
                <a:effectLst/>
                <a:latin typeface="Arial MT"/>
                <a:ea typeface="Arial MT"/>
                <a:cs typeface="Arial MT"/>
              </a:endParaRPr>
            </a:p>
          </p:txBody>
        </p:sp>
      </p:grpSp>
      <p:sp>
        <p:nvSpPr>
          <p:cNvPr id="18" name="Rectangle 2">
            <a:extLst>
              <a:ext uri="{FF2B5EF4-FFF2-40B4-BE49-F238E27FC236}">
                <a16:creationId xmlns:a16="http://schemas.microsoft.com/office/drawing/2014/main" id="{17F020D5-3EDD-FD4D-CFAC-03B3477AD28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7821" tIns="41262" rIns="91440" bIns="0" numCol="1" anchor="ctr" anchorCtr="0" compatLnSpc="1">
            <a:prstTxWarp prst="textNoShape">
              <a:avLst/>
            </a:prstTxWarp>
            <a:spAutoFit/>
          </a:bodyPr>
          <a:lstStyle/>
          <a:p>
            <a:endParaRPr lang="en-IN"/>
          </a:p>
        </p:txBody>
      </p:sp>
      <p:grpSp>
        <p:nvGrpSpPr>
          <p:cNvPr id="22" name="Group 21">
            <a:extLst>
              <a:ext uri="{FF2B5EF4-FFF2-40B4-BE49-F238E27FC236}">
                <a16:creationId xmlns:a16="http://schemas.microsoft.com/office/drawing/2014/main" id="{F151928E-B972-7CC9-2A1D-A1CC702B5E71}"/>
              </a:ext>
            </a:extLst>
          </p:cNvPr>
          <p:cNvGrpSpPr/>
          <p:nvPr/>
        </p:nvGrpSpPr>
        <p:grpSpPr>
          <a:xfrm>
            <a:off x="-112915" y="3109386"/>
            <a:ext cx="10554868" cy="1802130"/>
            <a:chOff x="-112915" y="3109386"/>
            <a:chExt cx="10554868" cy="1802130"/>
          </a:xfrm>
        </p:grpSpPr>
        <p:sp>
          <p:nvSpPr>
            <p:cNvPr id="10" name="Rectangle: Rounded Corners 9">
              <a:extLst>
                <a:ext uri="{FF2B5EF4-FFF2-40B4-BE49-F238E27FC236}">
                  <a16:creationId xmlns:a16="http://schemas.microsoft.com/office/drawing/2014/main" id="{807EB162-E026-BADB-617C-AAD400EC08AA}"/>
                </a:ext>
              </a:extLst>
            </p:cNvPr>
            <p:cNvSpPr/>
            <p:nvPr/>
          </p:nvSpPr>
          <p:spPr>
            <a:xfrm>
              <a:off x="7165354" y="3109386"/>
              <a:ext cx="3276599" cy="1802130"/>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3">
              <a:extLst>
                <a:ext uri="{FF2B5EF4-FFF2-40B4-BE49-F238E27FC236}">
                  <a16:creationId xmlns:a16="http://schemas.microsoft.com/office/drawing/2014/main" id="{42145B39-9549-8C52-614B-2709C8F7C599}"/>
                </a:ext>
              </a:extLst>
            </p:cNvPr>
            <p:cNvSpPr>
              <a:spLocks noChangeArrowheads="1"/>
            </p:cNvSpPr>
            <p:nvPr/>
          </p:nvSpPr>
          <p:spPr bwMode="auto">
            <a:xfrm>
              <a:off x="-112915" y="3348250"/>
              <a:ext cx="7099069"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914400" marR="0" lvl="2"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effectLst/>
                  <a:latin typeface="Arial" panose="020B0604020202020204" pitchFamily="34" charset="0"/>
                  <a:ea typeface="Arial MT"/>
                  <a:cs typeface="Arial MT"/>
                </a:rPr>
                <a:t>Propeller Clearance</a:t>
              </a:r>
            </a:p>
            <a:p>
              <a:pPr marL="914400" marR="0" lvl="2"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dirty="0">
                  <a:ln>
                    <a:noFill/>
                  </a:ln>
                  <a:solidFill>
                    <a:schemeClr val="tx1"/>
                  </a:solidFill>
                  <a:effectLst/>
                  <a:latin typeface="Arial" panose="020B0604020202020204" pitchFamily="34" charset="0"/>
                  <a:ea typeface="Arial MT"/>
                  <a:cs typeface="Arial MT"/>
                </a:rPr>
                <a:t>Propeller clearance is the minimum space between propellers and the drone frame or components to prevent obstruction. Our drone has </a:t>
              </a:r>
              <a:r>
                <a:rPr kumimoji="0" lang="en-US" altLang="en-US" sz="1200" b="1" i="0" u="none" strike="noStrike" cap="none" normalizeH="0" baseline="0" dirty="0">
                  <a:ln>
                    <a:noFill/>
                  </a:ln>
                  <a:solidFill>
                    <a:schemeClr val="tx1"/>
                  </a:solidFill>
                  <a:effectLst/>
                  <a:latin typeface="Arial" panose="020B0604020202020204" pitchFamily="34" charset="0"/>
                  <a:ea typeface="Arial MT"/>
                  <a:cs typeface="Arial" panose="020B0604020202020204" pitchFamily="34" charset="0"/>
                </a:rPr>
                <a:t>~45 mm </a:t>
              </a:r>
              <a:r>
                <a:rPr kumimoji="0" lang="en-US" altLang="en-US" sz="1200" b="0" i="0" u="none" strike="noStrike" cap="none" normalizeH="0" baseline="0" dirty="0">
                  <a:ln>
                    <a:noFill/>
                  </a:ln>
                  <a:solidFill>
                    <a:schemeClr val="tx1"/>
                  </a:solidFill>
                  <a:effectLst/>
                  <a:ea typeface="Arial MT"/>
                  <a:cs typeface="Arial MT"/>
                </a:rPr>
                <a:t>clearance from body and </a:t>
              </a:r>
              <a:r>
                <a:rPr kumimoji="0" lang="en-US" altLang="en-US" sz="1200" b="1" i="0" u="none" strike="noStrike" cap="none" normalizeH="0" baseline="0" dirty="0">
                  <a:ln>
                    <a:noFill/>
                  </a:ln>
                  <a:solidFill>
                    <a:schemeClr val="tx1"/>
                  </a:solidFill>
                  <a:effectLst/>
                  <a:latin typeface="Arial" panose="020B0604020202020204" pitchFamily="34" charset="0"/>
                  <a:ea typeface="Arial MT"/>
                  <a:cs typeface="Arial" panose="020B0604020202020204" pitchFamily="34" charset="0"/>
                </a:rPr>
                <a:t>~121 mm </a:t>
              </a:r>
              <a:r>
                <a:rPr kumimoji="0" lang="en-US" altLang="en-US" sz="1200" b="0" i="0" u="none" strike="noStrike" cap="none" normalizeH="0" baseline="0" dirty="0">
                  <a:ln>
                    <a:noFill/>
                  </a:ln>
                  <a:solidFill>
                    <a:schemeClr val="tx1"/>
                  </a:solidFill>
                  <a:effectLst/>
                  <a:ea typeface="Arial MT"/>
                  <a:cs typeface="Arial MT"/>
                </a:rPr>
                <a:t>between propellers for safe, efficient operation.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spTree>
    <p:custDataLst>
      <p:tags r:id="rId1"/>
    </p:custDataLst>
    <p:extLst>
      <p:ext uri="{BB962C8B-B14F-4D97-AF65-F5344CB8AC3E}">
        <p14:creationId xmlns:p14="http://schemas.microsoft.com/office/powerpoint/2010/main" val="1391541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000"/>
                                        <p:tgtEl>
                                          <p:spTgt spid="21"/>
                                        </p:tgtEl>
                                      </p:cBhvr>
                                    </p:animEffect>
                                    <p:anim calcmode="lin" valueType="num">
                                      <p:cBhvr>
                                        <p:cTn id="8" dur="1000" fill="hold"/>
                                        <p:tgtEl>
                                          <p:spTgt spid="21"/>
                                        </p:tgtEl>
                                        <p:attrNameLst>
                                          <p:attrName>ppt_x</p:attrName>
                                        </p:attrNameLst>
                                      </p:cBhvr>
                                      <p:tavLst>
                                        <p:tav tm="0">
                                          <p:val>
                                            <p:strVal val="#ppt_x"/>
                                          </p:val>
                                        </p:tav>
                                        <p:tav tm="100000">
                                          <p:val>
                                            <p:strVal val="#ppt_x"/>
                                          </p:val>
                                        </p:tav>
                                      </p:tavLst>
                                    </p:anim>
                                    <p:anim calcmode="lin" valueType="num">
                                      <p:cBhvr>
                                        <p:cTn id="9" dur="1000" fill="hold"/>
                                        <p:tgtEl>
                                          <p:spTgt spid="2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1000"/>
                                        <p:tgtEl>
                                          <p:spTgt spid="22"/>
                                        </p:tgtEl>
                                      </p:cBhvr>
                                    </p:animEffect>
                                    <p:anim calcmode="lin" valueType="num">
                                      <p:cBhvr>
                                        <p:cTn id="14" dur="1000" fill="hold"/>
                                        <p:tgtEl>
                                          <p:spTgt spid="22"/>
                                        </p:tgtEl>
                                        <p:attrNameLst>
                                          <p:attrName>ppt_x</p:attrName>
                                        </p:attrNameLst>
                                      </p:cBhvr>
                                      <p:tavLst>
                                        <p:tav tm="0">
                                          <p:val>
                                            <p:strVal val="#ppt_x"/>
                                          </p:val>
                                        </p:tav>
                                        <p:tav tm="100000">
                                          <p:val>
                                            <p:strVal val="#ppt_x"/>
                                          </p:val>
                                        </p:tav>
                                      </p:tavLst>
                                    </p:anim>
                                    <p:anim calcmode="lin" valueType="num">
                                      <p:cBhvr>
                                        <p:cTn id="15" dur="1000" fill="hold"/>
                                        <p:tgtEl>
                                          <p:spTgt spid="22"/>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1000"/>
                                        <p:tgtEl>
                                          <p:spTgt spid="23"/>
                                        </p:tgtEl>
                                      </p:cBhvr>
                                    </p:animEffect>
                                    <p:anim calcmode="lin" valueType="num">
                                      <p:cBhvr>
                                        <p:cTn id="20" dur="1000" fill="hold"/>
                                        <p:tgtEl>
                                          <p:spTgt spid="23"/>
                                        </p:tgtEl>
                                        <p:attrNameLst>
                                          <p:attrName>ppt_x</p:attrName>
                                        </p:attrNameLst>
                                      </p:cBhvr>
                                      <p:tavLst>
                                        <p:tav tm="0">
                                          <p:val>
                                            <p:strVal val="#ppt_x"/>
                                          </p:val>
                                        </p:tav>
                                        <p:tav tm="100000">
                                          <p:val>
                                            <p:strVal val="#ppt_x"/>
                                          </p:val>
                                        </p:tav>
                                      </p:tavLst>
                                    </p:anim>
                                    <p:anim calcmode="lin" valueType="num">
                                      <p:cBhvr>
                                        <p:cTn id="2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1A33C-5C42-74C0-394B-AAD6153912D5}"/>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F952DB6F-CCFC-2A38-FDB4-248E960F865C}"/>
              </a:ext>
            </a:extLst>
          </p:cNvPr>
          <p:cNvPicPr>
            <a:picLocks noChangeAspect="1"/>
          </p:cNvPicPr>
          <p:nvPr/>
        </p:nvPicPr>
        <p:blipFill>
          <a:blip r:embed="rId3">
            <a:clrChange>
              <a:clrFrom>
                <a:srgbClr val="071002"/>
              </a:clrFrom>
              <a:clrTo>
                <a:srgbClr val="071002">
                  <a:alpha val="0"/>
                </a:srgbClr>
              </a:clrTo>
            </a:clrChange>
            <a:extLst>
              <a:ext uri="{BEBA8EAE-BF5A-486C-A8C5-ECC9F3942E4B}">
                <a14:imgProps xmlns:a14="http://schemas.microsoft.com/office/drawing/2010/main">
                  <a14:imgLayer r:embed="rId4">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sp>
        <p:nvSpPr>
          <p:cNvPr id="4" name="Rectangle 3">
            <a:extLst>
              <a:ext uri="{FF2B5EF4-FFF2-40B4-BE49-F238E27FC236}">
                <a16:creationId xmlns:a16="http://schemas.microsoft.com/office/drawing/2014/main" id="{5EC919C5-222A-0142-B49F-14A883CE0AC7}"/>
              </a:ext>
            </a:extLst>
          </p:cNvPr>
          <p:cNvSpPr/>
          <p:nvPr/>
        </p:nvSpPr>
        <p:spPr>
          <a:xfrm>
            <a:off x="0" y="401452"/>
            <a:ext cx="9997440" cy="741600"/>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700"/>
              </a:spcAft>
            </a:pPr>
            <a:r>
              <a:rPr lang="en-US" sz="4400" b="1" dirty="0">
                <a:latin typeface="Times New Roman" panose="02020603050405020304" pitchFamily="18" charset="0"/>
                <a:cs typeface="Times New Roman" panose="02020603050405020304" pitchFamily="18" charset="0"/>
              </a:rPr>
              <a:t> FINAL DESIGN CAD MODEL</a:t>
            </a:r>
          </a:p>
        </p:txBody>
      </p:sp>
      <p:grpSp>
        <p:nvGrpSpPr>
          <p:cNvPr id="10" name="Group 9">
            <a:extLst>
              <a:ext uri="{FF2B5EF4-FFF2-40B4-BE49-F238E27FC236}">
                <a16:creationId xmlns:a16="http://schemas.microsoft.com/office/drawing/2014/main" id="{CC3C8FE3-18A4-19A5-CA38-A8175A40AAEE}"/>
              </a:ext>
            </a:extLst>
          </p:cNvPr>
          <p:cNvGrpSpPr/>
          <p:nvPr/>
        </p:nvGrpSpPr>
        <p:grpSpPr>
          <a:xfrm>
            <a:off x="693378" y="1677225"/>
            <a:ext cx="10066303" cy="4779323"/>
            <a:chOff x="693378" y="1677225"/>
            <a:chExt cx="10066303" cy="4779323"/>
          </a:xfrm>
        </p:grpSpPr>
        <p:sp>
          <p:nvSpPr>
            <p:cNvPr id="6" name="Rectangle: Rounded Corners 5">
              <a:extLst>
                <a:ext uri="{FF2B5EF4-FFF2-40B4-BE49-F238E27FC236}">
                  <a16:creationId xmlns:a16="http://schemas.microsoft.com/office/drawing/2014/main" id="{FCA58545-B11D-DD46-FC4A-58CBFCCFDA5F}"/>
                </a:ext>
              </a:extLst>
            </p:cNvPr>
            <p:cNvSpPr/>
            <p:nvPr/>
          </p:nvSpPr>
          <p:spPr>
            <a:xfrm>
              <a:off x="6799681" y="1677225"/>
              <a:ext cx="3960000" cy="2160000"/>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8" name="Image 45">
              <a:extLst>
                <a:ext uri="{FF2B5EF4-FFF2-40B4-BE49-F238E27FC236}">
                  <a16:creationId xmlns:a16="http://schemas.microsoft.com/office/drawing/2014/main" id="{8A3D0BFB-EDF1-EACE-7963-C09EC9A0679C}"/>
                </a:ext>
              </a:extLst>
            </p:cNvPr>
            <p:cNvPicPr/>
            <p:nvPr/>
          </p:nvPicPr>
          <p:blipFill>
            <a:blip r:embed="rId5" cstate="print"/>
            <a:stretch>
              <a:fillRect/>
            </a:stretch>
          </p:blipFill>
          <p:spPr>
            <a:xfrm>
              <a:off x="1313657" y="1705460"/>
              <a:ext cx="2895760" cy="2162587"/>
            </a:xfrm>
            <a:prstGeom prst="rect">
              <a:avLst/>
            </a:prstGeom>
          </p:spPr>
        </p:pic>
        <p:sp>
          <p:nvSpPr>
            <p:cNvPr id="16" name="Rectangle: Rounded Corners 15">
              <a:extLst>
                <a:ext uri="{FF2B5EF4-FFF2-40B4-BE49-F238E27FC236}">
                  <a16:creationId xmlns:a16="http://schemas.microsoft.com/office/drawing/2014/main" id="{FAF94747-AD25-E742-0FE7-7A2DFAB640EA}"/>
                </a:ext>
              </a:extLst>
            </p:cNvPr>
            <p:cNvSpPr/>
            <p:nvPr/>
          </p:nvSpPr>
          <p:spPr>
            <a:xfrm>
              <a:off x="693378" y="4296548"/>
              <a:ext cx="3960000" cy="2160000"/>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Rectangle: Rounded Corners 16">
              <a:extLst>
                <a:ext uri="{FF2B5EF4-FFF2-40B4-BE49-F238E27FC236}">
                  <a16:creationId xmlns:a16="http://schemas.microsoft.com/office/drawing/2014/main" id="{2BED55CF-D827-F57B-03BA-3B41854B0331}"/>
                </a:ext>
              </a:extLst>
            </p:cNvPr>
            <p:cNvSpPr/>
            <p:nvPr/>
          </p:nvSpPr>
          <p:spPr>
            <a:xfrm>
              <a:off x="693378" y="1677225"/>
              <a:ext cx="3960000" cy="2160000"/>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0" name="Rectangle: Rounded Corners 19">
              <a:extLst>
                <a:ext uri="{FF2B5EF4-FFF2-40B4-BE49-F238E27FC236}">
                  <a16:creationId xmlns:a16="http://schemas.microsoft.com/office/drawing/2014/main" id="{6B2C85D4-9387-4D6B-76C9-A2B2818CE12A}"/>
                </a:ext>
              </a:extLst>
            </p:cNvPr>
            <p:cNvSpPr/>
            <p:nvPr/>
          </p:nvSpPr>
          <p:spPr>
            <a:xfrm>
              <a:off x="6799681" y="4296548"/>
              <a:ext cx="3960000" cy="2160000"/>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11" name="TextBox 10">
            <a:extLst>
              <a:ext uri="{FF2B5EF4-FFF2-40B4-BE49-F238E27FC236}">
                <a16:creationId xmlns:a16="http://schemas.microsoft.com/office/drawing/2014/main" id="{534C8BD0-1565-9EA2-9B1B-E31D29916073}"/>
              </a:ext>
            </a:extLst>
          </p:cNvPr>
          <p:cNvSpPr txBox="1"/>
          <p:nvPr/>
        </p:nvSpPr>
        <p:spPr>
          <a:xfrm>
            <a:off x="6894674" y="6456548"/>
            <a:ext cx="2265685" cy="369332"/>
          </a:xfrm>
          <a:prstGeom prst="rect">
            <a:avLst/>
          </a:prstGeom>
          <a:noFill/>
        </p:spPr>
        <p:txBody>
          <a:bodyPr wrap="square" rtlCol="0">
            <a:spAutoFit/>
          </a:bodyPr>
          <a:lstStyle/>
          <a:p>
            <a:r>
              <a:rPr lang="en-IN" dirty="0"/>
              <a:t>ANGLE VIEW</a:t>
            </a:r>
          </a:p>
        </p:txBody>
      </p:sp>
      <p:sp>
        <p:nvSpPr>
          <p:cNvPr id="14" name="TextBox 13">
            <a:extLst>
              <a:ext uri="{FF2B5EF4-FFF2-40B4-BE49-F238E27FC236}">
                <a16:creationId xmlns:a16="http://schemas.microsoft.com/office/drawing/2014/main" id="{1FDE744B-34B2-B13C-506B-F5673BFEF008}"/>
              </a:ext>
            </a:extLst>
          </p:cNvPr>
          <p:cNvSpPr txBox="1"/>
          <p:nvPr/>
        </p:nvSpPr>
        <p:spPr>
          <a:xfrm>
            <a:off x="977931" y="3815848"/>
            <a:ext cx="2265685" cy="369332"/>
          </a:xfrm>
          <a:prstGeom prst="rect">
            <a:avLst/>
          </a:prstGeom>
          <a:noFill/>
        </p:spPr>
        <p:txBody>
          <a:bodyPr wrap="square" rtlCol="0">
            <a:spAutoFit/>
          </a:bodyPr>
          <a:lstStyle/>
          <a:p>
            <a:r>
              <a:rPr lang="en-IN" dirty="0"/>
              <a:t>FRONT VIEW</a:t>
            </a:r>
          </a:p>
        </p:txBody>
      </p:sp>
      <p:sp>
        <p:nvSpPr>
          <p:cNvPr id="15" name="TextBox 14">
            <a:extLst>
              <a:ext uri="{FF2B5EF4-FFF2-40B4-BE49-F238E27FC236}">
                <a16:creationId xmlns:a16="http://schemas.microsoft.com/office/drawing/2014/main" id="{B29CF9B2-8FD4-034B-CA0D-A7DB18712ED9}"/>
              </a:ext>
            </a:extLst>
          </p:cNvPr>
          <p:cNvSpPr txBox="1"/>
          <p:nvPr/>
        </p:nvSpPr>
        <p:spPr>
          <a:xfrm>
            <a:off x="874941" y="6444858"/>
            <a:ext cx="2265685" cy="369332"/>
          </a:xfrm>
          <a:prstGeom prst="rect">
            <a:avLst/>
          </a:prstGeom>
          <a:noFill/>
        </p:spPr>
        <p:txBody>
          <a:bodyPr wrap="square" rtlCol="0">
            <a:spAutoFit/>
          </a:bodyPr>
          <a:lstStyle/>
          <a:p>
            <a:r>
              <a:rPr lang="en-IN" dirty="0"/>
              <a:t>TOP VIEW</a:t>
            </a:r>
          </a:p>
        </p:txBody>
      </p:sp>
      <p:sp>
        <p:nvSpPr>
          <p:cNvPr id="23" name="TextBox 22">
            <a:extLst>
              <a:ext uri="{FF2B5EF4-FFF2-40B4-BE49-F238E27FC236}">
                <a16:creationId xmlns:a16="http://schemas.microsoft.com/office/drawing/2014/main" id="{03B2A961-A7E6-FE4A-4F83-D34B81FC27A5}"/>
              </a:ext>
            </a:extLst>
          </p:cNvPr>
          <p:cNvSpPr txBox="1"/>
          <p:nvPr/>
        </p:nvSpPr>
        <p:spPr>
          <a:xfrm>
            <a:off x="6883399" y="3850048"/>
            <a:ext cx="2265685" cy="369332"/>
          </a:xfrm>
          <a:prstGeom prst="rect">
            <a:avLst/>
          </a:prstGeom>
          <a:noFill/>
        </p:spPr>
        <p:txBody>
          <a:bodyPr wrap="square" rtlCol="0">
            <a:spAutoFit/>
          </a:bodyPr>
          <a:lstStyle/>
          <a:p>
            <a:r>
              <a:rPr lang="en-IN" dirty="0"/>
              <a:t>SIDE VIEW</a:t>
            </a:r>
          </a:p>
        </p:txBody>
      </p:sp>
    </p:spTree>
    <p:custDataLst>
      <p:tags r:id="rId1"/>
    </p:custDataLst>
    <p:extLst>
      <p:ext uri="{BB962C8B-B14F-4D97-AF65-F5344CB8AC3E}">
        <p14:creationId xmlns:p14="http://schemas.microsoft.com/office/powerpoint/2010/main" val="784062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down)">
                                      <p:cBhvr>
                                        <p:cTn id="10" dur="500"/>
                                        <p:tgtEl>
                                          <p:spTgt spid="11"/>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wipe(down)">
                                      <p:cBhvr>
                                        <p:cTn id="13" dur="500"/>
                                        <p:tgtEl>
                                          <p:spTgt spid="14"/>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down)">
                                      <p:cBhvr>
                                        <p:cTn id="16" dur="500"/>
                                        <p:tgtEl>
                                          <p:spTgt spid="15"/>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wipe(down)">
                                      <p:cBhvr>
                                        <p:cTn id="1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P spid="15" grpId="0"/>
      <p:bldP spid="2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D0B16-88E4-CE5F-CDBA-1DA95BC116D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A340B4D-D408-5196-A2CB-07BEE343C896}"/>
              </a:ext>
            </a:extLst>
          </p:cNvPr>
          <p:cNvPicPr>
            <a:picLocks noChangeAspect="1"/>
          </p:cNvPicPr>
          <p:nvPr/>
        </p:nvPicPr>
        <p:blipFill>
          <a:blip r:embed="rId2">
            <a:clrChange>
              <a:clrFrom>
                <a:srgbClr val="071002"/>
              </a:clrFrom>
              <a:clrTo>
                <a:srgbClr val="071002">
                  <a:alpha val="0"/>
                </a:srgbClr>
              </a:clrTo>
            </a:clrChange>
            <a:extLst>
              <a:ext uri="{BEBA8EAE-BF5A-486C-A8C5-ECC9F3942E4B}">
                <a14:imgProps xmlns:a14="http://schemas.microsoft.com/office/drawing/2010/main">
                  <a14:imgLayer r:embed="rId3">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sp>
        <p:nvSpPr>
          <p:cNvPr id="4" name="Rectangle 3">
            <a:extLst>
              <a:ext uri="{FF2B5EF4-FFF2-40B4-BE49-F238E27FC236}">
                <a16:creationId xmlns:a16="http://schemas.microsoft.com/office/drawing/2014/main" id="{7F93C790-7981-C03E-ED23-24339459C22F}"/>
              </a:ext>
            </a:extLst>
          </p:cNvPr>
          <p:cNvSpPr/>
          <p:nvPr/>
        </p:nvSpPr>
        <p:spPr>
          <a:xfrm>
            <a:off x="-1021080" y="6338274"/>
            <a:ext cx="14234160" cy="6004560"/>
          </a:xfrm>
          <a:prstGeom prst="rect">
            <a:avLst/>
          </a:prstGeom>
          <a:gradFill>
            <a:gsLst>
              <a:gs pos="0">
                <a:schemeClr val="bg1">
                  <a:lumMod val="95000"/>
                  <a:lumOff val="5000"/>
                  <a:alpha val="0"/>
                </a:schemeClr>
              </a:gs>
              <a:gs pos="77000">
                <a:schemeClr val="tx2">
                  <a:lumMod val="10000"/>
                </a:schemeClr>
              </a:gs>
            </a:gsLst>
            <a:lin ang="612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3CF8D7CE-5007-44C5-E781-DA5C2FDAFD5C}"/>
              </a:ext>
            </a:extLst>
          </p:cNvPr>
          <p:cNvSpPr/>
          <p:nvPr/>
        </p:nvSpPr>
        <p:spPr>
          <a:xfrm>
            <a:off x="773723" y="1367360"/>
            <a:ext cx="10644553" cy="2860431"/>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397D0625-1FEA-913A-F8DF-77C117E62A3D}"/>
              </a:ext>
            </a:extLst>
          </p:cNvPr>
          <p:cNvSpPr txBox="1"/>
          <p:nvPr/>
        </p:nvSpPr>
        <p:spPr>
          <a:xfrm>
            <a:off x="1137137" y="1643413"/>
            <a:ext cx="9917723" cy="2308324"/>
          </a:xfrm>
          <a:prstGeom prst="rect">
            <a:avLst/>
          </a:prstGeom>
          <a:noFill/>
        </p:spPr>
        <p:txBody>
          <a:bodyPr wrap="square" rtlCol="0">
            <a:spAutoFit/>
          </a:bodyPr>
          <a:lstStyle/>
          <a:p>
            <a:r>
              <a:rPr lang="en-IN" sz="7200" dirty="0"/>
              <a:t>COMPUTATIONAL ANALYSIS</a:t>
            </a:r>
          </a:p>
        </p:txBody>
      </p:sp>
      <p:sp>
        <p:nvSpPr>
          <p:cNvPr id="8" name="TextBox 7">
            <a:extLst>
              <a:ext uri="{FF2B5EF4-FFF2-40B4-BE49-F238E27FC236}">
                <a16:creationId xmlns:a16="http://schemas.microsoft.com/office/drawing/2014/main" id="{D6CBE6D4-0AC8-A814-7409-B62702BCDCAF}"/>
              </a:ext>
            </a:extLst>
          </p:cNvPr>
          <p:cNvSpPr txBox="1"/>
          <p:nvPr/>
        </p:nvSpPr>
        <p:spPr>
          <a:xfrm>
            <a:off x="1686372" y="4525109"/>
            <a:ext cx="7145078" cy="700833"/>
          </a:xfrm>
          <a:prstGeom prst="rect">
            <a:avLst/>
          </a:prstGeom>
          <a:noFill/>
        </p:spPr>
        <p:txBody>
          <a:bodyPr wrap="square">
            <a:spAutoFit/>
          </a:bodyPr>
          <a:lstStyle/>
          <a:p>
            <a:pPr>
              <a:lnSpc>
                <a:spcPct val="115000"/>
              </a:lnSpc>
              <a:spcAft>
                <a:spcPts val="700"/>
              </a:spcAft>
            </a:pPr>
            <a:r>
              <a:rPr lang="en-US" dirty="0"/>
              <a:t>In the structural analysis, a </a:t>
            </a:r>
            <a:r>
              <a:rPr lang="en-US" b="1" dirty="0"/>
              <a:t>60 N thrust force </a:t>
            </a:r>
            <a:r>
              <a:rPr lang="en-US" dirty="0"/>
              <a:t>and a </a:t>
            </a:r>
            <a:r>
              <a:rPr lang="en-US" b="1" dirty="0"/>
              <a:t>20 N payload </a:t>
            </a:r>
            <a:r>
              <a:rPr lang="en-US" dirty="0"/>
              <a:t>are applied to both the frame and the arm.</a:t>
            </a:r>
            <a:endParaRPr lang="en-IN" dirty="0"/>
          </a:p>
        </p:txBody>
      </p:sp>
    </p:spTree>
    <p:extLst>
      <p:ext uri="{BB962C8B-B14F-4D97-AF65-F5344CB8AC3E}">
        <p14:creationId xmlns:p14="http://schemas.microsoft.com/office/powerpoint/2010/main" val="22260905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7FA96-5519-4082-ECDA-24B0D85D981A}"/>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0FD6CA12-ED55-F94D-04C6-6876FE58E8C3}"/>
              </a:ext>
            </a:extLst>
          </p:cNvPr>
          <p:cNvPicPr>
            <a:picLocks noChangeAspect="1"/>
          </p:cNvPicPr>
          <p:nvPr/>
        </p:nvPicPr>
        <p:blipFill>
          <a:blip r:embed="rId2">
            <a:clrChange>
              <a:clrFrom>
                <a:srgbClr val="071002"/>
              </a:clrFrom>
              <a:clrTo>
                <a:srgbClr val="071002">
                  <a:alpha val="0"/>
                </a:srgbClr>
              </a:clrTo>
            </a:clrChange>
            <a:extLst>
              <a:ext uri="{BEBA8EAE-BF5A-486C-A8C5-ECC9F3942E4B}">
                <a14:imgProps xmlns:a14="http://schemas.microsoft.com/office/drawing/2010/main">
                  <a14:imgLayer r:embed="rId3">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sp>
        <p:nvSpPr>
          <p:cNvPr id="4" name="Rectangle 3">
            <a:extLst>
              <a:ext uri="{FF2B5EF4-FFF2-40B4-BE49-F238E27FC236}">
                <a16:creationId xmlns:a16="http://schemas.microsoft.com/office/drawing/2014/main" id="{4FD70C2C-3522-A1E6-ADFE-1E8780F2CC88}"/>
              </a:ext>
            </a:extLst>
          </p:cNvPr>
          <p:cNvSpPr/>
          <p:nvPr/>
        </p:nvSpPr>
        <p:spPr>
          <a:xfrm>
            <a:off x="0" y="401452"/>
            <a:ext cx="7740502" cy="741600"/>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700"/>
              </a:spcAft>
            </a:pPr>
            <a:r>
              <a:rPr lang="en-US" sz="4400" b="1" dirty="0">
                <a:latin typeface="Times New Roman" panose="02020603050405020304" pitchFamily="18" charset="0"/>
                <a:cs typeface="Times New Roman" panose="02020603050405020304" pitchFamily="18" charset="0"/>
              </a:rPr>
              <a:t>   TOTAL DEFORMATION:</a:t>
            </a:r>
          </a:p>
        </p:txBody>
      </p:sp>
      <p:sp>
        <p:nvSpPr>
          <p:cNvPr id="11" name="TextBox 10">
            <a:extLst>
              <a:ext uri="{FF2B5EF4-FFF2-40B4-BE49-F238E27FC236}">
                <a16:creationId xmlns:a16="http://schemas.microsoft.com/office/drawing/2014/main" id="{182E6822-1A8D-1FAC-5615-68A7FC8853EC}"/>
              </a:ext>
            </a:extLst>
          </p:cNvPr>
          <p:cNvSpPr txBox="1"/>
          <p:nvPr/>
        </p:nvSpPr>
        <p:spPr>
          <a:xfrm>
            <a:off x="120809" y="1614442"/>
            <a:ext cx="5061902" cy="2974276"/>
          </a:xfrm>
          <a:prstGeom prst="rect">
            <a:avLst/>
          </a:prstGeom>
          <a:noFill/>
        </p:spPr>
        <p:txBody>
          <a:bodyPr wrap="square" rtlCol="0">
            <a:spAutoFit/>
          </a:bodyPr>
          <a:lstStyle/>
          <a:p>
            <a:pPr>
              <a:lnSpc>
                <a:spcPct val="115000"/>
              </a:lnSpc>
              <a:spcAft>
                <a:spcPts val="700"/>
              </a:spcAft>
            </a:pPr>
            <a:r>
              <a:rPr lang="en-US" dirty="0"/>
              <a:t>Total Deformation is the magnitude of the total displacement of a point in all directions, showing how far that point has moved from its original position.</a:t>
            </a:r>
          </a:p>
          <a:p>
            <a:pPr>
              <a:lnSpc>
                <a:spcPct val="115000"/>
              </a:lnSpc>
              <a:spcAft>
                <a:spcPts val="700"/>
              </a:spcAft>
            </a:pPr>
            <a:r>
              <a:rPr lang="en-US" b="1" dirty="0"/>
              <a:t>FRAME:</a:t>
            </a:r>
          </a:p>
          <a:p>
            <a:pPr>
              <a:lnSpc>
                <a:spcPct val="115000"/>
              </a:lnSpc>
              <a:spcAft>
                <a:spcPts val="700"/>
              </a:spcAft>
            </a:pPr>
            <a:r>
              <a:rPr lang="en-US" dirty="0"/>
              <a:t>Maximum Deformation: </a:t>
            </a:r>
            <a:r>
              <a:rPr lang="en-US" b="1" dirty="0"/>
              <a:t>12.018</a:t>
            </a:r>
          </a:p>
          <a:p>
            <a:pPr>
              <a:lnSpc>
                <a:spcPct val="115000"/>
              </a:lnSpc>
              <a:spcAft>
                <a:spcPts val="700"/>
              </a:spcAft>
            </a:pPr>
            <a:r>
              <a:rPr lang="en-US" dirty="0"/>
              <a:t>Minimum Deformation: </a:t>
            </a:r>
            <a:r>
              <a:rPr lang="en-US" b="1" dirty="0"/>
              <a:t>0 m </a:t>
            </a:r>
          </a:p>
          <a:p>
            <a:pPr>
              <a:lnSpc>
                <a:spcPct val="115000"/>
              </a:lnSpc>
              <a:spcAft>
                <a:spcPts val="700"/>
              </a:spcAft>
              <a:buNone/>
            </a:pPr>
            <a:endParaRPr lang="en-IN" sz="1800" kern="100" dirty="0">
              <a:effectLst/>
              <a:latin typeface="Liberation Serif"/>
              <a:ea typeface="Noto Serif CJK SC"/>
              <a:cs typeface="Noto Sans Devanagari" panose="020B0502040504020204" pitchFamily="34" charset="0"/>
            </a:endParaRPr>
          </a:p>
        </p:txBody>
      </p:sp>
    </p:spTree>
    <p:extLst>
      <p:ext uri="{BB962C8B-B14F-4D97-AF65-F5344CB8AC3E}">
        <p14:creationId xmlns:p14="http://schemas.microsoft.com/office/powerpoint/2010/main" val="21096573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0CD57-6BCD-92AB-4DFD-7C940128CAF8}"/>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036B9FC6-887F-28F4-1252-9CD6B76B776E}"/>
              </a:ext>
            </a:extLst>
          </p:cNvPr>
          <p:cNvPicPr>
            <a:picLocks noChangeAspect="1"/>
          </p:cNvPicPr>
          <p:nvPr/>
        </p:nvPicPr>
        <p:blipFill>
          <a:blip r:embed="rId2">
            <a:clrChange>
              <a:clrFrom>
                <a:srgbClr val="071002"/>
              </a:clrFrom>
              <a:clrTo>
                <a:srgbClr val="071002">
                  <a:alpha val="0"/>
                </a:srgbClr>
              </a:clrTo>
            </a:clrChange>
            <a:extLst>
              <a:ext uri="{BEBA8EAE-BF5A-486C-A8C5-ECC9F3942E4B}">
                <a14:imgProps xmlns:a14="http://schemas.microsoft.com/office/drawing/2010/main">
                  <a14:imgLayer r:embed="rId3">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sp>
        <p:nvSpPr>
          <p:cNvPr id="4" name="Rectangle 3">
            <a:extLst>
              <a:ext uri="{FF2B5EF4-FFF2-40B4-BE49-F238E27FC236}">
                <a16:creationId xmlns:a16="http://schemas.microsoft.com/office/drawing/2014/main" id="{091E6481-DE3A-82BA-784F-FCB1B5CEA72A}"/>
              </a:ext>
            </a:extLst>
          </p:cNvPr>
          <p:cNvSpPr/>
          <p:nvPr/>
        </p:nvSpPr>
        <p:spPr>
          <a:xfrm>
            <a:off x="0" y="401452"/>
            <a:ext cx="7740502" cy="741600"/>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700"/>
              </a:spcAft>
            </a:pPr>
            <a:r>
              <a:rPr lang="en-US" sz="4400" b="1" dirty="0">
                <a:latin typeface="Times New Roman" panose="02020603050405020304" pitchFamily="18" charset="0"/>
                <a:cs typeface="Times New Roman" panose="02020603050405020304" pitchFamily="18" charset="0"/>
              </a:rPr>
              <a:t>   TOTAL DEFORMATION:</a:t>
            </a:r>
          </a:p>
        </p:txBody>
      </p:sp>
      <p:sp>
        <p:nvSpPr>
          <p:cNvPr id="11" name="TextBox 10">
            <a:extLst>
              <a:ext uri="{FF2B5EF4-FFF2-40B4-BE49-F238E27FC236}">
                <a16:creationId xmlns:a16="http://schemas.microsoft.com/office/drawing/2014/main" id="{01271BED-3455-E464-1852-110F0224D44B}"/>
              </a:ext>
            </a:extLst>
          </p:cNvPr>
          <p:cNvSpPr txBox="1"/>
          <p:nvPr/>
        </p:nvSpPr>
        <p:spPr>
          <a:xfrm>
            <a:off x="120809" y="1614442"/>
            <a:ext cx="5061902" cy="2711640"/>
          </a:xfrm>
          <a:prstGeom prst="rect">
            <a:avLst/>
          </a:prstGeom>
          <a:noFill/>
        </p:spPr>
        <p:txBody>
          <a:bodyPr wrap="square" rtlCol="0">
            <a:spAutoFit/>
          </a:bodyPr>
          <a:lstStyle/>
          <a:p>
            <a:pPr>
              <a:lnSpc>
                <a:spcPct val="115000"/>
              </a:lnSpc>
              <a:spcAft>
                <a:spcPts val="700"/>
              </a:spcAft>
            </a:pPr>
            <a:r>
              <a:rPr lang="en-US" dirty="0"/>
              <a:t>Total Deformation is the magnitude of the total displacement of a point in all directions, showing how far that point has moved from its original position.</a:t>
            </a:r>
          </a:p>
          <a:p>
            <a:pPr>
              <a:lnSpc>
                <a:spcPct val="115000"/>
              </a:lnSpc>
              <a:spcAft>
                <a:spcPts val="700"/>
              </a:spcAft>
            </a:pPr>
            <a:r>
              <a:rPr lang="en-US" b="1" dirty="0"/>
              <a:t>ARMS:</a:t>
            </a:r>
          </a:p>
          <a:p>
            <a:r>
              <a:rPr lang="en-US" dirty="0"/>
              <a:t>Maximum Deformation: </a:t>
            </a:r>
            <a:r>
              <a:rPr lang="en-US" b="1" dirty="0"/>
              <a:t>12.018 mm</a:t>
            </a:r>
            <a:endParaRPr lang="en-IN" dirty="0"/>
          </a:p>
          <a:p>
            <a:r>
              <a:rPr lang="en-US" dirty="0"/>
              <a:t>Minimum Deformation: </a:t>
            </a:r>
            <a:r>
              <a:rPr lang="en-US" b="1" dirty="0"/>
              <a:t>0 mm</a:t>
            </a:r>
            <a:endParaRPr lang="en-IN" dirty="0"/>
          </a:p>
          <a:p>
            <a:pPr>
              <a:lnSpc>
                <a:spcPct val="115000"/>
              </a:lnSpc>
              <a:spcAft>
                <a:spcPts val="700"/>
              </a:spcAft>
              <a:buNone/>
            </a:pPr>
            <a:endParaRPr lang="en-IN" sz="1800" kern="100" dirty="0">
              <a:effectLst/>
              <a:latin typeface="Liberation Serif"/>
              <a:ea typeface="Noto Serif CJK SC"/>
              <a:cs typeface="Noto Sans Devanagari" panose="020B0502040504020204" pitchFamily="34" charset="0"/>
            </a:endParaRPr>
          </a:p>
        </p:txBody>
      </p:sp>
      <p:sp>
        <p:nvSpPr>
          <p:cNvPr id="5" name="TextBox 4">
            <a:extLst>
              <a:ext uri="{FF2B5EF4-FFF2-40B4-BE49-F238E27FC236}">
                <a16:creationId xmlns:a16="http://schemas.microsoft.com/office/drawing/2014/main" id="{574ACE3A-DDF8-D4E3-0FD9-48DD18F96D0B}"/>
              </a:ext>
            </a:extLst>
          </p:cNvPr>
          <p:cNvSpPr txBox="1"/>
          <p:nvPr/>
        </p:nvSpPr>
        <p:spPr>
          <a:xfrm>
            <a:off x="77418" y="4445477"/>
            <a:ext cx="6018582" cy="959943"/>
          </a:xfrm>
          <a:prstGeom prst="rect">
            <a:avLst/>
          </a:prstGeom>
          <a:noFill/>
        </p:spPr>
        <p:txBody>
          <a:bodyPr wrap="square">
            <a:spAutoFit/>
          </a:bodyPr>
          <a:lstStyle/>
          <a:p>
            <a:pPr marL="104775" marR="95250" algn="just">
              <a:lnSpc>
                <a:spcPct val="107000"/>
              </a:lnSpc>
              <a:spcBef>
                <a:spcPts val="410"/>
              </a:spcBef>
            </a:pPr>
            <a:r>
              <a:rPr lang="en-US" sz="1800" dirty="0">
                <a:effectLst/>
                <a:latin typeface="Arial MT"/>
                <a:ea typeface="Arial MT"/>
                <a:cs typeface="Arial MT"/>
              </a:rPr>
              <a:t>The simulation showed very little deformation in the Frame and Arms, which means the design is structurally strong.</a:t>
            </a:r>
            <a:endParaRPr lang="en-IN" sz="1800" dirty="0">
              <a:effectLst/>
              <a:latin typeface="Arial MT"/>
              <a:ea typeface="Arial MT"/>
              <a:cs typeface="Arial MT"/>
            </a:endParaRPr>
          </a:p>
        </p:txBody>
      </p:sp>
      <p:sp>
        <p:nvSpPr>
          <p:cNvPr id="6" name="Rectangle 5">
            <a:extLst>
              <a:ext uri="{FF2B5EF4-FFF2-40B4-BE49-F238E27FC236}">
                <a16:creationId xmlns:a16="http://schemas.microsoft.com/office/drawing/2014/main" id="{3F4D95BD-438A-F32E-7537-2D0529CC1023}"/>
              </a:ext>
            </a:extLst>
          </p:cNvPr>
          <p:cNvSpPr/>
          <p:nvPr/>
        </p:nvSpPr>
        <p:spPr>
          <a:xfrm>
            <a:off x="6354555" y="1899000"/>
            <a:ext cx="5580000" cy="306000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22265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46DAA-5B05-20EC-3EDF-0D4DC588961B}"/>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FE431078-9AE4-387E-C70D-B49BCD1F4F1B}"/>
              </a:ext>
            </a:extLst>
          </p:cNvPr>
          <p:cNvPicPr>
            <a:picLocks noChangeAspect="1"/>
          </p:cNvPicPr>
          <p:nvPr/>
        </p:nvPicPr>
        <p:blipFill>
          <a:blip r:embed="rId2">
            <a:clrChange>
              <a:clrFrom>
                <a:srgbClr val="071002"/>
              </a:clrFrom>
              <a:clrTo>
                <a:srgbClr val="071002">
                  <a:alpha val="0"/>
                </a:srgbClr>
              </a:clrTo>
            </a:clrChange>
            <a:extLst>
              <a:ext uri="{BEBA8EAE-BF5A-486C-A8C5-ECC9F3942E4B}">
                <a14:imgProps xmlns:a14="http://schemas.microsoft.com/office/drawing/2010/main">
                  <a14:imgLayer r:embed="rId3">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sp>
        <p:nvSpPr>
          <p:cNvPr id="4" name="Rectangle 3">
            <a:extLst>
              <a:ext uri="{FF2B5EF4-FFF2-40B4-BE49-F238E27FC236}">
                <a16:creationId xmlns:a16="http://schemas.microsoft.com/office/drawing/2014/main" id="{EBE51ED2-BD7E-B77E-0272-8E8D658839D0}"/>
              </a:ext>
            </a:extLst>
          </p:cNvPr>
          <p:cNvSpPr/>
          <p:nvPr/>
        </p:nvSpPr>
        <p:spPr>
          <a:xfrm>
            <a:off x="-1" y="401452"/>
            <a:ext cx="9611833" cy="741600"/>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700"/>
              </a:spcAft>
            </a:pPr>
            <a:r>
              <a:rPr lang="en-US" sz="4400" b="1" dirty="0">
                <a:latin typeface="Times New Roman" panose="02020603050405020304" pitchFamily="18" charset="0"/>
                <a:cs typeface="Times New Roman" panose="02020603050405020304" pitchFamily="18" charset="0"/>
              </a:rPr>
              <a:t>   EQUIVQLENT ELASTIC STRAIN:</a:t>
            </a:r>
          </a:p>
        </p:txBody>
      </p:sp>
      <p:sp>
        <p:nvSpPr>
          <p:cNvPr id="11" name="TextBox 10">
            <a:extLst>
              <a:ext uri="{FF2B5EF4-FFF2-40B4-BE49-F238E27FC236}">
                <a16:creationId xmlns:a16="http://schemas.microsoft.com/office/drawing/2014/main" id="{B17D6A1F-F187-44D0-8388-C3FF2DFE40E8}"/>
              </a:ext>
            </a:extLst>
          </p:cNvPr>
          <p:cNvSpPr txBox="1"/>
          <p:nvPr/>
        </p:nvSpPr>
        <p:spPr>
          <a:xfrm>
            <a:off x="120809" y="1614442"/>
            <a:ext cx="5061902" cy="2737160"/>
          </a:xfrm>
          <a:prstGeom prst="rect">
            <a:avLst/>
          </a:prstGeom>
          <a:noFill/>
        </p:spPr>
        <p:txBody>
          <a:bodyPr wrap="square" rtlCol="0">
            <a:spAutoFit/>
          </a:bodyPr>
          <a:lstStyle/>
          <a:p>
            <a:pPr>
              <a:lnSpc>
                <a:spcPct val="115000"/>
              </a:lnSpc>
              <a:spcAft>
                <a:spcPts val="700"/>
              </a:spcAft>
            </a:pPr>
            <a:r>
              <a:rPr lang="en-US" dirty="0"/>
              <a:t>Equivalent Elastic Strain is the amount of strain energy per unit volume a material stores under elastic deformation, expressed as a single value, typically used for comparing to yield strain limits.</a:t>
            </a:r>
          </a:p>
          <a:p>
            <a:pPr>
              <a:lnSpc>
                <a:spcPct val="115000"/>
              </a:lnSpc>
              <a:spcAft>
                <a:spcPts val="700"/>
              </a:spcAft>
            </a:pPr>
            <a:r>
              <a:rPr lang="en-US" b="1" dirty="0"/>
              <a:t>FRAME:</a:t>
            </a:r>
          </a:p>
          <a:p>
            <a:r>
              <a:rPr lang="en-US" dirty="0"/>
              <a:t>Maximum Elastic Strain: </a:t>
            </a:r>
            <a:r>
              <a:rPr lang="en-US" b="1" dirty="0"/>
              <a:t>0.0043213</a:t>
            </a:r>
            <a:endParaRPr lang="en-IN" dirty="0"/>
          </a:p>
          <a:p>
            <a:r>
              <a:rPr lang="en-US" dirty="0"/>
              <a:t>Minimum Elastic Strain: </a:t>
            </a:r>
            <a:r>
              <a:rPr lang="en-US" b="1" dirty="0"/>
              <a:t>0 </a:t>
            </a:r>
            <a:endParaRPr lang="en-IN" sz="1800" kern="100" dirty="0">
              <a:effectLst/>
              <a:latin typeface="Liberation Serif"/>
              <a:ea typeface="Noto Serif CJK SC"/>
              <a:cs typeface="Noto Sans Devanagari" panose="020B0502040504020204" pitchFamily="34" charset="0"/>
            </a:endParaRPr>
          </a:p>
        </p:txBody>
      </p:sp>
    </p:spTree>
    <p:extLst>
      <p:ext uri="{BB962C8B-B14F-4D97-AF65-F5344CB8AC3E}">
        <p14:creationId xmlns:p14="http://schemas.microsoft.com/office/powerpoint/2010/main" val="24508865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C814B-6675-91E0-FDEE-CB5749FA29B5}"/>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B00CF290-6272-79A9-B2D5-45AA597DE5F6}"/>
              </a:ext>
            </a:extLst>
          </p:cNvPr>
          <p:cNvPicPr>
            <a:picLocks noChangeAspect="1"/>
          </p:cNvPicPr>
          <p:nvPr/>
        </p:nvPicPr>
        <p:blipFill>
          <a:blip r:embed="rId2">
            <a:clrChange>
              <a:clrFrom>
                <a:srgbClr val="071002"/>
              </a:clrFrom>
              <a:clrTo>
                <a:srgbClr val="071002">
                  <a:alpha val="0"/>
                </a:srgbClr>
              </a:clrTo>
            </a:clrChange>
            <a:extLst>
              <a:ext uri="{BEBA8EAE-BF5A-486C-A8C5-ECC9F3942E4B}">
                <a14:imgProps xmlns:a14="http://schemas.microsoft.com/office/drawing/2010/main">
                  <a14:imgLayer r:embed="rId3">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sp>
        <p:nvSpPr>
          <p:cNvPr id="4" name="Rectangle 3">
            <a:extLst>
              <a:ext uri="{FF2B5EF4-FFF2-40B4-BE49-F238E27FC236}">
                <a16:creationId xmlns:a16="http://schemas.microsoft.com/office/drawing/2014/main" id="{8707112A-BFF2-8E69-FB94-83FB823F54B3}"/>
              </a:ext>
            </a:extLst>
          </p:cNvPr>
          <p:cNvSpPr/>
          <p:nvPr/>
        </p:nvSpPr>
        <p:spPr>
          <a:xfrm>
            <a:off x="-1" y="401452"/>
            <a:ext cx="9611833" cy="741600"/>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700"/>
              </a:spcAft>
            </a:pPr>
            <a:r>
              <a:rPr lang="en-US" sz="4400" b="1" dirty="0">
                <a:latin typeface="Times New Roman" panose="02020603050405020304" pitchFamily="18" charset="0"/>
                <a:cs typeface="Times New Roman" panose="02020603050405020304" pitchFamily="18" charset="0"/>
              </a:rPr>
              <a:t>   EQUIVQLENT ELASTIC STRAIN:</a:t>
            </a:r>
          </a:p>
        </p:txBody>
      </p:sp>
      <p:sp>
        <p:nvSpPr>
          <p:cNvPr id="11" name="TextBox 10">
            <a:extLst>
              <a:ext uri="{FF2B5EF4-FFF2-40B4-BE49-F238E27FC236}">
                <a16:creationId xmlns:a16="http://schemas.microsoft.com/office/drawing/2014/main" id="{CCD8594F-DAAE-71E5-C125-021D9860745D}"/>
              </a:ext>
            </a:extLst>
          </p:cNvPr>
          <p:cNvSpPr txBox="1"/>
          <p:nvPr/>
        </p:nvSpPr>
        <p:spPr>
          <a:xfrm>
            <a:off x="120809" y="1614442"/>
            <a:ext cx="5061902" cy="4003084"/>
          </a:xfrm>
          <a:prstGeom prst="rect">
            <a:avLst/>
          </a:prstGeom>
          <a:noFill/>
        </p:spPr>
        <p:txBody>
          <a:bodyPr wrap="square" rtlCol="0">
            <a:spAutoFit/>
          </a:bodyPr>
          <a:lstStyle/>
          <a:p>
            <a:pPr>
              <a:lnSpc>
                <a:spcPct val="115000"/>
              </a:lnSpc>
              <a:spcAft>
                <a:spcPts val="700"/>
              </a:spcAft>
            </a:pPr>
            <a:r>
              <a:rPr lang="en-US" dirty="0"/>
              <a:t>Equivalent Elastic Strain is the amount of strain energy per unit volume a material stores under elastic deformation, expressed as a single value, typically used for comparing to yield strain limits.</a:t>
            </a:r>
          </a:p>
          <a:p>
            <a:r>
              <a:rPr lang="en-US" b="1" dirty="0"/>
              <a:t>ARMS:</a:t>
            </a:r>
          </a:p>
          <a:p>
            <a:r>
              <a:rPr lang="en-US" dirty="0"/>
              <a:t>Maximum Elastic Strain: </a:t>
            </a:r>
            <a:r>
              <a:rPr lang="en-US" b="1" dirty="0"/>
              <a:t>0.0034692</a:t>
            </a:r>
            <a:endParaRPr lang="en-IN" dirty="0"/>
          </a:p>
          <a:p>
            <a:r>
              <a:rPr lang="en-US" dirty="0"/>
              <a:t>Minimum Elastic Strain: </a:t>
            </a:r>
            <a:r>
              <a:rPr lang="en-US" b="1" dirty="0"/>
              <a:t>0</a:t>
            </a:r>
          </a:p>
          <a:p>
            <a:endParaRPr lang="en-IN" dirty="0"/>
          </a:p>
          <a:p>
            <a:r>
              <a:rPr lang="en-US" dirty="0"/>
              <a:t>The strain values stayed within safe limits, indicating the material only experienced elastic deformation.</a:t>
            </a:r>
            <a:endParaRPr lang="en-IN" dirty="0"/>
          </a:p>
          <a:p>
            <a:pPr>
              <a:lnSpc>
                <a:spcPct val="115000"/>
              </a:lnSpc>
              <a:spcAft>
                <a:spcPts val="700"/>
              </a:spcAft>
            </a:pPr>
            <a:endParaRPr lang="en-US" b="1" dirty="0"/>
          </a:p>
        </p:txBody>
      </p:sp>
    </p:spTree>
    <p:extLst>
      <p:ext uri="{BB962C8B-B14F-4D97-AF65-F5344CB8AC3E}">
        <p14:creationId xmlns:p14="http://schemas.microsoft.com/office/powerpoint/2010/main" val="6637963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E515A-A261-DAA2-622F-68277044C990}"/>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7F433832-8575-AC97-F2F7-90F511FC69D4}"/>
              </a:ext>
            </a:extLst>
          </p:cNvPr>
          <p:cNvPicPr>
            <a:picLocks noChangeAspect="1"/>
          </p:cNvPicPr>
          <p:nvPr/>
        </p:nvPicPr>
        <p:blipFill>
          <a:blip r:embed="rId2">
            <a:clrChange>
              <a:clrFrom>
                <a:srgbClr val="071002"/>
              </a:clrFrom>
              <a:clrTo>
                <a:srgbClr val="071002">
                  <a:alpha val="0"/>
                </a:srgbClr>
              </a:clrTo>
            </a:clrChange>
            <a:extLst>
              <a:ext uri="{BEBA8EAE-BF5A-486C-A8C5-ECC9F3942E4B}">
                <a14:imgProps xmlns:a14="http://schemas.microsoft.com/office/drawing/2010/main">
                  <a14:imgLayer r:embed="rId3">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sp>
        <p:nvSpPr>
          <p:cNvPr id="4" name="Rectangle 3">
            <a:extLst>
              <a:ext uri="{FF2B5EF4-FFF2-40B4-BE49-F238E27FC236}">
                <a16:creationId xmlns:a16="http://schemas.microsoft.com/office/drawing/2014/main" id="{E0B461CF-E427-5EB8-550C-4F3C3A3DD7C4}"/>
              </a:ext>
            </a:extLst>
          </p:cNvPr>
          <p:cNvSpPr/>
          <p:nvPr/>
        </p:nvSpPr>
        <p:spPr>
          <a:xfrm>
            <a:off x="-1" y="401452"/>
            <a:ext cx="9611833" cy="741600"/>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700"/>
              </a:spcAft>
            </a:pPr>
            <a:r>
              <a:rPr lang="en-US" sz="4400" b="1" dirty="0">
                <a:latin typeface="Times New Roman" panose="02020603050405020304" pitchFamily="18" charset="0"/>
                <a:cs typeface="Times New Roman" panose="02020603050405020304" pitchFamily="18" charset="0"/>
              </a:rPr>
              <a:t>   EQUIVQLENT STRESS:</a:t>
            </a:r>
          </a:p>
        </p:txBody>
      </p:sp>
      <p:sp>
        <p:nvSpPr>
          <p:cNvPr id="11" name="TextBox 10">
            <a:extLst>
              <a:ext uri="{FF2B5EF4-FFF2-40B4-BE49-F238E27FC236}">
                <a16:creationId xmlns:a16="http://schemas.microsoft.com/office/drawing/2014/main" id="{E6CDCBA2-BB1C-BDD2-89DA-B7C2DF52DC4D}"/>
              </a:ext>
            </a:extLst>
          </p:cNvPr>
          <p:cNvSpPr txBox="1"/>
          <p:nvPr/>
        </p:nvSpPr>
        <p:spPr>
          <a:xfrm>
            <a:off x="120809" y="1614442"/>
            <a:ext cx="5061902" cy="3199274"/>
          </a:xfrm>
          <a:prstGeom prst="rect">
            <a:avLst/>
          </a:prstGeom>
          <a:noFill/>
        </p:spPr>
        <p:txBody>
          <a:bodyPr wrap="square" rtlCol="0">
            <a:spAutoFit/>
          </a:bodyPr>
          <a:lstStyle/>
          <a:p>
            <a:pPr>
              <a:lnSpc>
                <a:spcPct val="115000"/>
              </a:lnSpc>
              <a:spcAft>
                <a:spcPts val="700"/>
              </a:spcAft>
            </a:pPr>
            <a:r>
              <a:rPr lang="en-US" dirty="0"/>
              <a:t>Equivalent Stress (also known as von Mises stress) is a calculated value that combines the different normal and shear stress components into one value, making it easier to compare against the material's yield strength.</a:t>
            </a:r>
          </a:p>
          <a:p>
            <a:pPr>
              <a:lnSpc>
                <a:spcPct val="115000"/>
              </a:lnSpc>
              <a:spcAft>
                <a:spcPts val="700"/>
              </a:spcAft>
            </a:pPr>
            <a:r>
              <a:rPr lang="en-US" b="1" dirty="0"/>
              <a:t>FRAME:</a:t>
            </a:r>
          </a:p>
          <a:p>
            <a:pPr>
              <a:lnSpc>
                <a:spcPct val="115000"/>
              </a:lnSpc>
              <a:spcAft>
                <a:spcPts val="700"/>
              </a:spcAft>
            </a:pPr>
            <a:r>
              <a:rPr lang="en-US" dirty="0"/>
              <a:t>Maximum Elastic Strain: </a:t>
            </a:r>
            <a:r>
              <a:rPr lang="en-US" b="1" dirty="0"/>
              <a:t>137.18 MPa</a:t>
            </a:r>
            <a:endParaRPr lang="en-IN" dirty="0"/>
          </a:p>
          <a:p>
            <a:pPr>
              <a:lnSpc>
                <a:spcPct val="115000"/>
              </a:lnSpc>
              <a:spcAft>
                <a:spcPts val="700"/>
              </a:spcAft>
            </a:pPr>
            <a:r>
              <a:rPr lang="en-US" dirty="0"/>
              <a:t>Minimum Elastic Strain: </a:t>
            </a:r>
            <a:r>
              <a:rPr lang="en-US" b="1" dirty="0"/>
              <a:t>0 </a:t>
            </a:r>
          </a:p>
        </p:txBody>
      </p:sp>
    </p:spTree>
    <p:extLst>
      <p:ext uri="{BB962C8B-B14F-4D97-AF65-F5344CB8AC3E}">
        <p14:creationId xmlns:p14="http://schemas.microsoft.com/office/powerpoint/2010/main" val="10483638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32DF9-3600-0AE3-BFE2-55FBCA4852E9}"/>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C4831D3A-1C1C-1E8C-3ED6-3ADDF34EB442}"/>
              </a:ext>
            </a:extLst>
          </p:cNvPr>
          <p:cNvPicPr>
            <a:picLocks noChangeAspect="1"/>
          </p:cNvPicPr>
          <p:nvPr/>
        </p:nvPicPr>
        <p:blipFill>
          <a:blip r:embed="rId2">
            <a:clrChange>
              <a:clrFrom>
                <a:srgbClr val="071002"/>
              </a:clrFrom>
              <a:clrTo>
                <a:srgbClr val="071002">
                  <a:alpha val="0"/>
                </a:srgbClr>
              </a:clrTo>
            </a:clrChange>
            <a:extLst>
              <a:ext uri="{BEBA8EAE-BF5A-486C-A8C5-ECC9F3942E4B}">
                <a14:imgProps xmlns:a14="http://schemas.microsoft.com/office/drawing/2010/main">
                  <a14:imgLayer r:embed="rId3">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sp>
        <p:nvSpPr>
          <p:cNvPr id="4" name="Rectangle 3">
            <a:extLst>
              <a:ext uri="{FF2B5EF4-FFF2-40B4-BE49-F238E27FC236}">
                <a16:creationId xmlns:a16="http://schemas.microsoft.com/office/drawing/2014/main" id="{3A29FF50-EA0F-1EB3-D9C1-877E5233D953}"/>
              </a:ext>
            </a:extLst>
          </p:cNvPr>
          <p:cNvSpPr/>
          <p:nvPr/>
        </p:nvSpPr>
        <p:spPr>
          <a:xfrm>
            <a:off x="-1" y="401452"/>
            <a:ext cx="9611833" cy="741600"/>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700"/>
              </a:spcAft>
            </a:pPr>
            <a:r>
              <a:rPr lang="en-US" sz="4400" b="1" dirty="0">
                <a:latin typeface="Times New Roman" panose="02020603050405020304" pitchFamily="18" charset="0"/>
                <a:cs typeface="Times New Roman" panose="02020603050405020304" pitchFamily="18" charset="0"/>
              </a:rPr>
              <a:t>   EQUIVQLENT STRESS:</a:t>
            </a:r>
          </a:p>
        </p:txBody>
      </p:sp>
      <p:sp>
        <p:nvSpPr>
          <p:cNvPr id="11" name="TextBox 10">
            <a:extLst>
              <a:ext uri="{FF2B5EF4-FFF2-40B4-BE49-F238E27FC236}">
                <a16:creationId xmlns:a16="http://schemas.microsoft.com/office/drawing/2014/main" id="{4A93E619-F27F-DDAC-A899-B37F8169F6A8}"/>
              </a:ext>
            </a:extLst>
          </p:cNvPr>
          <p:cNvSpPr txBox="1"/>
          <p:nvPr/>
        </p:nvSpPr>
        <p:spPr>
          <a:xfrm>
            <a:off x="120809" y="1614442"/>
            <a:ext cx="5061902" cy="4321632"/>
          </a:xfrm>
          <a:prstGeom prst="rect">
            <a:avLst/>
          </a:prstGeom>
          <a:noFill/>
        </p:spPr>
        <p:txBody>
          <a:bodyPr wrap="square" rtlCol="0">
            <a:spAutoFit/>
          </a:bodyPr>
          <a:lstStyle/>
          <a:p>
            <a:pPr>
              <a:lnSpc>
                <a:spcPct val="115000"/>
              </a:lnSpc>
              <a:spcAft>
                <a:spcPts val="700"/>
              </a:spcAft>
            </a:pPr>
            <a:r>
              <a:rPr lang="en-US" dirty="0"/>
              <a:t>Equivalent Stress (also known as von Mises stress) is a calculated value that combines the different normal and shear stress components into one value, making it easier to compare against the material's yield strength.</a:t>
            </a:r>
          </a:p>
          <a:p>
            <a:r>
              <a:rPr lang="en-US" b="1" dirty="0"/>
              <a:t>ARMS:</a:t>
            </a:r>
          </a:p>
          <a:p>
            <a:r>
              <a:rPr lang="en-US" dirty="0"/>
              <a:t>Maximum Elastic Strain: </a:t>
            </a:r>
            <a:r>
              <a:rPr lang="en-US" b="1" dirty="0"/>
              <a:t>18.502 MPa</a:t>
            </a:r>
            <a:endParaRPr lang="en-IN" dirty="0"/>
          </a:p>
          <a:p>
            <a:r>
              <a:rPr lang="en-US" dirty="0"/>
              <a:t>Minimum Elastic Strain: </a:t>
            </a:r>
            <a:r>
              <a:rPr lang="en-US" b="1" dirty="0"/>
              <a:t>0</a:t>
            </a:r>
          </a:p>
          <a:p>
            <a:endParaRPr lang="en-IN" dirty="0"/>
          </a:p>
          <a:p>
            <a:r>
              <a:rPr lang="en-US" dirty="0"/>
              <a:t>The stress values were all below the yield strength, confirming that the structure is safe under load.</a:t>
            </a:r>
            <a:endParaRPr lang="en-IN" dirty="0"/>
          </a:p>
          <a:p>
            <a:pPr>
              <a:lnSpc>
                <a:spcPct val="115000"/>
              </a:lnSpc>
              <a:spcAft>
                <a:spcPts val="700"/>
              </a:spcAft>
            </a:pPr>
            <a:endParaRPr lang="en-US" b="1" dirty="0"/>
          </a:p>
        </p:txBody>
      </p:sp>
    </p:spTree>
    <p:extLst>
      <p:ext uri="{BB962C8B-B14F-4D97-AF65-F5344CB8AC3E}">
        <p14:creationId xmlns:p14="http://schemas.microsoft.com/office/powerpoint/2010/main" val="12883061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F9F72-B881-BCB4-F252-0691332500E7}"/>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118D59A-15C2-C663-4906-3BA733226DF8}"/>
              </a:ext>
            </a:extLst>
          </p:cNvPr>
          <p:cNvPicPr>
            <a:picLocks noChangeAspect="1"/>
          </p:cNvPicPr>
          <p:nvPr/>
        </p:nvPicPr>
        <p:blipFill>
          <a:blip r:embed="rId2">
            <a:clrChange>
              <a:clrFrom>
                <a:srgbClr val="071002"/>
              </a:clrFrom>
              <a:clrTo>
                <a:srgbClr val="071002">
                  <a:alpha val="0"/>
                </a:srgbClr>
              </a:clrTo>
            </a:clrChange>
            <a:extLst>
              <a:ext uri="{BEBA8EAE-BF5A-486C-A8C5-ECC9F3942E4B}">
                <a14:imgProps xmlns:a14="http://schemas.microsoft.com/office/drawing/2010/main">
                  <a14:imgLayer r:embed="rId3">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sp>
        <p:nvSpPr>
          <p:cNvPr id="4" name="Rectangle 3">
            <a:extLst>
              <a:ext uri="{FF2B5EF4-FFF2-40B4-BE49-F238E27FC236}">
                <a16:creationId xmlns:a16="http://schemas.microsoft.com/office/drawing/2014/main" id="{FB19CDBF-53FD-0EAB-8DC8-C4464B6BF8A8}"/>
              </a:ext>
            </a:extLst>
          </p:cNvPr>
          <p:cNvSpPr/>
          <p:nvPr/>
        </p:nvSpPr>
        <p:spPr>
          <a:xfrm>
            <a:off x="-1021080" y="6338274"/>
            <a:ext cx="14234160" cy="6004560"/>
          </a:xfrm>
          <a:prstGeom prst="rect">
            <a:avLst/>
          </a:prstGeom>
          <a:gradFill>
            <a:gsLst>
              <a:gs pos="0">
                <a:schemeClr val="bg1">
                  <a:lumMod val="95000"/>
                  <a:lumOff val="5000"/>
                  <a:alpha val="0"/>
                </a:schemeClr>
              </a:gs>
              <a:gs pos="77000">
                <a:schemeClr val="tx2">
                  <a:lumMod val="10000"/>
                </a:schemeClr>
              </a:gs>
            </a:gsLst>
            <a:lin ang="612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CD9904B4-8868-3FE6-6D53-63CF1748E31F}"/>
              </a:ext>
            </a:extLst>
          </p:cNvPr>
          <p:cNvSpPr/>
          <p:nvPr/>
        </p:nvSpPr>
        <p:spPr>
          <a:xfrm>
            <a:off x="773723" y="1367360"/>
            <a:ext cx="10644553" cy="2860431"/>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604EA14C-3657-4F28-7191-6D8650F0D983}"/>
              </a:ext>
            </a:extLst>
          </p:cNvPr>
          <p:cNvSpPr txBox="1"/>
          <p:nvPr/>
        </p:nvSpPr>
        <p:spPr>
          <a:xfrm>
            <a:off x="1780851" y="2197410"/>
            <a:ext cx="8630296" cy="1200329"/>
          </a:xfrm>
          <a:prstGeom prst="rect">
            <a:avLst/>
          </a:prstGeom>
          <a:noFill/>
        </p:spPr>
        <p:txBody>
          <a:bodyPr wrap="square" rtlCol="0">
            <a:spAutoFit/>
          </a:bodyPr>
          <a:lstStyle/>
          <a:p>
            <a:r>
              <a:rPr lang="en-US" sz="7200" dirty="0"/>
              <a:t>SCANNING DRONE</a:t>
            </a:r>
            <a:endParaRPr lang="en-IN" sz="7200" dirty="0"/>
          </a:p>
        </p:txBody>
      </p:sp>
    </p:spTree>
    <p:extLst>
      <p:ext uri="{BB962C8B-B14F-4D97-AF65-F5344CB8AC3E}">
        <p14:creationId xmlns:p14="http://schemas.microsoft.com/office/powerpoint/2010/main" val="2734784983"/>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02417-86F7-BA7F-D9CD-DC63EBC97FA0}"/>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F8051FD8-1156-24EE-6514-105E0EC9F293}"/>
              </a:ext>
            </a:extLst>
          </p:cNvPr>
          <p:cNvPicPr>
            <a:picLocks noChangeAspect="1"/>
          </p:cNvPicPr>
          <p:nvPr/>
        </p:nvPicPr>
        <p:blipFill>
          <a:blip r:embed="rId2">
            <a:clrChange>
              <a:clrFrom>
                <a:srgbClr val="071002"/>
              </a:clrFrom>
              <a:clrTo>
                <a:srgbClr val="071002">
                  <a:alpha val="0"/>
                </a:srgbClr>
              </a:clrTo>
            </a:clrChange>
            <a:extLst>
              <a:ext uri="{BEBA8EAE-BF5A-486C-A8C5-ECC9F3942E4B}">
                <a14:imgProps xmlns:a14="http://schemas.microsoft.com/office/drawing/2010/main">
                  <a14:imgLayer r:embed="rId3">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288780"/>
            <a:ext cx="13106400" cy="17475200"/>
          </a:xfrm>
          <a:prstGeom prst="rect">
            <a:avLst/>
          </a:prstGeom>
        </p:spPr>
      </p:pic>
      <p:sp>
        <p:nvSpPr>
          <p:cNvPr id="4" name="TextBox 3">
            <a:extLst>
              <a:ext uri="{FF2B5EF4-FFF2-40B4-BE49-F238E27FC236}">
                <a16:creationId xmlns:a16="http://schemas.microsoft.com/office/drawing/2014/main" id="{ED1EDE54-5E13-3CAF-F0B7-0AD0A51C2D20}"/>
              </a:ext>
            </a:extLst>
          </p:cNvPr>
          <p:cNvSpPr txBox="1"/>
          <p:nvPr/>
        </p:nvSpPr>
        <p:spPr>
          <a:xfrm>
            <a:off x="0" y="343429"/>
            <a:ext cx="7327758" cy="707886"/>
          </a:xfrm>
          <a:prstGeom prst="rect">
            <a:avLst/>
          </a:prstGeom>
          <a:solidFill>
            <a:schemeClr val="bg2">
              <a:lumMod val="75000"/>
            </a:schemeClr>
          </a:solidFill>
        </p:spPr>
        <p:txBody>
          <a:bodyPr wrap="square">
            <a:spAutoFit/>
          </a:bodyPr>
          <a:lstStyle/>
          <a:p>
            <a:pPr algn="ctr"/>
            <a:r>
              <a:rPr lang="en-US" sz="4000" b="1" dirty="0">
                <a:latin typeface="Times New Roman" panose="02020603050405020304" pitchFamily="18" charset="0"/>
                <a:cs typeface="Times New Roman" panose="02020603050405020304" pitchFamily="18" charset="0"/>
              </a:rPr>
              <a:t>COMPONENTS USED</a:t>
            </a:r>
          </a:p>
        </p:txBody>
      </p:sp>
      <p:sp>
        <p:nvSpPr>
          <p:cNvPr id="25" name="Rectangle: Rounded Corners 24">
            <a:extLst>
              <a:ext uri="{FF2B5EF4-FFF2-40B4-BE49-F238E27FC236}">
                <a16:creationId xmlns:a16="http://schemas.microsoft.com/office/drawing/2014/main" id="{C44C1BB1-DB18-F8FE-7AC8-BABCBA3218D4}"/>
              </a:ext>
            </a:extLst>
          </p:cNvPr>
          <p:cNvSpPr/>
          <p:nvPr/>
        </p:nvSpPr>
        <p:spPr>
          <a:xfrm>
            <a:off x="213360" y="1291771"/>
            <a:ext cx="11978639" cy="5164777"/>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3" name="Table 2">
            <a:extLst>
              <a:ext uri="{FF2B5EF4-FFF2-40B4-BE49-F238E27FC236}">
                <a16:creationId xmlns:a16="http://schemas.microsoft.com/office/drawing/2014/main" id="{29D71C43-D58D-77AE-8EF5-FAA8B27A2160}"/>
              </a:ext>
            </a:extLst>
          </p:cNvPr>
          <p:cNvGraphicFramePr>
            <a:graphicFrameLocks noGrp="1"/>
          </p:cNvGraphicFramePr>
          <p:nvPr>
            <p:extLst>
              <p:ext uri="{D42A27DB-BD31-4B8C-83A1-F6EECF244321}">
                <p14:modId xmlns:p14="http://schemas.microsoft.com/office/powerpoint/2010/main" val="3216276314"/>
              </p:ext>
            </p:extLst>
          </p:nvPr>
        </p:nvGraphicFramePr>
        <p:xfrm>
          <a:off x="1316899" y="1800225"/>
          <a:ext cx="10034724" cy="4182564"/>
        </p:xfrm>
        <a:graphic>
          <a:graphicData uri="http://schemas.openxmlformats.org/drawingml/2006/table">
            <a:tbl>
              <a:tblPr firstRow="1" firstCol="1" bandRow="1">
                <a:tableStyleId>{5940675A-B579-460E-94D1-54222C63F5DA}</a:tableStyleId>
              </a:tblPr>
              <a:tblGrid>
                <a:gridCol w="2322852">
                  <a:extLst>
                    <a:ext uri="{9D8B030D-6E8A-4147-A177-3AD203B41FA5}">
                      <a16:colId xmlns:a16="http://schemas.microsoft.com/office/drawing/2014/main" val="2421026378"/>
                    </a:ext>
                  </a:extLst>
                </a:gridCol>
                <a:gridCol w="7711872">
                  <a:extLst>
                    <a:ext uri="{9D8B030D-6E8A-4147-A177-3AD203B41FA5}">
                      <a16:colId xmlns:a16="http://schemas.microsoft.com/office/drawing/2014/main" val="328615902"/>
                    </a:ext>
                  </a:extLst>
                </a:gridCol>
              </a:tblGrid>
              <a:tr h="348547">
                <a:tc>
                  <a:txBody>
                    <a:bodyPr/>
                    <a:lstStyle/>
                    <a:p>
                      <a:pPr marR="335915" algn="ctr">
                        <a:lnSpc>
                          <a:spcPct val="150000"/>
                        </a:lnSpc>
                        <a:spcAft>
                          <a:spcPts val="800"/>
                        </a:spcAft>
                        <a:buNone/>
                      </a:pPr>
                      <a:r>
                        <a:rPr lang="en-IN" sz="1600" kern="100">
                          <a:effectLst/>
                        </a:rPr>
                        <a:t>S. no.</a:t>
                      </a:r>
                      <a:endParaRPr lang="en-IN" sz="16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R="335915" algn="ctr">
                        <a:lnSpc>
                          <a:spcPct val="150000"/>
                        </a:lnSpc>
                        <a:spcAft>
                          <a:spcPts val="800"/>
                        </a:spcAft>
                        <a:buNone/>
                      </a:pPr>
                      <a:r>
                        <a:rPr lang="en-IN" sz="1600" kern="100">
                          <a:effectLst/>
                        </a:rPr>
                        <a:t>Description</a:t>
                      </a:r>
                      <a:endParaRPr lang="en-IN" sz="16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981479364"/>
                  </a:ext>
                </a:extLst>
              </a:tr>
              <a:tr h="348547">
                <a:tc>
                  <a:txBody>
                    <a:bodyPr/>
                    <a:lstStyle/>
                    <a:p>
                      <a:pPr marR="335915" algn="ctr">
                        <a:lnSpc>
                          <a:spcPct val="150000"/>
                        </a:lnSpc>
                        <a:spcAft>
                          <a:spcPts val="800"/>
                        </a:spcAft>
                        <a:buNone/>
                      </a:pPr>
                      <a:r>
                        <a:rPr lang="en-IN" sz="1600" kern="100">
                          <a:effectLst/>
                        </a:rPr>
                        <a:t>1.</a:t>
                      </a:r>
                      <a:endParaRPr lang="en-IN" sz="16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R="335915" algn="ctr">
                        <a:lnSpc>
                          <a:spcPct val="150000"/>
                        </a:lnSpc>
                        <a:spcAft>
                          <a:spcPts val="800"/>
                        </a:spcAft>
                        <a:buNone/>
                      </a:pPr>
                      <a:r>
                        <a:rPr lang="en-IN" sz="1600" kern="100">
                          <a:effectLst/>
                        </a:rPr>
                        <a:t>Flight Controller Pixhawk Cube Orange+</a:t>
                      </a:r>
                      <a:endParaRPr lang="en-IN" sz="16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325528314"/>
                  </a:ext>
                </a:extLst>
              </a:tr>
              <a:tr h="348547">
                <a:tc>
                  <a:txBody>
                    <a:bodyPr/>
                    <a:lstStyle/>
                    <a:p>
                      <a:pPr marR="335915" algn="ctr">
                        <a:lnSpc>
                          <a:spcPct val="150000"/>
                        </a:lnSpc>
                        <a:spcAft>
                          <a:spcPts val="800"/>
                        </a:spcAft>
                        <a:buNone/>
                      </a:pPr>
                      <a:r>
                        <a:rPr lang="en-IN" sz="1600" kern="100">
                          <a:effectLst/>
                        </a:rPr>
                        <a:t>2.</a:t>
                      </a:r>
                      <a:endParaRPr lang="en-IN" sz="16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R="335915" algn="ctr">
                        <a:lnSpc>
                          <a:spcPct val="150000"/>
                        </a:lnSpc>
                        <a:spcAft>
                          <a:spcPts val="800"/>
                        </a:spcAft>
                        <a:buNone/>
                      </a:pPr>
                      <a:r>
                        <a:rPr lang="en-IN" sz="1600" kern="100">
                          <a:effectLst/>
                        </a:rPr>
                        <a:t>Tarot 4008 330KV Motor </a:t>
                      </a:r>
                      <a:endParaRPr lang="en-IN" sz="16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052741085"/>
                  </a:ext>
                </a:extLst>
              </a:tr>
              <a:tr h="348547">
                <a:tc>
                  <a:txBody>
                    <a:bodyPr/>
                    <a:lstStyle/>
                    <a:p>
                      <a:pPr marR="335915" algn="ctr">
                        <a:lnSpc>
                          <a:spcPct val="150000"/>
                        </a:lnSpc>
                        <a:spcAft>
                          <a:spcPts val="800"/>
                        </a:spcAft>
                        <a:buNone/>
                      </a:pPr>
                      <a:r>
                        <a:rPr lang="en-IN" sz="1600" kern="100" dirty="0">
                          <a:effectLst/>
                        </a:rPr>
                        <a:t>3.</a:t>
                      </a:r>
                      <a:endParaRPr lang="en-IN" sz="16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R="335915" algn="ctr">
                        <a:lnSpc>
                          <a:spcPct val="150000"/>
                        </a:lnSpc>
                        <a:spcAft>
                          <a:spcPts val="800"/>
                        </a:spcAft>
                        <a:buNone/>
                      </a:pPr>
                      <a:r>
                        <a:rPr lang="en-IN" sz="1600" kern="100">
                          <a:effectLst/>
                        </a:rPr>
                        <a:t>3K Carbon Fiber Propeller 1755</a:t>
                      </a:r>
                      <a:endParaRPr lang="en-IN" sz="16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407436851"/>
                  </a:ext>
                </a:extLst>
              </a:tr>
              <a:tr h="348547">
                <a:tc>
                  <a:txBody>
                    <a:bodyPr/>
                    <a:lstStyle/>
                    <a:p>
                      <a:pPr marR="335915" algn="ctr">
                        <a:lnSpc>
                          <a:spcPct val="150000"/>
                        </a:lnSpc>
                        <a:spcAft>
                          <a:spcPts val="800"/>
                        </a:spcAft>
                        <a:buNone/>
                      </a:pPr>
                      <a:r>
                        <a:rPr lang="en-IN" sz="1600" kern="100">
                          <a:effectLst/>
                        </a:rPr>
                        <a:t>4.</a:t>
                      </a:r>
                      <a:endParaRPr lang="en-IN" sz="16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R="335915" algn="ctr">
                        <a:lnSpc>
                          <a:spcPct val="150000"/>
                        </a:lnSpc>
                        <a:spcAft>
                          <a:spcPts val="800"/>
                        </a:spcAft>
                        <a:buNone/>
                      </a:pPr>
                      <a:r>
                        <a:rPr lang="en-IN" sz="1600" kern="100" dirty="0">
                          <a:effectLst/>
                        </a:rPr>
                        <a:t>Cyclone 45A ESC </a:t>
                      </a:r>
                      <a:endParaRPr lang="en-IN" sz="16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43813605"/>
                  </a:ext>
                </a:extLst>
              </a:tr>
              <a:tr h="348547">
                <a:tc>
                  <a:txBody>
                    <a:bodyPr/>
                    <a:lstStyle/>
                    <a:p>
                      <a:pPr marR="335915" algn="ctr">
                        <a:lnSpc>
                          <a:spcPct val="150000"/>
                        </a:lnSpc>
                        <a:spcAft>
                          <a:spcPts val="800"/>
                        </a:spcAft>
                        <a:buNone/>
                      </a:pPr>
                      <a:r>
                        <a:rPr lang="en-IN" sz="1600" kern="100">
                          <a:effectLst/>
                        </a:rPr>
                        <a:t>5.</a:t>
                      </a:r>
                      <a:endParaRPr lang="en-IN" sz="16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R="335915" algn="ctr">
                        <a:lnSpc>
                          <a:spcPct val="150000"/>
                        </a:lnSpc>
                        <a:spcAft>
                          <a:spcPts val="800"/>
                        </a:spcAft>
                        <a:buNone/>
                      </a:pPr>
                      <a:r>
                        <a:rPr lang="en-IN" sz="1600" kern="100" dirty="0">
                          <a:effectLst/>
                        </a:rPr>
                        <a:t>T12 TX RX</a:t>
                      </a:r>
                      <a:endParaRPr lang="en-IN" sz="16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995354430"/>
                  </a:ext>
                </a:extLst>
              </a:tr>
              <a:tr h="348547">
                <a:tc>
                  <a:txBody>
                    <a:bodyPr/>
                    <a:lstStyle/>
                    <a:p>
                      <a:pPr marR="335915" algn="ctr">
                        <a:lnSpc>
                          <a:spcPct val="150000"/>
                        </a:lnSpc>
                        <a:spcAft>
                          <a:spcPts val="800"/>
                        </a:spcAft>
                        <a:buNone/>
                      </a:pPr>
                      <a:r>
                        <a:rPr lang="en-IN" sz="1600" kern="100">
                          <a:effectLst/>
                        </a:rPr>
                        <a:t>6.</a:t>
                      </a:r>
                      <a:endParaRPr lang="en-IN" sz="16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R="335915" algn="ctr">
                        <a:lnSpc>
                          <a:spcPct val="150000"/>
                        </a:lnSpc>
                        <a:spcAft>
                          <a:spcPts val="800"/>
                        </a:spcAft>
                        <a:buNone/>
                      </a:pPr>
                      <a:r>
                        <a:rPr lang="en-IN" sz="1600" kern="100">
                          <a:effectLst/>
                        </a:rPr>
                        <a:t>CUAV Neo 3 </a:t>
                      </a:r>
                      <a:endParaRPr lang="en-IN" sz="16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702901073"/>
                  </a:ext>
                </a:extLst>
              </a:tr>
              <a:tr h="348547">
                <a:tc>
                  <a:txBody>
                    <a:bodyPr/>
                    <a:lstStyle/>
                    <a:p>
                      <a:pPr marR="335915" algn="ctr">
                        <a:lnSpc>
                          <a:spcPct val="150000"/>
                        </a:lnSpc>
                        <a:spcAft>
                          <a:spcPts val="800"/>
                        </a:spcAft>
                        <a:buNone/>
                      </a:pPr>
                      <a:r>
                        <a:rPr lang="en-IN" sz="1600" kern="100">
                          <a:effectLst/>
                        </a:rPr>
                        <a:t>7.</a:t>
                      </a:r>
                      <a:endParaRPr lang="en-IN" sz="16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R="335915" algn="ctr">
                        <a:lnSpc>
                          <a:spcPct val="150000"/>
                        </a:lnSpc>
                        <a:spcAft>
                          <a:spcPts val="800"/>
                        </a:spcAft>
                        <a:buNone/>
                      </a:pPr>
                      <a:r>
                        <a:rPr lang="en-IN" sz="1600" kern="100">
                          <a:effectLst/>
                        </a:rPr>
                        <a:t>Flight Computer Raspberry Pi 5 4GB</a:t>
                      </a:r>
                      <a:endParaRPr lang="en-IN" sz="16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168782491"/>
                  </a:ext>
                </a:extLst>
              </a:tr>
              <a:tr h="348547">
                <a:tc>
                  <a:txBody>
                    <a:bodyPr/>
                    <a:lstStyle/>
                    <a:p>
                      <a:pPr marR="335915" algn="ctr">
                        <a:lnSpc>
                          <a:spcPct val="150000"/>
                        </a:lnSpc>
                        <a:spcAft>
                          <a:spcPts val="800"/>
                        </a:spcAft>
                        <a:buNone/>
                      </a:pPr>
                      <a:r>
                        <a:rPr lang="en-IN" sz="1600" kern="100">
                          <a:effectLst/>
                        </a:rPr>
                        <a:t>8.</a:t>
                      </a:r>
                      <a:endParaRPr lang="en-IN" sz="16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R="335915" algn="ctr">
                        <a:lnSpc>
                          <a:spcPct val="150000"/>
                        </a:lnSpc>
                        <a:spcAft>
                          <a:spcPts val="800"/>
                        </a:spcAft>
                        <a:buNone/>
                        <a:tabLst>
                          <a:tab pos="1828800" algn="l"/>
                          <a:tab pos="2463800" algn="ctr"/>
                        </a:tabLst>
                      </a:pPr>
                      <a:r>
                        <a:rPr lang="en-US" sz="1600" kern="100">
                          <a:effectLst/>
                        </a:rPr>
                        <a:t>8400mAh 2*6S </a:t>
                      </a:r>
                      <a:r>
                        <a:rPr lang="en-IN" sz="1600" kern="100">
                          <a:effectLst/>
                        </a:rPr>
                        <a:t>Battery</a:t>
                      </a:r>
                      <a:endParaRPr lang="en-IN" sz="16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791015849"/>
                  </a:ext>
                </a:extLst>
              </a:tr>
              <a:tr h="348547">
                <a:tc>
                  <a:txBody>
                    <a:bodyPr/>
                    <a:lstStyle/>
                    <a:p>
                      <a:pPr marR="335915" algn="ctr">
                        <a:lnSpc>
                          <a:spcPct val="150000"/>
                        </a:lnSpc>
                        <a:spcAft>
                          <a:spcPts val="800"/>
                        </a:spcAft>
                        <a:buNone/>
                      </a:pPr>
                      <a:r>
                        <a:rPr lang="en-IN" sz="1600" kern="100">
                          <a:effectLst/>
                        </a:rPr>
                        <a:t>9.</a:t>
                      </a:r>
                      <a:endParaRPr lang="en-IN" sz="16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R="335915" algn="ctr">
                        <a:lnSpc>
                          <a:spcPct val="150000"/>
                        </a:lnSpc>
                        <a:spcAft>
                          <a:spcPts val="800"/>
                        </a:spcAft>
                        <a:buNone/>
                      </a:pPr>
                      <a:r>
                        <a:rPr lang="en-IN" sz="1600" kern="100" dirty="0" err="1">
                          <a:effectLst/>
                        </a:rPr>
                        <a:t>RunCam</a:t>
                      </a:r>
                      <a:r>
                        <a:rPr lang="en-IN" sz="1600" kern="100" dirty="0">
                          <a:effectLst/>
                        </a:rPr>
                        <a:t> Phoenix 2 SP V3</a:t>
                      </a:r>
                      <a:endParaRPr lang="en-IN" sz="16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4022356485"/>
                  </a:ext>
                </a:extLst>
              </a:tr>
              <a:tr h="348547">
                <a:tc>
                  <a:txBody>
                    <a:bodyPr/>
                    <a:lstStyle/>
                    <a:p>
                      <a:pPr marR="335915" algn="ctr">
                        <a:lnSpc>
                          <a:spcPct val="150000"/>
                        </a:lnSpc>
                        <a:spcAft>
                          <a:spcPts val="800"/>
                        </a:spcAft>
                        <a:buNone/>
                      </a:pPr>
                      <a:r>
                        <a:rPr lang="en-IN" sz="1600" kern="100">
                          <a:effectLst/>
                        </a:rPr>
                        <a:t>10.</a:t>
                      </a:r>
                      <a:endParaRPr lang="en-IN" sz="16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R="335915" algn="ctr">
                        <a:lnSpc>
                          <a:spcPct val="150000"/>
                        </a:lnSpc>
                        <a:spcAft>
                          <a:spcPts val="800"/>
                        </a:spcAft>
                        <a:buNone/>
                      </a:pPr>
                      <a:r>
                        <a:rPr lang="en-IN" sz="1600" kern="100">
                          <a:effectLst/>
                        </a:rPr>
                        <a:t> Holybro PM06 V2 Power Module</a:t>
                      </a:r>
                      <a:endParaRPr lang="en-IN" sz="16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101862306"/>
                  </a:ext>
                </a:extLst>
              </a:tr>
              <a:tr h="348547">
                <a:tc>
                  <a:txBody>
                    <a:bodyPr/>
                    <a:lstStyle/>
                    <a:p>
                      <a:pPr marR="335915" algn="ctr">
                        <a:lnSpc>
                          <a:spcPct val="150000"/>
                        </a:lnSpc>
                        <a:spcAft>
                          <a:spcPts val="800"/>
                        </a:spcAft>
                        <a:buNone/>
                      </a:pPr>
                      <a:r>
                        <a:rPr lang="en-IN" sz="1600" kern="100">
                          <a:effectLst/>
                        </a:rPr>
                        <a:t>11.</a:t>
                      </a:r>
                      <a:endParaRPr lang="en-IN" sz="16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R="335915" algn="ctr">
                        <a:lnSpc>
                          <a:spcPct val="150000"/>
                        </a:lnSpc>
                        <a:spcAft>
                          <a:spcPts val="800"/>
                        </a:spcAft>
                        <a:buNone/>
                      </a:pPr>
                      <a:r>
                        <a:rPr lang="en-IN" sz="1600" kern="100" dirty="0">
                          <a:effectLst/>
                        </a:rPr>
                        <a:t>GEPRC MATEN 5.8G 3W VTX PRO</a:t>
                      </a:r>
                      <a:endParaRPr lang="en-IN" sz="16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587010017"/>
                  </a:ext>
                </a:extLst>
              </a:tr>
            </a:tbl>
          </a:graphicData>
        </a:graphic>
      </p:graphicFrame>
    </p:spTree>
    <p:extLst>
      <p:ext uri="{BB962C8B-B14F-4D97-AF65-F5344CB8AC3E}">
        <p14:creationId xmlns:p14="http://schemas.microsoft.com/office/powerpoint/2010/main" val="86915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down)">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29B64-9764-37EB-949C-0670C787E7FA}"/>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87B308E8-B464-3E71-31B0-F9161B3F4F4F}"/>
              </a:ext>
            </a:extLst>
          </p:cNvPr>
          <p:cNvPicPr>
            <a:picLocks noChangeAspect="1"/>
          </p:cNvPicPr>
          <p:nvPr/>
        </p:nvPicPr>
        <p:blipFill>
          <a:blip r:embed="rId3">
            <a:clrChange>
              <a:clrFrom>
                <a:srgbClr val="071002"/>
              </a:clrFrom>
              <a:clrTo>
                <a:srgbClr val="071002">
                  <a:alpha val="0"/>
                </a:srgbClr>
              </a:clrTo>
            </a:clrChange>
            <a:extLst>
              <a:ext uri="{BEBA8EAE-BF5A-486C-A8C5-ECC9F3942E4B}">
                <a14:imgProps xmlns:a14="http://schemas.microsoft.com/office/drawing/2010/main">
                  <a14:imgLayer r:embed="rId4">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sp>
        <p:nvSpPr>
          <p:cNvPr id="8" name="Rectangle 7">
            <a:extLst>
              <a:ext uri="{FF2B5EF4-FFF2-40B4-BE49-F238E27FC236}">
                <a16:creationId xmlns:a16="http://schemas.microsoft.com/office/drawing/2014/main" id="{162DC0CC-D0A2-3161-AEFD-4EC6B5F1BFA2}"/>
              </a:ext>
            </a:extLst>
          </p:cNvPr>
          <p:cNvSpPr/>
          <p:nvPr/>
        </p:nvSpPr>
        <p:spPr>
          <a:xfrm>
            <a:off x="-1" y="401452"/>
            <a:ext cx="9611833" cy="741600"/>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700"/>
              </a:spcAft>
            </a:pPr>
            <a:r>
              <a:rPr lang="en-US" sz="4400" b="1" dirty="0">
                <a:latin typeface="Times New Roman" panose="02020603050405020304" pitchFamily="18" charset="0"/>
                <a:cs typeface="Times New Roman" panose="02020603050405020304" pitchFamily="18" charset="0"/>
              </a:rPr>
              <a:t>   AVIONCS:</a:t>
            </a:r>
          </a:p>
        </p:txBody>
      </p:sp>
      <p:sp>
        <p:nvSpPr>
          <p:cNvPr id="2" name="Rectangle: Rounded Corners 1">
            <a:extLst>
              <a:ext uri="{FF2B5EF4-FFF2-40B4-BE49-F238E27FC236}">
                <a16:creationId xmlns:a16="http://schemas.microsoft.com/office/drawing/2014/main" id="{1124366F-FA76-BB56-137D-0CD92F0A03DE}"/>
              </a:ext>
            </a:extLst>
          </p:cNvPr>
          <p:cNvSpPr/>
          <p:nvPr/>
        </p:nvSpPr>
        <p:spPr>
          <a:xfrm>
            <a:off x="213360" y="1291771"/>
            <a:ext cx="11978639" cy="5164777"/>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4" name="Table 3">
            <a:extLst>
              <a:ext uri="{FF2B5EF4-FFF2-40B4-BE49-F238E27FC236}">
                <a16:creationId xmlns:a16="http://schemas.microsoft.com/office/drawing/2014/main" id="{2FED39DC-CB41-91B2-D720-C8A4EA94F007}"/>
              </a:ext>
            </a:extLst>
          </p:cNvPr>
          <p:cNvGraphicFramePr>
            <a:graphicFrameLocks noGrp="1"/>
          </p:cNvGraphicFramePr>
          <p:nvPr>
            <p:extLst>
              <p:ext uri="{D42A27DB-BD31-4B8C-83A1-F6EECF244321}">
                <p14:modId xmlns:p14="http://schemas.microsoft.com/office/powerpoint/2010/main" val="3122940505"/>
              </p:ext>
            </p:extLst>
          </p:nvPr>
        </p:nvGraphicFramePr>
        <p:xfrm>
          <a:off x="1008529" y="1880584"/>
          <a:ext cx="10623177" cy="3795573"/>
        </p:xfrm>
        <a:graphic>
          <a:graphicData uri="http://schemas.openxmlformats.org/drawingml/2006/table">
            <a:tbl>
              <a:tblPr firstRow="1" firstCol="1" bandRow="1">
                <a:tableStyleId>{5940675A-B579-460E-94D1-54222C63F5DA}</a:tableStyleId>
              </a:tblPr>
              <a:tblGrid>
                <a:gridCol w="1074757">
                  <a:extLst>
                    <a:ext uri="{9D8B030D-6E8A-4147-A177-3AD203B41FA5}">
                      <a16:colId xmlns:a16="http://schemas.microsoft.com/office/drawing/2014/main" val="2258371629"/>
                    </a:ext>
                  </a:extLst>
                </a:gridCol>
                <a:gridCol w="4222647">
                  <a:extLst>
                    <a:ext uri="{9D8B030D-6E8A-4147-A177-3AD203B41FA5}">
                      <a16:colId xmlns:a16="http://schemas.microsoft.com/office/drawing/2014/main" val="2915716510"/>
                    </a:ext>
                  </a:extLst>
                </a:gridCol>
                <a:gridCol w="5325773">
                  <a:extLst>
                    <a:ext uri="{9D8B030D-6E8A-4147-A177-3AD203B41FA5}">
                      <a16:colId xmlns:a16="http://schemas.microsoft.com/office/drawing/2014/main" val="2046680825"/>
                    </a:ext>
                  </a:extLst>
                </a:gridCol>
              </a:tblGrid>
              <a:tr h="281942">
                <a:tc>
                  <a:txBody>
                    <a:bodyPr/>
                    <a:lstStyle/>
                    <a:p>
                      <a:pPr>
                        <a:lnSpc>
                          <a:spcPct val="107000"/>
                        </a:lnSpc>
                        <a:spcAft>
                          <a:spcPts val="800"/>
                        </a:spcAft>
                        <a:buNone/>
                      </a:pPr>
                      <a:r>
                        <a:rPr lang="en-IN" sz="1400" b="1" kern="100" dirty="0">
                          <a:effectLst/>
                        </a:rPr>
                        <a:t>S. no.</a:t>
                      </a:r>
                      <a:endParaRPr lang="en-IN" sz="1400" b="1"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IN" sz="1400" b="1" kern="100" dirty="0">
                          <a:effectLst/>
                        </a:rPr>
                        <a:t>Components</a:t>
                      </a:r>
                      <a:endParaRPr lang="en-IN" sz="1400" b="1"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IN" sz="1400" b="1" kern="100" dirty="0">
                          <a:effectLst/>
                        </a:rPr>
                        <a:t>Name</a:t>
                      </a:r>
                      <a:endParaRPr lang="en-IN" sz="1400" b="1"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244995069"/>
                  </a:ext>
                </a:extLst>
              </a:tr>
              <a:tr h="282133">
                <a:tc>
                  <a:txBody>
                    <a:bodyPr/>
                    <a:lstStyle/>
                    <a:p>
                      <a:pPr>
                        <a:lnSpc>
                          <a:spcPct val="107000"/>
                        </a:lnSpc>
                        <a:spcAft>
                          <a:spcPts val="800"/>
                        </a:spcAft>
                        <a:buNone/>
                      </a:pPr>
                      <a:r>
                        <a:rPr lang="en-IN" sz="1400" kern="100" dirty="0">
                          <a:effectLst/>
                        </a:rPr>
                        <a:t>1</a:t>
                      </a:r>
                      <a:endParaRPr lang="en-IN"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IN" sz="1400" kern="100">
                          <a:effectLst/>
                        </a:rPr>
                        <a:t>Flight Controller </a:t>
                      </a:r>
                      <a:endParaRPr lang="en-IN"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IN" sz="1400" kern="100">
                          <a:effectLst/>
                        </a:rPr>
                        <a:t>Pixhawk Orange Cube/+</a:t>
                      </a:r>
                      <a:endParaRPr lang="en-IN"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196835522"/>
                  </a:ext>
                </a:extLst>
              </a:tr>
              <a:tr h="577190">
                <a:tc>
                  <a:txBody>
                    <a:bodyPr/>
                    <a:lstStyle/>
                    <a:p>
                      <a:pPr>
                        <a:lnSpc>
                          <a:spcPct val="107000"/>
                        </a:lnSpc>
                        <a:spcAft>
                          <a:spcPts val="800"/>
                        </a:spcAft>
                        <a:buNone/>
                      </a:pPr>
                      <a:r>
                        <a:rPr lang="en-IN" sz="1400" kern="100" dirty="0">
                          <a:effectLst/>
                        </a:rPr>
                        <a:t>2</a:t>
                      </a:r>
                      <a:endParaRPr lang="en-IN"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IN" sz="1400" kern="100">
                          <a:effectLst/>
                        </a:rPr>
                        <a:t>ESC (Electronic Speed Controller)</a:t>
                      </a:r>
                      <a:endParaRPr lang="en-IN"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IN" sz="1400" kern="100" dirty="0">
                          <a:effectLst/>
                        </a:rPr>
                        <a:t>Cyclone 45A ESC</a:t>
                      </a:r>
                      <a:endParaRPr lang="en-IN"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354314026"/>
                  </a:ext>
                </a:extLst>
              </a:tr>
              <a:tr h="282133">
                <a:tc>
                  <a:txBody>
                    <a:bodyPr/>
                    <a:lstStyle/>
                    <a:p>
                      <a:pPr>
                        <a:lnSpc>
                          <a:spcPct val="107000"/>
                        </a:lnSpc>
                        <a:spcAft>
                          <a:spcPts val="800"/>
                        </a:spcAft>
                        <a:buNone/>
                      </a:pPr>
                      <a:r>
                        <a:rPr lang="en-IN" sz="1400" kern="100" dirty="0">
                          <a:effectLst/>
                        </a:rPr>
                        <a:t>3</a:t>
                      </a:r>
                      <a:endParaRPr lang="en-IN"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IN" sz="1400" kern="100">
                          <a:effectLst/>
                        </a:rPr>
                        <a:t>Transmitter</a:t>
                      </a:r>
                      <a:endParaRPr lang="en-IN"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IN" sz="1400" kern="100" dirty="0" err="1">
                          <a:effectLst/>
                        </a:rPr>
                        <a:t>Skydroid</a:t>
                      </a:r>
                      <a:r>
                        <a:rPr lang="en-IN" sz="1400" kern="100" dirty="0">
                          <a:effectLst/>
                        </a:rPr>
                        <a:t> T10 </a:t>
                      </a:r>
                      <a:endParaRPr lang="en-IN"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600900183"/>
                  </a:ext>
                </a:extLst>
              </a:tr>
              <a:tr h="282133">
                <a:tc>
                  <a:txBody>
                    <a:bodyPr/>
                    <a:lstStyle/>
                    <a:p>
                      <a:pPr>
                        <a:lnSpc>
                          <a:spcPct val="107000"/>
                        </a:lnSpc>
                        <a:spcAft>
                          <a:spcPts val="800"/>
                        </a:spcAft>
                        <a:buNone/>
                      </a:pPr>
                      <a:r>
                        <a:rPr lang="en-IN" sz="1400" kern="100" dirty="0">
                          <a:effectLst/>
                        </a:rPr>
                        <a:t>4</a:t>
                      </a:r>
                      <a:endParaRPr lang="en-IN"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IN" sz="1400" kern="100">
                          <a:effectLst/>
                        </a:rPr>
                        <a:t>Power Module</a:t>
                      </a:r>
                      <a:endParaRPr lang="en-IN"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IN" sz="1400" kern="100">
                          <a:effectLst/>
                        </a:rPr>
                        <a:t>Holybro PM06 V2</a:t>
                      </a:r>
                      <a:endParaRPr lang="en-IN"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928990719"/>
                  </a:ext>
                </a:extLst>
              </a:tr>
              <a:tr h="282133">
                <a:tc>
                  <a:txBody>
                    <a:bodyPr/>
                    <a:lstStyle/>
                    <a:p>
                      <a:pPr>
                        <a:lnSpc>
                          <a:spcPct val="107000"/>
                        </a:lnSpc>
                        <a:spcAft>
                          <a:spcPts val="800"/>
                        </a:spcAft>
                        <a:buNone/>
                      </a:pPr>
                      <a:r>
                        <a:rPr lang="en-IN" sz="1400" kern="100" dirty="0">
                          <a:effectLst/>
                        </a:rPr>
                        <a:t>5</a:t>
                      </a:r>
                      <a:endParaRPr lang="en-IN"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IN" sz="1400" kern="100" dirty="0">
                          <a:effectLst/>
                        </a:rPr>
                        <a:t>GPS</a:t>
                      </a:r>
                      <a:endParaRPr lang="en-IN"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IN" sz="1400" kern="100" dirty="0">
                          <a:effectLst/>
                        </a:rPr>
                        <a:t>CUAV Neo 3</a:t>
                      </a:r>
                      <a:endParaRPr lang="en-IN"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42850502"/>
                  </a:ext>
                </a:extLst>
              </a:tr>
              <a:tr h="282133">
                <a:tc>
                  <a:txBody>
                    <a:bodyPr/>
                    <a:lstStyle/>
                    <a:p>
                      <a:pPr algn="l">
                        <a:lnSpc>
                          <a:spcPct val="107000"/>
                        </a:lnSpc>
                        <a:spcAft>
                          <a:spcPts val="800"/>
                        </a:spcAft>
                        <a:buNone/>
                      </a:pPr>
                      <a:r>
                        <a:rPr lang="en-IN" sz="1400" kern="100" dirty="0">
                          <a:effectLst/>
                          <a:latin typeface="Arial" panose="020B0604020202020204" pitchFamily="34" charset="0"/>
                          <a:ea typeface="Aptos" panose="020B0004020202020204" pitchFamily="34" charset="0"/>
                          <a:cs typeface="Arial" panose="020B0604020202020204" pitchFamily="34" charset="0"/>
                        </a:rPr>
                        <a:t>6</a:t>
                      </a:r>
                      <a:endParaRPr lang="en-IN"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IN" sz="1400" kern="100">
                          <a:effectLst/>
                          <a:latin typeface="Arial" panose="020B0604020202020204" pitchFamily="34" charset="0"/>
                          <a:ea typeface="Aptos" panose="020B0004020202020204" pitchFamily="34" charset="0"/>
                          <a:cs typeface="Arial" panose="020B0604020202020204" pitchFamily="34" charset="0"/>
                        </a:rPr>
                        <a:t>CUAV Neo 3</a:t>
                      </a:r>
                      <a:endParaRPr lang="en-IN"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IN" sz="1400" kern="100" dirty="0">
                          <a:effectLst/>
                          <a:latin typeface="Arial" panose="020B0604020202020204" pitchFamily="34" charset="0"/>
                          <a:ea typeface="Aptos" panose="020B0004020202020204" pitchFamily="34" charset="0"/>
                          <a:cs typeface="Arial" panose="020B0604020202020204" pitchFamily="34" charset="0"/>
                        </a:rPr>
                        <a:t>GNSS Receiver  </a:t>
                      </a:r>
                      <a:endParaRPr lang="en-IN" sz="1400" kern="100" dirty="0">
                        <a:effectLst/>
                        <a:latin typeface="Aptos" panose="020B0004020202020204" pitchFamily="34" charset="0"/>
                        <a:ea typeface="Aptos" panose="020B0004020202020204" pitchFamily="34" charset="0"/>
                        <a:cs typeface="Arial" panose="020B0604020202020204" pitchFamily="34" charset="0"/>
                      </a:endParaRPr>
                    </a:p>
                    <a:p>
                      <a:pPr>
                        <a:lnSpc>
                          <a:spcPct val="107000"/>
                        </a:lnSpc>
                        <a:spcAft>
                          <a:spcPts val="800"/>
                        </a:spcAft>
                        <a:buNone/>
                      </a:pPr>
                      <a:r>
                        <a:rPr lang="en-IN" sz="1400" kern="100" dirty="0">
                          <a:effectLst/>
                          <a:latin typeface="Arial" panose="020B0604020202020204" pitchFamily="34" charset="0"/>
                          <a:ea typeface="Aptos" panose="020B0004020202020204" pitchFamily="34" charset="0"/>
                          <a:cs typeface="Arial" panose="020B0604020202020204" pitchFamily="34" charset="0"/>
                        </a:rPr>
                        <a:t>IST8310 Compass</a:t>
                      </a:r>
                      <a:endParaRPr lang="en-IN"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616372061"/>
                  </a:ext>
                </a:extLst>
              </a:tr>
              <a:tr h="282133">
                <a:tc>
                  <a:txBody>
                    <a:bodyPr/>
                    <a:lstStyle/>
                    <a:p>
                      <a:pPr algn="l">
                        <a:lnSpc>
                          <a:spcPct val="107000"/>
                        </a:lnSpc>
                        <a:spcAft>
                          <a:spcPts val="800"/>
                        </a:spcAft>
                        <a:buNone/>
                      </a:pPr>
                      <a:r>
                        <a:rPr lang="en-IN" sz="1400" kern="100" dirty="0">
                          <a:effectLst/>
                          <a:latin typeface="Arial" panose="020B0604020202020204" pitchFamily="34" charset="0"/>
                          <a:ea typeface="Aptos" panose="020B0004020202020204" pitchFamily="34" charset="0"/>
                          <a:cs typeface="Arial" panose="020B0604020202020204" pitchFamily="34" charset="0"/>
                        </a:rPr>
                        <a:t>7</a:t>
                      </a:r>
                      <a:endParaRPr lang="en-IN"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07000"/>
                        </a:lnSpc>
                        <a:spcAft>
                          <a:spcPts val="800"/>
                        </a:spcAft>
                        <a:buNone/>
                      </a:pPr>
                      <a:r>
                        <a:rPr lang="en-IN" sz="1400" kern="100" dirty="0">
                          <a:effectLst/>
                          <a:latin typeface="Arial" panose="020B0604020202020204" pitchFamily="34" charset="0"/>
                          <a:ea typeface="Aptos" panose="020B0004020202020204" pitchFamily="34" charset="0"/>
                          <a:cs typeface="Arial" panose="020B0604020202020204" pitchFamily="34" charset="0"/>
                        </a:rPr>
                        <a:t>Pixhawk Orange Cube/+ </a:t>
                      </a:r>
                      <a:endParaRPr lang="en-IN"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15000"/>
                        </a:lnSpc>
                        <a:spcAft>
                          <a:spcPts val="800"/>
                        </a:spcAft>
                        <a:buNone/>
                      </a:pPr>
                      <a:r>
                        <a:rPr lang="en-IN" sz="1400" kern="100" dirty="0">
                          <a:effectLst/>
                          <a:latin typeface="Arial" panose="020B0604020202020204" pitchFamily="34" charset="0"/>
                          <a:ea typeface="Aptos" panose="020B0004020202020204" pitchFamily="34" charset="0"/>
                          <a:cs typeface="Arial" panose="020B0604020202020204" pitchFamily="34" charset="0"/>
                        </a:rPr>
                        <a:t>3x ICM-45686 Accelerometer/Gyroscope (</a:t>
                      </a:r>
                      <a:r>
                        <a:rPr lang="en-IN" sz="1400" kern="100" dirty="0" err="1">
                          <a:effectLst/>
                          <a:latin typeface="Arial" panose="020B0604020202020204" pitchFamily="34" charset="0"/>
                          <a:ea typeface="Aptos" panose="020B0004020202020204" pitchFamily="34" charset="0"/>
                          <a:cs typeface="Arial" panose="020B0604020202020204" pitchFamily="34" charset="0"/>
                        </a:rPr>
                        <a:t>BalancedGyro</a:t>
                      </a:r>
                      <a:r>
                        <a:rPr lang="en-IN" sz="1400" kern="100" dirty="0">
                          <a:effectLst/>
                          <a:latin typeface="Arial" panose="020B0604020202020204" pitchFamily="34" charset="0"/>
                          <a:ea typeface="Aptos" panose="020B0004020202020204" pitchFamily="34" charset="0"/>
                          <a:cs typeface="Arial" panose="020B0604020202020204" pitchFamily="34" charset="0"/>
                        </a:rPr>
                        <a:t>™ Tech)</a:t>
                      </a:r>
                      <a:endParaRPr lang="en-IN" sz="1400" kern="100" dirty="0">
                        <a:effectLst/>
                        <a:latin typeface="Aptos" panose="020B0004020202020204" pitchFamily="34" charset="0"/>
                        <a:ea typeface="Aptos" panose="020B0004020202020204" pitchFamily="34" charset="0"/>
                        <a:cs typeface="Arial" panose="020B0604020202020204" pitchFamily="34" charset="0"/>
                      </a:endParaRPr>
                    </a:p>
                    <a:p>
                      <a:pPr>
                        <a:lnSpc>
                          <a:spcPct val="115000"/>
                        </a:lnSpc>
                        <a:spcAft>
                          <a:spcPts val="800"/>
                        </a:spcAft>
                        <a:buNone/>
                      </a:pPr>
                      <a:r>
                        <a:rPr lang="en-IN" sz="1400" kern="100" dirty="0">
                          <a:effectLst/>
                          <a:latin typeface="Arial" panose="020B0604020202020204" pitchFamily="34" charset="0"/>
                          <a:ea typeface="Aptos" panose="020B0004020202020204" pitchFamily="34" charset="0"/>
                          <a:cs typeface="Arial" panose="020B0604020202020204" pitchFamily="34" charset="0"/>
                        </a:rPr>
                        <a:t>Barometers: MS5611</a:t>
                      </a:r>
                      <a:endParaRPr lang="en-IN" sz="1400" kern="100" dirty="0">
                        <a:effectLst/>
                        <a:latin typeface="Aptos" panose="020B0004020202020204" pitchFamily="34" charset="0"/>
                        <a:ea typeface="Aptos" panose="020B0004020202020204" pitchFamily="34" charset="0"/>
                        <a:cs typeface="Arial" panose="020B0604020202020204" pitchFamily="34" charset="0"/>
                      </a:endParaRPr>
                    </a:p>
                    <a:p>
                      <a:pPr>
                        <a:lnSpc>
                          <a:spcPct val="115000"/>
                        </a:lnSpc>
                        <a:spcAft>
                          <a:spcPts val="800"/>
                        </a:spcAft>
                        <a:buNone/>
                      </a:pPr>
                      <a:r>
                        <a:rPr lang="en-IN" sz="1400" kern="100" dirty="0">
                          <a:effectLst/>
                          <a:latin typeface="Arial" panose="020B0604020202020204" pitchFamily="34" charset="0"/>
                          <a:ea typeface="Aptos" panose="020B0004020202020204" pitchFamily="34" charset="0"/>
                          <a:cs typeface="Arial" panose="020B0604020202020204" pitchFamily="34" charset="0"/>
                        </a:rPr>
                        <a:t>Magnetometer: ICM42688 IMU, ICM20948 IMU</a:t>
                      </a:r>
                      <a:endParaRPr lang="en-IN" sz="1400" kern="100" dirty="0">
                        <a:effectLst/>
                        <a:latin typeface="Aptos" panose="020B0004020202020204" pitchFamily="34" charset="0"/>
                        <a:ea typeface="Aptos" panose="020B0004020202020204" pitchFamily="34" charset="0"/>
                        <a:cs typeface="Arial" panose="020B0604020202020204" pitchFamily="34" charset="0"/>
                      </a:endParaRPr>
                    </a:p>
                    <a:p>
                      <a:pPr>
                        <a:lnSpc>
                          <a:spcPct val="107000"/>
                        </a:lnSpc>
                        <a:spcAft>
                          <a:spcPts val="800"/>
                        </a:spcAft>
                        <a:buNone/>
                      </a:pPr>
                      <a:r>
                        <a:rPr lang="en-IN" sz="1400" kern="100" dirty="0">
                          <a:effectLst/>
                          <a:latin typeface="Arial" panose="020B0604020202020204" pitchFamily="34" charset="0"/>
                          <a:ea typeface="Aptos" panose="020B0004020202020204" pitchFamily="34" charset="0"/>
                          <a:cs typeface="Arial" panose="020B0604020202020204" pitchFamily="34" charset="0"/>
                        </a:rPr>
                        <a:t>Accel/Gyro: ICM 20649</a:t>
                      </a:r>
                      <a:endParaRPr lang="en-IN"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336696942"/>
                  </a:ext>
                </a:extLst>
              </a:tr>
            </a:tbl>
          </a:graphicData>
        </a:graphic>
      </p:graphicFrame>
    </p:spTree>
    <p:custDataLst>
      <p:tags r:id="rId1"/>
    </p:custDataLst>
    <p:extLst>
      <p:ext uri="{BB962C8B-B14F-4D97-AF65-F5344CB8AC3E}">
        <p14:creationId xmlns:p14="http://schemas.microsoft.com/office/powerpoint/2010/main" val="390126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40BFD-5540-8921-091D-12BF2F7F47D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D1CBC8B-89D9-49D8-E042-5DEB131976FB}"/>
              </a:ext>
            </a:extLst>
          </p:cNvPr>
          <p:cNvPicPr>
            <a:picLocks noChangeAspect="1"/>
          </p:cNvPicPr>
          <p:nvPr/>
        </p:nvPicPr>
        <p:blipFill>
          <a:blip r:embed="rId2">
            <a:clrChange>
              <a:clrFrom>
                <a:srgbClr val="071002"/>
              </a:clrFrom>
              <a:clrTo>
                <a:srgbClr val="071002">
                  <a:alpha val="0"/>
                </a:srgbClr>
              </a:clrTo>
            </a:clrChange>
            <a:extLst>
              <a:ext uri="{BEBA8EAE-BF5A-486C-A8C5-ECC9F3942E4B}">
                <a14:imgProps xmlns:a14="http://schemas.microsoft.com/office/drawing/2010/main">
                  <a14:imgLayer r:embed="rId3">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sp>
        <p:nvSpPr>
          <p:cNvPr id="4" name="TextBox 3">
            <a:extLst>
              <a:ext uri="{FF2B5EF4-FFF2-40B4-BE49-F238E27FC236}">
                <a16:creationId xmlns:a16="http://schemas.microsoft.com/office/drawing/2014/main" id="{8998B8F5-AE5E-B25B-7173-EAE42286DD1A}"/>
              </a:ext>
            </a:extLst>
          </p:cNvPr>
          <p:cNvSpPr txBox="1"/>
          <p:nvPr/>
        </p:nvSpPr>
        <p:spPr>
          <a:xfrm>
            <a:off x="574076" y="954255"/>
            <a:ext cx="5979124" cy="4031873"/>
          </a:xfrm>
          <a:prstGeom prst="rect">
            <a:avLst/>
          </a:prstGeom>
          <a:noFill/>
        </p:spPr>
        <p:txBody>
          <a:bodyPr wrap="square" rtlCol="0">
            <a:spAutoFit/>
          </a:bodyPr>
          <a:lstStyle/>
          <a:p>
            <a:pPr>
              <a:buNone/>
            </a:pPr>
            <a:r>
              <a:rPr lang="en-US" sz="4000" b="1" kern="100" dirty="0">
                <a:effectLst/>
                <a:latin typeface="Liberation Serif"/>
                <a:ea typeface="Noto Serif CJK SC"/>
                <a:cs typeface="Noto Sans Devanagari" panose="020B0502040504020204" pitchFamily="34" charset="0"/>
              </a:rPr>
              <a:t>MOTOR</a:t>
            </a:r>
            <a:r>
              <a:rPr lang="en-US" sz="4000" kern="100" dirty="0">
                <a:effectLst/>
                <a:latin typeface="Liberation Serif"/>
                <a:ea typeface="Noto Serif CJK SC"/>
                <a:cs typeface="Noto Sans Devanagari" panose="020B0502040504020204" pitchFamily="34" charset="0"/>
              </a:rPr>
              <a:t>:</a:t>
            </a:r>
            <a:endParaRPr lang="en-IN" sz="4000" kern="100" dirty="0">
              <a:effectLst/>
              <a:latin typeface="Liberation Serif"/>
              <a:ea typeface="Noto Serif CJK SC"/>
              <a:cs typeface="Noto Sans Devanagari" panose="020B0502040504020204" pitchFamily="34" charset="0"/>
            </a:endParaRPr>
          </a:p>
          <a:p>
            <a:r>
              <a:rPr lang="en-IN" dirty="0">
                <a:latin typeface="Liberation Serif"/>
              </a:rPr>
              <a:t>The propulsion system design began with the selection of a motor suitable for a multi-rotor UAV intended for disaster management operations. After evaluating various high-power propulsion options, the </a:t>
            </a:r>
            <a:r>
              <a:rPr lang="en-IN" b="1" dirty="0">
                <a:latin typeface="Liberation Serif"/>
              </a:rPr>
              <a:t>Tarot 4008 330KV brushless motor</a:t>
            </a:r>
            <a:r>
              <a:rPr lang="en-IN" dirty="0">
                <a:latin typeface="Liberation Serif"/>
              </a:rPr>
              <a:t> was selected for its high torque output, reliability, and efficient performance with large-diameter propellers. The low-KV configuration enables stable lift at lower rotational speeds, improving flight efficiency, endurance, and control, which are essential for precise manoeuvring and payload delivery in emergency response missions</a:t>
            </a:r>
          </a:p>
          <a:p>
            <a:pPr>
              <a:buNone/>
            </a:pPr>
            <a:endParaRPr lang="en-IN" dirty="0">
              <a:latin typeface="Liberation Serif"/>
            </a:endParaRPr>
          </a:p>
          <a:p>
            <a:endParaRPr lang="en-IN" dirty="0"/>
          </a:p>
        </p:txBody>
      </p:sp>
      <p:sp>
        <p:nvSpPr>
          <p:cNvPr id="12" name="TextBox 11">
            <a:extLst>
              <a:ext uri="{FF2B5EF4-FFF2-40B4-BE49-F238E27FC236}">
                <a16:creationId xmlns:a16="http://schemas.microsoft.com/office/drawing/2014/main" id="{D630CFA2-FE5D-3F2C-1492-02CC39CC4822}"/>
              </a:ext>
            </a:extLst>
          </p:cNvPr>
          <p:cNvSpPr txBox="1"/>
          <p:nvPr/>
        </p:nvSpPr>
        <p:spPr>
          <a:xfrm>
            <a:off x="613200" y="7690331"/>
            <a:ext cx="5482800" cy="4397101"/>
          </a:xfrm>
          <a:prstGeom prst="rect">
            <a:avLst/>
          </a:prstGeom>
          <a:noFill/>
        </p:spPr>
        <p:txBody>
          <a:bodyPr wrap="square" rtlCol="0">
            <a:spAutoFit/>
          </a:bodyPr>
          <a:lstStyle/>
          <a:p>
            <a:pPr>
              <a:lnSpc>
                <a:spcPct val="115000"/>
              </a:lnSpc>
              <a:spcAft>
                <a:spcPts val="700"/>
              </a:spcAft>
              <a:buNone/>
            </a:pPr>
            <a:r>
              <a:rPr lang="en-US" sz="6600" b="1" kern="100" dirty="0">
                <a:effectLst/>
                <a:latin typeface="Liberation Serif"/>
                <a:ea typeface="Noto Serif CJK SC"/>
                <a:cs typeface="Noto Sans Devanagari" panose="020B0502040504020204" pitchFamily="34" charset="0"/>
              </a:rPr>
              <a:t>ESC</a:t>
            </a:r>
            <a:endParaRPr lang="en-IN" sz="6600" kern="100" dirty="0">
              <a:effectLst/>
              <a:latin typeface="Liberation Serif"/>
              <a:ea typeface="Noto Serif CJK SC"/>
              <a:cs typeface="Noto Sans Devanagari" panose="020B0502040504020204" pitchFamily="34" charset="0"/>
            </a:endParaRPr>
          </a:p>
          <a:p>
            <a:r>
              <a:rPr lang="en-IN" dirty="0">
                <a:latin typeface="Liberation Serif"/>
              </a:rPr>
              <a:t>An Electronic Speed Controller (ESC) is a crucial component in our UAV, acting as the link between the flight controller and motors by regulating power delivery to control motor speed, torque, and thrust precisely.</a:t>
            </a:r>
          </a:p>
          <a:p>
            <a:r>
              <a:rPr lang="en-IN" dirty="0">
                <a:latin typeface="Liberation Serif"/>
              </a:rPr>
              <a:t>Each motor is paired with a </a:t>
            </a:r>
            <a:r>
              <a:rPr lang="en-IN" b="1" dirty="0" err="1">
                <a:latin typeface="Liberation Serif"/>
              </a:rPr>
              <a:t>ReadytoSky</a:t>
            </a:r>
            <a:r>
              <a:rPr lang="en-IN" b="1" dirty="0">
                <a:latin typeface="Liberation Serif"/>
              </a:rPr>
              <a:t> OPTO 40A ESC</a:t>
            </a:r>
            <a:r>
              <a:rPr lang="en-IN" dirty="0">
                <a:latin typeface="Liberation Serif"/>
              </a:rPr>
              <a:t>, selected for its 40A continuous current rating, optical isolation, and compatibility with our motor-propeller configuration. The ESC ensures smooth throttle response, reduced electrical noise, and reliable performance under high load conditions.</a:t>
            </a:r>
          </a:p>
          <a:p>
            <a:endParaRPr lang="en-IN" dirty="0"/>
          </a:p>
        </p:txBody>
      </p:sp>
      <p:graphicFrame>
        <p:nvGraphicFramePr>
          <p:cNvPr id="13" name="Table 12">
            <a:extLst>
              <a:ext uri="{FF2B5EF4-FFF2-40B4-BE49-F238E27FC236}">
                <a16:creationId xmlns:a16="http://schemas.microsoft.com/office/drawing/2014/main" id="{09663C33-1F84-584A-B5B4-B61B46CC4F84}"/>
              </a:ext>
            </a:extLst>
          </p:cNvPr>
          <p:cNvGraphicFramePr>
            <a:graphicFrameLocks noGrp="1"/>
          </p:cNvGraphicFramePr>
          <p:nvPr/>
        </p:nvGraphicFramePr>
        <p:xfrm>
          <a:off x="613200" y="11982498"/>
          <a:ext cx="3472501" cy="2085022"/>
        </p:xfrm>
        <a:graphic>
          <a:graphicData uri="http://schemas.openxmlformats.org/drawingml/2006/table">
            <a:tbl>
              <a:tblPr firstRow="1" firstCol="1" bandRow="1">
                <a:tableStyleId>{2D5ABB26-0587-4C30-8999-92F81FD0307C}</a:tableStyleId>
              </a:tblPr>
              <a:tblGrid>
                <a:gridCol w="1441020">
                  <a:extLst>
                    <a:ext uri="{9D8B030D-6E8A-4147-A177-3AD203B41FA5}">
                      <a16:colId xmlns:a16="http://schemas.microsoft.com/office/drawing/2014/main" val="2502392011"/>
                    </a:ext>
                  </a:extLst>
                </a:gridCol>
                <a:gridCol w="2031481">
                  <a:extLst>
                    <a:ext uri="{9D8B030D-6E8A-4147-A177-3AD203B41FA5}">
                      <a16:colId xmlns:a16="http://schemas.microsoft.com/office/drawing/2014/main" val="639308829"/>
                    </a:ext>
                  </a:extLst>
                </a:gridCol>
              </a:tblGrid>
              <a:tr h="271801">
                <a:tc gridSpan="2">
                  <a:txBody>
                    <a:bodyPr/>
                    <a:lstStyle/>
                    <a:p>
                      <a:pPr marL="67945">
                        <a:buNone/>
                      </a:pPr>
                      <a:r>
                        <a:rPr lang="en-IN" sz="1200" b="1" dirty="0">
                          <a:solidFill>
                            <a:schemeClr val="tx1"/>
                          </a:solidFill>
                          <a:effectLst/>
                          <a:latin typeface="Arial" panose="020B0604020202020204" pitchFamily="34" charset="0"/>
                          <a:ea typeface="Arial" panose="020B0604020202020204" pitchFamily="34" charset="0"/>
                        </a:rPr>
                        <a:t>Specification</a:t>
                      </a:r>
                      <a:endParaRPr lang="en-IN" sz="1100" dirty="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847511"/>
                  </a:ext>
                </a:extLst>
              </a:tr>
              <a:tr h="454216">
                <a:tc>
                  <a:txBody>
                    <a:bodyPr/>
                    <a:lstStyle/>
                    <a:p>
                      <a:pPr marL="67945">
                        <a:buNone/>
                      </a:pPr>
                      <a:r>
                        <a:rPr lang="en-IN" sz="1200">
                          <a:solidFill>
                            <a:schemeClr val="tx1"/>
                          </a:solidFill>
                          <a:effectLst/>
                          <a:latin typeface="Arial" panose="020B0604020202020204" pitchFamily="34" charset="0"/>
                          <a:ea typeface="Arial" panose="020B0604020202020204" pitchFamily="34" charset="0"/>
                        </a:rPr>
                        <a:t>Continuous Current</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buNone/>
                      </a:pPr>
                      <a:r>
                        <a:rPr lang="en-IN" sz="1200" dirty="0">
                          <a:solidFill>
                            <a:schemeClr val="tx1"/>
                          </a:solidFill>
                          <a:effectLst/>
                          <a:latin typeface="Arial" panose="020B0604020202020204" pitchFamily="34" charset="0"/>
                          <a:ea typeface="Arial" panose="020B0604020202020204" pitchFamily="34" charset="0"/>
                        </a:rPr>
                        <a:t>40 A</a:t>
                      </a:r>
                      <a:endParaRPr lang="en-IN" sz="1100" dirty="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6075293"/>
                  </a:ext>
                </a:extLst>
              </a:tr>
              <a:tr h="271801">
                <a:tc>
                  <a:txBody>
                    <a:bodyPr/>
                    <a:lstStyle/>
                    <a:p>
                      <a:pPr marL="67945">
                        <a:spcBef>
                          <a:spcPts val="10"/>
                        </a:spcBef>
                        <a:buNone/>
                      </a:pPr>
                      <a:r>
                        <a:rPr lang="en-IN" sz="1200">
                          <a:solidFill>
                            <a:schemeClr val="tx1"/>
                          </a:solidFill>
                          <a:effectLst/>
                          <a:latin typeface="Arial" panose="020B0604020202020204" pitchFamily="34" charset="0"/>
                          <a:ea typeface="Arial" panose="020B0604020202020204" pitchFamily="34" charset="0"/>
                        </a:rPr>
                        <a:t>Burst Current</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spcBef>
                          <a:spcPts val="10"/>
                        </a:spcBef>
                        <a:buNone/>
                      </a:pPr>
                      <a:r>
                        <a:rPr lang="en-IN" sz="1200">
                          <a:solidFill>
                            <a:schemeClr val="tx1"/>
                          </a:solidFill>
                          <a:effectLst/>
                          <a:latin typeface="Arial" panose="020B0604020202020204" pitchFamily="34" charset="0"/>
                          <a:ea typeface="Arial" panose="020B0604020202020204" pitchFamily="34" charset="0"/>
                        </a:rPr>
                        <a:t>60A</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4861176"/>
                  </a:ext>
                </a:extLst>
              </a:tr>
              <a:tr h="271801">
                <a:tc>
                  <a:txBody>
                    <a:bodyPr/>
                    <a:lstStyle/>
                    <a:p>
                      <a:pPr marL="67945">
                        <a:spcBef>
                          <a:spcPts val="5"/>
                        </a:spcBef>
                        <a:buNone/>
                      </a:pPr>
                      <a:r>
                        <a:rPr lang="en-IN" sz="1200">
                          <a:solidFill>
                            <a:schemeClr val="tx1"/>
                          </a:solidFill>
                          <a:effectLst/>
                          <a:latin typeface="Arial" panose="020B0604020202020204" pitchFamily="34" charset="0"/>
                          <a:ea typeface="Arial" panose="020B0604020202020204" pitchFamily="34" charset="0"/>
                        </a:rPr>
                        <a:t>Weight(g)</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spcBef>
                          <a:spcPts val="5"/>
                        </a:spcBef>
                        <a:buNone/>
                      </a:pPr>
                      <a:r>
                        <a:rPr lang="en-IN" sz="1200" dirty="0">
                          <a:solidFill>
                            <a:schemeClr val="tx1"/>
                          </a:solidFill>
                          <a:effectLst/>
                          <a:latin typeface="Arial" panose="020B0604020202020204" pitchFamily="34" charset="0"/>
                          <a:ea typeface="Arial" panose="020B0604020202020204" pitchFamily="34" charset="0"/>
                        </a:rPr>
                        <a:t>26g</a:t>
                      </a:r>
                      <a:endParaRPr lang="en-IN" sz="1100" dirty="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8678909"/>
                  </a:ext>
                </a:extLst>
              </a:tr>
              <a:tr h="271801">
                <a:tc>
                  <a:txBody>
                    <a:bodyPr/>
                    <a:lstStyle/>
                    <a:p>
                      <a:pPr marL="67945">
                        <a:buNone/>
                      </a:pPr>
                      <a:r>
                        <a:rPr lang="en-IN" sz="1200">
                          <a:solidFill>
                            <a:schemeClr val="tx1"/>
                          </a:solidFill>
                          <a:effectLst/>
                          <a:latin typeface="Arial" panose="020B0604020202020204" pitchFamily="34" charset="0"/>
                          <a:ea typeface="Arial" panose="020B0604020202020204" pitchFamily="34" charset="0"/>
                        </a:rPr>
                        <a:t>Length (mm)</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buNone/>
                      </a:pPr>
                      <a:r>
                        <a:rPr lang="en-IN" sz="1200">
                          <a:solidFill>
                            <a:schemeClr val="tx1"/>
                          </a:solidFill>
                          <a:effectLst/>
                          <a:latin typeface="Arial" panose="020B0604020202020204" pitchFamily="34" charset="0"/>
                          <a:ea typeface="Arial" panose="020B0604020202020204" pitchFamily="34" charset="0"/>
                        </a:rPr>
                        <a:t>68 mm</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3620231"/>
                  </a:ext>
                </a:extLst>
              </a:tr>
              <a:tr h="271801">
                <a:tc>
                  <a:txBody>
                    <a:bodyPr/>
                    <a:lstStyle/>
                    <a:p>
                      <a:pPr marL="67945">
                        <a:buNone/>
                      </a:pPr>
                      <a:r>
                        <a:rPr lang="en-IN" sz="1200">
                          <a:solidFill>
                            <a:schemeClr val="tx1"/>
                          </a:solidFill>
                          <a:effectLst/>
                          <a:latin typeface="Arial" panose="020B0604020202020204" pitchFamily="34" charset="0"/>
                          <a:ea typeface="Arial" panose="020B0604020202020204" pitchFamily="34" charset="0"/>
                        </a:rPr>
                        <a:t>Width (mm)</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buNone/>
                      </a:pPr>
                      <a:r>
                        <a:rPr lang="en-IN" sz="1200">
                          <a:solidFill>
                            <a:schemeClr val="tx1"/>
                          </a:solidFill>
                          <a:effectLst/>
                          <a:latin typeface="Arial" panose="020B0604020202020204" pitchFamily="34" charset="0"/>
                          <a:ea typeface="Arial" panose="020B0604020202020204" pitchFamily="34" charset="0"/>
                        </a:rPr>
                        <a:t>25 mm</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7857746"/>
                  </a:ext>
                </a:extLst>
              </a:tr>
              <a:tr h="271801">
                <a:tc>
                  <a:txBody>
                    <a:bodyPr/>
                    <a:lstStyle/>
                    <a:p>
                      <a:pPr marL="67945">
                        <a:buNone/>
                      </a:pPr>
                      <a:r>
                        <a:rPr lang="en-IN" sz="1200">
                          <a:solidFill>
                            <a:schemeClr val="tx1"/>
                          </a:solidFill>
                          <a:effectLst/>
                          <a:latin typeface="Arial" panose="020B0604020202020204" pitchFamily="34" charset="0"/>
                          <a:ea typeface="Arial" panose="020B0604020202020204" pitchFamily="34" charset="0"/>
                        </a:rPr>
                        <a:t>Height (mm)</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buNone/>
                      </a:pPr>
                      <a:r>
                        <a:rPr lang="en-IN" sz="1200" dirty="0">
                          <a:solidFill>
                            <a:schemeClr val="tx1"/>
                          </a:solidFill>
                          <a:effectLst/>
                          <a:latin typeface="Arial" panose="020B0604020202020204" pitchFamily="34" charset="0"/>
                          <a:ea typeface="Arial" panose="020B0604020202020204" pitchFamily="34" charset="0"/>
                        </a:rPr>
                        <a:t>8.7 mm</a:t>
                      </a:r>
                      <a:endParaRPr lang="en-IN" sz="1100" dirty="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7793637"/>
                  </a:ext>
                </a:extLst>
              </a:tr>
            </a:tbl>
          </a:graphicData>
        </a:graphic>
      </p:graphicFrame>
      <p:sp>
        <p:nvSpPr>
          <p:cNvPr id="14" name="Rectangle 13">
            <a:extLst>
              <a:ext uri="{FF2B5EF4-FFF2-40B4-BE49-F238E27FC236}">
                <a16:creationId xmlns:a16="http://schemas.microsoft.com/office/drawing/2014/main" id="{BE1776A5-510A-D049-4360-F1FBD9575966}"/>
              </a:ext>
            </a:extLst>
          </p:cNvPr>
          <p:cNvSpPr/>
          <p:nvPr/>
        </p:nvSpPr>
        <p:spPr>
          <a:xfrm>
            <a:off x="0" y="212655"/>
            <a:ext cx="9611833" cy="741600"/>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700"/>
              </a:spcAft>
            </a:pPr>
            <a:r>
              <a:rPr lang="en-US" sz="4400" b="1" dirty="0">
                <a:latin typeface="Times New Roman" panose="02020603050405020304" pitchFamily="18" charset="0"/>
                <a:cs typeface="Times New Roman" panose="02020603050405020304" pitchFamily="18" charset="0"/>
              </a:rPr>
              <a:t>   PROPULSION SYSTEM:</a:t>
            </a:r>
          </a:p>
        </p:txBody>
      </p:sp>
      <p:graphicFrame>
        <p:nvGraphicFramePr>
          <p:cNvPr id="5" name="Table 4">
            <a:extLst>
              <a:ext uri="{FF2B5EF4-FFF2-40B4-BE49-F238E27FC236}">
                <a16:creationId xmlns:a16="http://schemas.microsoft.com/office/drawing/2014/main" id="{6112739F-40D3-C902-D7EB-72629CE3D743}"/>
              </a:ext>
            </a:extLst>
          </p:cNvPr>
          <p:cNvGraphicFramePr>
            <a:graphicFrameLocks noGrp="1"/>
          </p:cNvGraphicFramePr>
          <p:nvPr>
            <p:extLst>
              <p:ext uri="{D42A27DB-BD31-4B8C-83A1-F6EECF244321}">
                <p14:modId xmlns:p14="http://schemas.microsoft.com/office/powerpoint/2010/main" val="1770299163"/>
              </p:ext>
            </p:extLst>
          </p:nvPr>
        </p:nvGraphicFramePr>
        <p:xfrm>
          <a:off x="613200" y="5064580"/>
          <a:ext cx="6182360" cy="1188342"/>
        </p:xfrm>
        <a:graphic>
          <a:graphicData uri="http://schemas.openxmlformats.org/drawingml/2006/table">
            <a:tbl>
              <a:tblPr firstRow="1" firstCol="1" bandRow="1">
                <a:tableStyleId>{5940675A-B579-460E-94D1-54222C63F5DA}</a:tableStyleId>
              </a:tblPr>
              <a:tblGrid>
                <a:gridCol w="2054225">
                  <a:extLst>
                    <a:ext uri="{9D8B030D-6E8A-4147-A177-3AD203B41FA5}">
                      <a16:colId xmlns:a16="http://schemas.microsoft.com/office/drawing/2014/main" val="2251978771"/>
                    </a:ext>
                  </a:extLst>
                </a:gridCol>
                <a:gridCol w="4128135">
                  <a:extLst>
                    <a:ext uri="{9D8B030D-6E8A-4147-A177-3AD203B41FA5}">
                      <a16:colId xmlns:a16="http://schemas.microsoft.com/office/drawing/2014/main" val="1310793878"/>
                    </a:ext>
                  </a:extLst>
                </a:gridCol>
              </a:tblGrid>
              <a:tr h="0">
                <a:tc>
                  <a:txBody>
                    <a:bodyPr/>
                    <a:lstStyle/>
                    <a:p>
                      <a:pPr>
                        <a:lnSpc>
                          <a:spcPct val="115000"/>
                        </a:lnSpc>
                        <a:spcAft>
                          <a:spcPts val="800"/>
                        </a:spcAft>
                        <a:buNone/>
                      </a:pPr>
                      <a:r>
                        <a:rPr lang="en-IN" sz="1200" b="1" kern="100" dirty="0">
                          <a:effectLst/>
                        </a:rPr>
                        <a:t>Specification</a:t>
                      </a:r>
                      <a:endParaRPr lang="en-IN" sz="1100" b="1"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15000"/>
                        </a:lnSpc>
                        <a:spcAft>
                          <a:spcPts val="800"/>
                        </a:spcAft>
                        <a:buNone/>
                      </a:pPr>
                      <a:r>
                        <a:rPr lang="en-IN" sz="1200" kern="100">
                          <a:effectLst/>
                        </a:rPr>
                        <a:t> </a:t>
                      </a:r>
                      <a:endParaRPr lang="en-IN"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473940096"/>
                  </a:ext>
                </a:extLst>
              </a:tr>
              <a:tr h="0">
                <a:tc>
                  <a:txBody>
                    <a:bodyPr/>
                    <a:lstStyle/>
                    <a:p>
                      <a:pPr>
                        <a:lnSpc>
                          <a:spcPct val="115000"/>
                        </a:lnSpc>
                        <a:spcAft>
                          <a:spcPts val="800"/>
                        </a:spcAft>
                        <a:buNone/>
                      </a:pPr>
                      <a:r>
                        <a:rPr lang="en-IN" sz="1200" kern="100" dirty="0">
                          <a:effectLst/>
                        </a:rPr>
                        <a:t>Max Thrust</a:t>
                      </a:r>
                      <a:endParaRPr lang="en-IN"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15000"/>
                        </a:lnSpc>
                        <a:spcAft>
                          <a:spcPts val="800"/>
                        </a:spcAft>
                        <a:buNone/>
                      </a:pPr>
                      <a:r>
                        <a:rPr lang="en-IN" sz="1200" kern="100">
                          <a:effectLst/>
                        </a:rPr>
                        <a:t>3.5kg</a:t>
                      </a:r>
                      <a:endParaRPr lang="en-IN"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215123002"/>
                  </a:ext>
                </a:extLst>
              </a:tr>
              <a:tr h="0">
                <a:tc>
                  <a:txBody>
                    <a:bodyPr/>
                    <a:lstStyle/>
                    <a:p>
                      <a:pPr>
                        <a:lnSpc>
                          <a:spcPct val="115000"/>
                        </a:lnSpc>
                        <a:spcAft>
                          <a:spcPts val="800"/>
                        </a:spcAft>
                        <a:buNone/>
                      </a:pPr>
                      <a:r>
                        <a:rPr lang="en-IN" sz="1200" kern="100" dirty="0">
                          <a:effectLst/>
                        </a:rPr>
                        <a:t>Weight</a:t>
                      </a:r>
                      <a:endParaRPr lang="en-IN"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15000"/>
                        </a:lnSpc>
                        <a:spcAft>
                          <a:spcPts val="800"/>
                        </a:spcAft>
                        <a:buNone/>
                      </a:pPr>
                      <a:r>
                        <a:rPr lang="en-IN" sz="1200" kern="100">
                          <a:effectLst/>
                        </a:rPr>
                        <a:t>85g</a:t>
                      </a:r>
                      <a:endParaRPr lang="en-IN"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935931514"/>
                  </a:ext>
                </a:extLst>
              </a:tr>
              <a:tr h="0">
                <a:tc>
                  <a:txBody>
                    <a:bodyPr/>
                    <a:lstStyle/>
                    <a:p>
                      <a:pPr>
                        <a:lnSpc>
                          <a:spcPct val="115000"/>
                        </a:lnSpc>
                        <a:spcAft>
                          <a:spcPts val="800"/>
                        </a:spcAft>
                        <a:buNone/>
                      </a:pPr>
                      <a:r>
                        <a:rPr lang="en-IN" sz="1200" kern="100" dirty="0">
                          <a:effectLst/>
                        </a:rPr>
                        <a:t>Maximum current </a:t>
                      </a:r>
                      <a:endParaRPr lang="en-IN"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15000"/>
                        </a:lnSpc>
                        <a:spcAft>
                          <a:spcPts val="800"/>
                        </a:spcAft>
                        <a:buNone/>
                      </a:pPr>
                      <a:r>
                        <a:rPr lang="en-IN" sz="1200" kern="100">
                          <a:effectLst/>
                        </a:rPr>
                        <a:t>30A</a:t>
                      </a:r>
                      <a:endParaRPr lang="en-IN"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793843549"/>
                  </a:ext>
                </a:extLst>
              </a:tr>
              <a:tr h="0">
                <a:tc>
                  <a:txBody>
                    <a:bodyPr/>
                    <a:lstStyle/>
                    <a:p>
                      <a:pPr>
                        <a:lnSpc>
                          <a:spcPct val="115000"/>
                        </a:lnSpc>
                        <a:spcAft>
                          <a:spcPts val="800"/>
                        </a:spcAft>
                        <a:buNone/>
                      </a:pPr>
                      <a:r>
                        <a:rPr lang="en-IN" sz="1200" kern="100" dirty="0">
                          <a:effectLst/>
                        </a:rPr>
                        <a:t>Maximum power</a:t>
                      </a:r>
                      <a:endParaRPr lang="en-IN"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15000"/>
                        </a:lnSpc>
                        <a:spcAft>
                          <a:spcPts val="800"/>
                        </a:spcAft>
                        <a:buNone/>
                      </a:pPr>
                      <a:r>
                        <a:rPr lang="en-IN" sz="1200" kern="100">
                          <a:effectLst/>
                        </a:rPr>
                        <a:t>497W</a:t>
                      </a:r>
                      <a:endParaRPr lang="en-IN"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295016101"/>
                  </a:ext>
                </a:extLst>
              </a:tr>
              <a:tr h="50165">
                <a:tc>
                  <a:txBody>
                    <a:bodyPr/>
                    <a:lstStyle/>
                    <a:p>
                      <a:pPr>
                        <a:lnSpc>
                          <a:spcPct val="115000"/>
                        </a:lnSpc>
                        <a:spcAft>
                          <a:spcPts val="800"/>
                        </a:spcAft>
                        <a:buNone/>
                      </a:pPr>
                      <a:r>
                        <a:rPr lang="en-IN" sz="1200" kern="100" dirty="0">
                          <a:effectLst/>
                        </a:rPr>
                        <a:t>Recommended Battery</a:t>
                      </a:r>
                      <a:endParaRPr lang="en-IN"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15000"/>
                        </a:lnSpc>
                        <a:spcAft>
                          <a:spcPts val="800"/>
                        </a:spcAft>
                        <a:buNone/>
                      </a:pPr>
                      <a:r>
                        <a:rPr lang="en-IN" sz="1200" kern="100" dirty="0">
                          <a:effectLst/>
                        </a:rPr>
                        <a:t>6S(LiPo)</a:t>
                      </a:r>
                      <a:endParaRPr lang="en-IN"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836345369"/>
                  </a:ext>
                </a:extLst>
              </a:tr>
            </a:tbl>
          </a:graphicData>
        </a:graphic>
      </p:graphicFrame>
    </p:spTree>
    <p:extLst>
      <p:ext uri="{BB962C8B-B14F-4D97-AF65-F5344CB8AC3E}">
        <p14:creationId xmlns:p14="http://schemas.microsoft.com/office/powerpoint/2010/main" val="23764654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B605B-A3F8-1C44-2365-6B49A2DEFBC9}"/>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B4C55198-9239-87CC-93D8-0EC246B22E4B}"/>
              </a:ext>
            </a:extLst>
          </p:cNvPr>
          <p:cNvPicPr>
            <a:picLocks noChangeAspect="1"/>
          </p:cNvPicPr>
          <p:nvPr/>
        </p:nvPicPr>
        <p:blipFill>
          <a:blip r:embed="rId2">
            <a:clrChange>
              <a:clrFrom>
                <a:srgbClr val="071002"/>
              </a:clrFrom>
              <a:clrTo>
                <a:srgbClr val="071002">
                  <a:alpha val="0"/>
                </a:srgbClr>
              </a:clrTo>
            </a:clrChange>
            <a:extLst>
              <a:ext uri="{BEBA8EAE-BF5A-486C-A8C5-ECC9F3942E4B}">
                <a14:imgProps xmlns:a14="http://schemas.microsoft.com/office/drawing/2010/main">
                  <a14:imgLayer r:embed="rId3">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sp>
        <p:nvSpPr>
          <p:cNvPr id="3" name="TextBox 2">
            <a:extLst>
              <a:ext uri="{FF2B5EF4-FFF2-40B4-BE49-F238E27FC236}">
                <a16:creationId xmlns:a16="http://schemas.microsoft.com/office/drawing/2014/main" id="{F5B3A5F4-3616-F3D5-139F-710154D26A16}"/>
              </a:ext>
            </a:extLst>
          </p:cNvPr>
          <p:cNvSpPr txBox="1"/>
          <p:nvPr/>
        </p:nvSpPr>
        <p:spPr>
          <a:xfrm>
            <a:off x="613200" y="876136"/>
            <a:ext cx="5482800" cy="3730765"/>
          </a:xfrm>
          <a:prstGeom prst="rect">
            <a:avLst/>
          </a:prstGeom>
          <a:noFill/>
        </p:spPr>
        <p:txBody>
          <a:bodyPr wrap="square" rtlCol="0">
            <a:spAutoFit/>
          </a:bodyPr>
          <a:lstStyle/>
          <a:p>
            <a:pPr>
              <a:lnSpc>
                <a:spcPct val="115000"/>
              </a:lnSpc>
              <a:spcAft>
                <a:spcPts val="700"/>
              </a:spcAft>
              <a:buNone/>
            </a:pPr>
            <a:r>
              <a:rPr lang="en-US" sz="4000" b="1" kern="100" dirty="0">
                <a:effectLst/>
                <a:latin typeface="Liberation Serif"/>
                <a:ea typeface="Noto Serif CJK SC"/>
                <a:cs typeface="Noto Sans Devanagari" panose="020B0502040504020204" pitchFamily="34" charset="0"/>
              </a:rPr>
              <a:t>ESC</a:t>
            </a:r>
            <a:endParaRPr lang="en-IN" sz="4000" kern="100" dirty="0">
              <a:effectLst/>
              <a:latin typeface="Liberation Serif"/>
              <a:ea typeface="Noto Serif CJK SC"/>
              <a:cs typeface="Noto Sans Devanagari" panose="020B0502040504020204" pitchFamily="34" charset="0"/>
            </a:endParaRPr>
          </a:p>
          <a:p>
            <a:r>
              <a:rPr lang="en-IN" dirty="0">
                <a:latin typeface="Liberation Serif"/>
              </a:rPr>
              <a:t>The Cyclone 45A </a:t>
            </a:r>
            <a:r>
              <a:rPr lang="en-IN" dirty="0" err="1">
                <a:latin typeface="Liberation Serif"/>
              </a:rPr>
              <a:t>BLHeli</a:t>
            </a:r>
            <a:r>
              <a:rPr lang="en-IN" dirty="0">
                <a:latin typeface="Liberation Serif"/>
              </a:rPr>
              <a:t>-S ESC is a high-performance ESC for multirotor drones, featuring a 6-layer, 3-oz gold-plated PCB for better current handling, heat dissipation, and durability. Its optimized layout ensures strong anti-jamming and stable operation. Supporting </a:t>
            </a:r>
            <a:r>
              <a:rPr lang="en-IN" dirty="0" err="1">
                <a:latin typeface="Liberation Serif"/>
              </a:rPr>
              <a:t>DShot</a:t>
            </a:r>
            <a:r>
              <a:rPr lang="en-IN" dirty="0">
                <a:latin typeface="Liberation Serif"/>
              </a:rPr>
              <a:t> 150/300/600, along with Damped Light and regenerative braking, it provides smooth throttle response, fast motor deceleration, and low noise, while an integrated RGB LED improves night-flight visibility.</a:t>
            </a:r>
          </a:p>
          <a:p>
            <a:endParaRPr lang="en-IN" dirty="0"/>
          </a:p>
        </p:txBody>
      </p:sp>
      <p:sp>
        <p:nvSpPr>
          <p:cNvPr id="6" name="TextBox 5">
            <a:extLst>
              <a:ext uri="{FF2B5EF4-FFF2-40B4-BE49-F238E27FC236}">
                <a16:creationId xmlns:a16="http://schemas.microsoft.com/office/drawing/2014/main" id="{30130F00-D679-41BB-B294-3DE1671496E5}"/>
              </a:ext>
            </a:extLst>
          </p:cNvPr>
          <p:cNvSpPr txBox="1"/>
          <p:nvPr/>
        </p:nvSpPr>
        <p:spPr>
          <a:xfrm>
            <a:off x="613200" y="-7455465"/>
            <a:ext cx="5482800" cy="4154984"/>
          </a:xfrm>
          <a:prstGeom prst="rect">
            <a:avLst/>
          </a:prstGeom>
          <a:noFill/>
        </p:spPr>
        <p:txBody>
          <a:bodyPr wrap="square" rtlCol="0">
            <a:spAutoFit/>
          </a:bodyPr>
          <a:lstStyle/>
          <a:p>
            <a:pPr>
              <a:buNone/>
            </a:pPr>
            <a:r>
              <a:rPr lang="en-US" sz="6600" b="1" kern="100" dirty="0">
                <a:effectLst/>
                <a:latin typeface="Liberation Serif"/>
                <a:ea typeface="Noto Serif CJK SC"/>
                <a:cs typeface="Noto Sans Devanagari" panose="020B0502040504020204" pitchFamily="34" charset="0"/>
              </a:rPr>
              <a:t>MOTOR</a:t>
            </a:r>
            <a:r>
              <a:rPr lang="en-US" sz="6600" kern="100" dirty="0">
                <a:effectLst/>
                <a:latin typeface="Liberation Serif"/>
                <a:ea typeface="Noto Serif CJK SC"/>
                <a:cs typeface="Noto Sans Devanagari" panose="020B0502040504020204" pitchFamily="34" charset="0"/>
              </a:rPr>
              <a:t>:</a:t>
            </a:r>
            <a:endParaRPr lang="en-IN" sz="6600" kern="100" dirty="0">
              <a:effectLst/>
              <a:latin typeface="Liberation Serif"/>
              <a:ea typeface="Noto Serif CJK SC"/>
              <a:cs typeface="Noto Sans Devanagari" panose="020B0502040504020204" pitchFamily="34" charset="0"/>
            </a:endParaRPr>
          </a:p>
          <a:p>
            <a:r>
              <a:rPr lang="en-IN" dirty="0">
                <a:latin typeface="Liberation Serif"/>
              </a:rPr>
              <a:t>The propulsion system design began with selecting a motor suitable for our quadrotor UAV. After evaluating multiple options, the </a:t>
            </a:r>
            <a:r>
              <a:rPr lang="en-IN" b="1" dirty="0">
                <a:latin typeface="Liberation Serif"/>
              </a:rPr>
              <a:t>Xing2 3110 900KV </a:t>
            </a:r>
            <a:r>
              <a:rPr lang="en-IN" dirty="0">
                <a:latin typeface="Liberation Serif"/>
              </a:rPr>
              <a:t>Brushless Outrunner Motor was chosen for its balanced performance, delivering high torque and efficient thrust with </a:t>
            </a:r>
            <a:r>
              <a:rPr lang="en-IN" dirty="0" err="1">
                <a:latin typeface="Liberation Serif"/>
              </a:rPr>
              <a:t>HQProp</a:t>
            </a:r>
            <a:r>
              <a:rPr lang="en-IN" dirty="0">
                <a:latin typeface="Liberation Serif"/>
              </a:rPr>
              <a:t> 8x4x3 propellers. Each motor produces up to 2000g of thrust, enabling a total of 8000g, resulting in a thrust-to-weight ratio of ~3.8:1, ideal for stable lift and agile manoeuvrability.</a:t>
            </a:r>
          </a:p>
          <a:p>
            <a:pPr>
              <a:buNone/>
            </a:pPr>
            <a:endParaRPr lang="en-IN" dirty="0"/>
          </a:p>
          <a:p>
            <a:endParaRPr lang="en-IN" dirty="0"/>
          </a:p>
        </p:txBody>
      </p:sp>
      <p:graphicFrame>
        <p:nvGraphicFramePr>
          <p:cNvPr id="12" name="Table 11">
            <a:extLst>
              <a:ext uri="{FF2B5EF4-FFF2-40B4-BE49-F238E27FC236}">
                <a16:creationId xmlns:a16="http://schemas.microsoft.com/office/drawing/2014/main" id="{B7C634F8-6281-6650-D078-F8E96E78E41D}"/>
              </a:ext>
            </a:extLst>
          </p:cNvPr>
          <p:cNvGraphicFramePr>
            <a:graphicFrameLocks noGrp="1"/>
          </p:cNvGraphicFramePr>
          <p:nvPr/>
        </p:nvGraphicFramePr>
        <p:xfrm>
          <a:off x="1256891" y="-3708002"/>
          <a:ext cx="3346873" cy="1800225"/>
        </p:xfrm>
        <a:graphic>
          <a:graphicData uri="http://schemas.openxmlformats.org/drawingml/2006/table">
            <a:tbl>
              <a:tblPr firstRow="1" firstCol="1" lastRow="1" lastCol="1" bandRow="1" bandCol="1">
                <a:tableStyleId>{2D5ABB26-0587-4C30-8999-92F81FD0307C}</a:tableStyleId>
              </a:tblPr>
              <a:tblGrid>
                <a:gridCol w="1537715">
                  <a:extLst>
                    <a:ext uri="{9D8B030D-6E8A-4147-A177-3AD203B41FA5}">
                      <a16:colId xmlns:a16="http://schemas.microsoft.com/office/drawing/2014/main" val="1806358160"/>
                    </a:ext>
                  </a:extLst>
                </a:gridCol>
                <a:gridCol w="1809158">
                  <a:extLst>
                    <a:ext uri="{9D8B030D-6E8A-4147-A177-3AD203B41FA5}">
                      <a16:colId xmlns:a16="http://schemas.microsoft.com/office/drawing/2014/main" val="1553108328"/>
                    </a:ext>
                  </a:extLst>
                </a:gridCol>
              </a:tblGrid>
              <a:tr h="71755">
                <a:tc gridSpan="2">
                  <a:txBody>
                    <a:bodyPr/>
                    <a:lstStyle/>
                    <a:p>
                      <a:pPr marL="67945">
                        <a:spcBef>
                          <a:spcPts val="10"/>
                        </a:spcBef>
                        <a:buNone/>
                      </a:pPr>
                      <a:r>
                        <a:rPr lang="en-IN" sz="1200" b="1">
                          <a:solidFill>
                            <a:schemeClr val="tx1"/>
                          </a:solidFill>
                          <a:effectLst/>
                          <a:latin typeface="Arial" panose="020B0604020202020204" pitchFamily="34" charset="0"/>
                          <a:ea typeface="Arial" panose="020B0604020202020204" pitchFamily="34" charset="0"/>
                        </a:rPr>
                        <a:t>Specification</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797795"/>
                  </a:ext>
                </a:extLst>
              </a:tr>
              <a:tr h="71755">
                <a:tc>
                  <a:txBody>
                    <a:bodyPr/>
                    <a:lstStyle/>
                    <a:p>
                      <a:pPr marL="67945">
                        <a:buNone/>
                      </a:pPr>
                      <a:r>
                        <a:rPr lang="en-IN" sz="1200" dirty="0">
                          <a:solidFill>
                            <a:schemeClr val="tx1"/>
                          </a:solidFill>
                          <a:effectLst/>
                          <a:latin typeface="Arial" panose="020B0604020202020204" pitchFamily="34" charset="0"/>
                          <a:ea typeface="Arial" panose="020B0604020202020204" pitchFamily="34" charset="0"/>
                        </a:rPr>
                        <a:t>Motor Dimensions</a:t>
                      </a:r>
                      <a:endParaRPr lang="en-IN" sz="1100" dirty="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buNone/>
                      </a:pPr>
                      <a:r>
                        <a:rPr lang="en-IN" sz="1200">
                          <a:solidFill>
                            <a:schemeClr val="tx1"/>
                          </a:solidFill>
                          <a:effectLst/>
                          <a:latin typeface="Arial" panose="020B0604020202020204" pitchFamily="34" charset="0"/>
                          <a:ea typeface="Arial" panose="020B0604020202020204" pitchFamily="34" charset="0"/>
                        </a:rPr>
                        <a:t>Φ38.72 X 24.6 mm</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7453570"/>
                  </a:ext>
                </a:extLst>
              </a:tr>
              <a:tr h="337185">
                <a:tc>
                  <a:txBody>
                    <a:bodyPr/>
                    <a:lstStyle/>
                    <a:p>
                      <a:pPr marL="67945">
                        <a:buNone/>
                      </a:pPr>
                      <a:r>
                        <a:rPr lang="en-IN" sz="1200">
                          <a:solidFill>
                            <a:schemeClr val="tx1"/>
                          </a:solidFill>
                          <a:effectLst/>
                          <a:latin typeface="Arial" panose="020B0604020202020204" pitchFamily="34" charset="0"/>
                          <a:ea typeface="Arial" panose="020B0604020202020204" pitchFamily="34" charset="0"/>
                        </a:rPr>
                        <a:t>Weight (g)</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buNone/>
                      </a:pPr>
                      <a:r>
                        <a:rPr lang="en-IN" sz="1200">
                          <a:solidFill>
                            <a:schemeClr val="tx1"/>
                          </a:solidFill>
                          <a:effectLst/>
                          <a:latin typeface="Arial" panose="020B0604020202020204" pitchFamily="34" charset="0"/>
                          <a:ea typeface="Arial" panose="020B0604020202020204" pitchFamily="34" charset="0"/>
                        </a:rPr>
                        <a:t>80 (including wire)</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0673031"/>
                  </a:ext>
                </a:extLst>
              </a:tr>
              <a:tr h="71755">
                <a:tc>
                  <a:txBody>
                    <a:bodyPr/>
                    <a:lstStyle/>
                    <a:p>
                      <a:pPr marL="67945">
                        <a:buNone/>
                      </a:pPr>
                      <a:r>
                        <a:rPr lang="en-IN" sz="1200">
                          <a:solidFill>
                            <a:schemeClr val="tx1"/>
                          </a:solidFill>
                          <a:effectLst/>
                          <a:latin typeface="Arial" panose="020B0604020202020204" pitchFamily="34" charset="0"/>
                          <a:ea typeface="Arial" panose="020B0604020202020204" pitchFamily="34" charset="0"/>
                        </a:rPr>
                        <a:t>Max RPM (4S)</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buNone/>
                      </a:pPr>
                      <a:r>
                        <a:rPr lang="en-IN" sz="1200">
                          <a:solidFill>
                            <a:schemeClr val="tx1"/>
                          </a:solidFill>
                          <a:effectLst/>
                          <a:latin typeface="Arial" panose="020B0604020202020204" pitchFamily="34" charset="0"/>
                          <a:ea typeface="Arial" panose="020B0604020202020204" pitchFamily="34" charset="0"/>
                        </a:rPr>
                        <a:t>15120</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7975310"/>
                  </a:ext>
                </a:extLst>
              </a:tr>
              <a:tr h="71755">
                <a:tc>
                  <a:txBody>
                    <a:bodyPr/>
                    <a:lstStyle/>
                    <a:p>
                      <a:pPr marL="67945">
                        <a:buNone/>
                      </a:pPr>
                      <a:r>
                        <a:rPr lang="en-IN" sz="1200">
                          <a:solidFill>
                            <a:schemeClr val="tx1"/>
                          </a:solidFill>
                          <a:effectLst/>
                          <a:latin typeface="Arial" panose="020B0604020202020204" pitchFamily="34" charset="0"/>
                          <a:ea typeface="Arial" panose="020B0604020202020204" pitchFamily="34" charset="0"/>
                        </a:rPr>
                        <a:t>Peak Current (4S)</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buNone/>
                      </a:pPr>
                      <a:r>
                        <a:rPr lang="en-IN" sz="1200">
                          <a:solidFill>
                            <a:schemeClr val="tx1"/>
                          </a:solidFill>
                          <a:effectLst/>
                          <a:latin typeface="Arial" panose="020B0604020202020204" pitchFamily="34" charset="0"/>
                          <a:ea typeface="Arial" panose="020B0604020202020204" pitchFamily="34" charset="0"/>
                        </a:rPr>
                        <a:t>40 Amps (estimated with 8x4x3 prop on 4S)</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3516092"/>
                  </a:ext>
                </a:extLst>
              </a:tr>
              <a:tr h="71755">
                <a:tc>
                  <a:txBody>
                    <a:bodyPr/>
                    <a:lstStyle/>
                    <a:p>
                      <a:pPr marL="67945">
                        <a:spcBef>
                          <a:spcPts val="10"/>
                        </a:spcBef>
                        <a:buNone/>
                      </a:pPr>
                      <a:r>
                        <a:rPr lang="en-IN" sz="1200">
                          <a:solidFill>
                            <a:schemeClr val="tx1"/>
                          </a:solidFill>
                          <a:effectLst/>
                          <a:latin typeface="Arial" panose="020B0604020202020204" pitchFamily="34" charset="0"/>
                          <a:ea typeface="Arial" panose="020B0604020202020204" pitchFamily="34" charset="0"/>
                        </a:rPr>
                        <a:t>Max. Power(4S)</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spcBef>
                          <a:spcPts val="10"/>
                        </a:spcBef>
                        <a:buNone/>
                      </a:pPr>
                      <a:r>
                        <a:rPr lang="en-IN" sz="1200" dirty="0">
                          <a:solidFill>
                            <a:schemeClr val="tx1"/>
                          </a:solidFill>
                          <a:effectLst/>
                          <a:latin typeface="Arial" panose="020B0604020202020204" pitchFamily="34" charset="0"/>
                          <a:ea typeface="Arial" panose="020B0604020202020204" pitchFamily="34" charset="0"/>
                        </a:rPr>
                        <a:t>672 Watts</a:t>
                      </a:r>
                      <a:endParaRPr lang="en-IN" sz="1100" dirty="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4793362"/>
                  </a:ext>
                </a:extLst>
              </a:tr>
              <a:tr h="71755">
                <a:tc>
                  <a:txBody>
                    <a:bodyPr/>
                    <a:lstStyle/>
                    <a:p>
                      <a:pPr marL="67945">
                        <a:buNone/>
                      </a:pPr>
                      <a:r>
                        <a:rPr lang="en-IN" sz="1200">
                          <a:solidFill>
                            <a:schemeClr val="tx1"/>
                          </a:solidFill>
                          <a:effectLst/>
                          <a:latin typeface="Arial" panose="020B0604020202020204" pitchFamily="34" charset="0"/>
                          <a:ea typeface="Arial" panose="020B0604020202020204" pitchFamily="34" charset="0"/>
                        </a:rPr>
                        <a:t>Recommended Propeller</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buNone/>
                      </a:pPr>
                      <a:r>
                        <a:rPr lang="en-IN" sz="1200" dirty="0">
                          <a:solidFill>
                            <a:schemeClr val="tx1"/>
                          </a:solidFill>
                          <a:effectLst/>
                          <a:latin typeface="Arial" panose="020B0604020202020204" pitchFamily="34" charset="0"/>
                          <a:ea typeface="Arial" panose="020B0604020202020204" pitchFamily="34" charset="0"/>
                        </a:rPr>
                        <a:t>8x4x3</a:t>
                      </a:r>
                      <a:endParaRPr lang="en-IN" sz="1100" dirty="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210738"/>
                  </a:ext>
                </a:extLst>
              </a:tr>
            </a:tbl>
          </a:graphicData>
        </a:graphic>
      </p:graphicFrame>
      <p:sp>
        <p:nvSpPr>
          <p:cNvPr id="13" name="TextBox 12">
            <a:extLst>
              <a:ext uri="{FF2B5EF4-FFF2-40B4-BE49-F238E27FC236}">
                <a16:creationId xmlns:a16="http://schemas.microsoft.com/office/drawing/2014/main" id="{43FE5EE4-4558-25B8-220A-FD951C2C5375}"/>
              </a:ext>
            </a:extLst>
          </p:cNvPr>
          <p:cNvSpPr txBox="1"/>
          <p:nvPr/>
        </p:nvSpPr>
        <p:spPr>
          <a:xfrm>
            <a:off x="613200" y="7469932"/>
            <a:ext cx="5482800" cy="3289106"/>
          </a:xfrm>
          <a:prstGeom prst="rect">
            <a:avLst/>
          </a:prstGeom>
          <a:noFill/>
        </p:spPr>
        <p:txBody>
          <a:bodyPr wrap="square" rtlCol="0">
            <a:spAutoFit/>
          </a:bodyPr>
          <a:lstStyle/>
          <a:p>
            <a:pPr>
              <a:lnSpc>
                <a:spcPct val="115000"/>
              </a:lnSpc>
              <a:spcAft>
                <a:spcPts val="700"/>
              </a:spcAft>
              <a:buNone/>
            </a:pPr>
            <a:r>
              <a:rPr lang="en-US" sz="6600" b="1" kern="100" dirty="0">
                <a:effectLst/>
                <a:latin typeface="Liberation Serif"/>
                <a:ea typeface="Noto Serif CJK SC"/>
                <a:cs typeface="Noto Sans Devanagari" panose="020B0502040504020204" pitchFamily="34" charset="0"/>
              </a:rPr>
              <a:t>Propellers:</a:t>
            </a:r>
          </a:p>
          <a:p>
            <a:r>
              <a:rPr lang="en-IN" dirty="0">
                <a:latin typeface="Liberation Serif"/>
              </a:rPr>
              <a:t>Propellers are mechanical devices that convert rotational motion into thrust. In drones, they generate upward lift by spinning and creating airflow, which causes a pressure difference between the top and bottom surfaces.</a:t>
            </a:r>
          </a:p>
          <a:p>
            <a:r>
              <a:rPr lang="en-IN" dirty="0">
                <a:latin typeface="Liberation Serif"/>
              </a:rPr>
              <a:t>We have used </a:t>
            </a:r>
            <a:r>
              <a:rPr lang="en-IN" b="1" dirty="0">
                <a:latin typeface="Liberation Serif"/>
              </a:rPr>
              <a:t>HQ 8×4×3 propellers </a:t>
            </a:r>
            <a:r>
              <a:rPr lang="en-IN" dirty="0">
                <a:latin typeface="Liberation Serif"/>
              </a:rPr>
              <a:t>for our drone, which provide an optimal balance between thrust and power consumption when paired with our motors.</a:t>
            </a:r>
          </a:p>
        </p:txBody>
      </p:sp>
      <p:graphicFrame>
        <p:nvGraphicFramePr>
          <p:cNvPr id="16" name="Table 15">
            <a:extLst>
              <a:ext uri="{FF2B5EF4-FFF2-40B4-BE49-F238E27FC236}">
                <a16:creationId xmlns:a16="http://schemas.microsoft.com/office/drawing/2014/main" id="{AC1ED14B-3431-950E-1522-220E3F8B6259}"/>
              </a:ext>
            </a:extLst>
          </p:cNvPr>
          <p:cNvGraphicFramePr>
            <a:graphicFrameLocks noGrp="1"/>
          </p:cNvGraphicFramePr>
          <p:nvPr/>
        </p:nvGraphicFramePr>
        <p:xfrm>
          <a:off x="721725" y="11098804"/>
          <a:ext cx="4983480" cy="731520"/>
        </p:xfrm>
        <a:graphic>
          <a:graphicData uri="http://schemas.openxmlformats.org/drawingml/2006/table">
            <a:tbl>
              <a:tblPr>
                <a:tableStyleId>{5C22544A-7EE6-4342-B048-85BDC9FD1C3A}</a:tableStyleId>
              </a:tblPr>
              <a:tblGrid>
                <a:gridCol w="867090">
                  <a:extLst>
                    <a:ext uri="{9D8B030D-6E8A-4147-A177-3AD203B41FA5}">
                      <a16:colId xmlns:a16="http://schemas.microsoft.com/office/drawing/2014/main" val="2686175960"/>
                    </a:ext>
                  </a:extLst>
                </a:gridCol>
                <a:gridCol w="960101">
                  <a:extLst>
                    <a:ext uri="{9D8B030D-6E8A-4147-A177-3AD203B41FA5}">
                      <a16:colId xmlns:a16="http://schemas.microsoft.com/office/drawing/2014/main" val="3288188635"/>
                    </a:ext>
                  </a:extLst>
                </a:gridCol>
                <a:gridCol w="778145">
                  <a:extLst>
                    <a:ext uri="{9D8B030D-6E8A-4147-A177-3AD203B41FA5}">
                      <a16:colId xmlns:a16="http://schemas.microsoft.com/office/drawing/2014/main" val="2165802906"/>
                    </a:ext>
                  </a:extLst>
                </a:gridCol>
                <a:gridCol w="685133">
                  <a:extLst>
                    <a:ext uri="{9D8B030D-6E8A-4147-A177-3AD203B41FA5}">
                      <a16:colId xmlns:a16="http://schemas.microsoft.com/office/drawing/2014/main" val="2917595379"/>
                    </a:ext>
                  </a:extLst>
                </a:gridCol>
                <a:gridCol w="823380">
                  <a:extLst>
                    <a:ext uri="{9D8B030D-6E8A-4147-A177-3AD203B41FA5}">
                      <a16:colId xmlns:a16="http://schemas.microsoft.com/office/drawing/2014/main" val="1259732223"/>
                    </a:ext>
                  </a:extLst>
                </a:gridCol>
                <a:gridCol w="869631">
                  <a:extLst>
                    <a:ext uri="{9D8B030D-6E8A-4147-A177-3AD203B41FA5}">
                      <a16:colId xmlns:a16="http://schemas.microsoft.com/office/drawing/2014/main" val="3885735283"/>
                    </a:ext>
                  </a:extLst>
                </a:gridCol>
              </a:tblGrid>
              <a:tr h="201930">
                <a:tc>
                  <a:txBody>
                    <a:bodyPr/>
                    <a:lstStyle/>
                    <a:p>
                      <a:pPr marL="5715" algn="ctr">
                        <a:spcBef>
                          <a:spcPts val="10"/>
                        </a:spcBef>
                        <a:buNone/>
                      </a:pPr>
                      <a:r>
                        <a:rPr lang="en-IN" sz="1200">
                          <a:solidFill>
                            <a:schemeClr val="tx1"/>
                          </a:solidFill>
                          <a:effectLst/>
                        </a:rPr>
                        <a:t>Propeller</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4445" algn="ctr">
                        <a:spcBef>
                          <a:spcPts val="10"/>
                        </a:spcBef>
                        <a:buNone/>
                      </a:pPr>
                      <a:r>
                        <a:rPr lang="en-IN" sz="1200">
                          <a:solidFill>
                            <a:schemeClr val="tx1"/>
                          </a:solidFill>
                          <a:effectLst/>
                        </a:rPr>
                        <a:t>Thrust</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5715" marR="2540" algn="ctr">
                        <a:spcBef>
                          <a:spcPts val="10"/>
                        </a:spcBef>
                        <a:buNone/>
                      </a:pPr>
                      <a:r>
                        <a:rPr lang="en-IN" sz="1200">
                          <a:solidFill>
                            <a:schemeClr val="tx1"/>
                          </a:solidFill>
                          <a:effectLst/>
                        </a:rPr>
                        <a:t>Voltage</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7620" marR="3175" algn="ctr">
                        <a:spcBef>
                          <a:spcPts val="10"/>
                        </a:spcBef>
                        <a:buNone/>
                      </a:pPr>
                      <a:r>
                        <a:rPr lang="en-IN" sz="1200">
                          <a:solidFill>
                            <a:schemeClr val="tx1"/>
                          </a:solidFill>
                          <a:effectLst/>
                        </a:rPr>
                        <a:t>Current</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1430" marR="3175" algn="ctr">
                        <a:spcBef>
                          <a:spcPts val="10"/>
                        </a:spcBef>
                        <a:buNone/>
                      </a:pPr>
                      <a:r>
                        <a:rPr lang="en-IN" sz="1200">
                          <a:solidFill>
                            <a:schemeClr val="tx1"/>
                          </a:solidFill>
                          <a:effectLst/>
                        </a:rPr>
                        <a:t>Power</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8255" algn="ctr">
                        <a:spcBef>
                          <a:spcPts val="10"/>
                        </a:spcBef>
                        <a:buNone/>
                      </a:pPr>
                      <a:r>
                        <a:rPr lang="en-IN" sz="1200">
                          <a:solidFill>
                            <a:schemeClr val="tx1"/>
                          </a:solidFill>
                          <a:effectLst/>
                        </a:rPr>
                        <a:t>Efficiency</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0165250"/>
                  </a:ext>
                </a:extLst>
              </a:tr>
              <a:tr h="200660">
                <a:tc>
                  <a:txBody>
                    <a:bodyPr/>
                    <a:lstStyle/>
                    <a:p>
                      <a:pPr marL="5715" algn="ctr">
                        <a:buNone/>
                      </a:pPr>
                      <a:r>
                        <a:rPr lang="en-IN" sz="1200">
                          <a:solidFill>
                            <a:schemeClr val="tx1"/>
                          </a:solidFill>
                          <a:effectLst/>
                        </a:rPr>
                        <a:t>HQ 8*4*3</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4445" marR="1905" algn="ctr">
                        <a:buNone/>
                      </a:pPr>
                      <a:r>
                        <a:rPr lang="en-IN" sz="1200">
                          <a:solidFill>
                            <a:schemeClr val="tx1"/>
                          </a:solidFill>
                          <a:effectLst/>
                        </a:rPr>
                        <a:t>~2000g(max)</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5715" algn="ctr">
                        <a:buNone/>
                      </a:pPr>
                      <a:r>
                        <a:rPr lang="en-IN" sz="1200" dirty="0">
                          <a:solidFill>
                            <a:schemeClr val="tx1"/>
                          </a:solidFill>
                          <a:effectLst/>
                        </a:rPr>
                        <a:t>16.8V (max)</a:t>
                      </a:r>
                      <a:endParaRPr lang="en-IN" sz="1100" dirty="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7620" marR="635" algn="ctr">
                        <a:buNone/>
                      </a:pPr>
                      <a:r>
                        <a:rPr lang="en-IN" sz="1200">
                          <a:solidFill>
                            <a:schemeClr val="tx1"/>
                          </a:solidFill>
                          <a:effectLst/>
                        </a:rPr>
                        <a:t>40A</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1430" algn="ctr">
                        <a:buNone/>
                      </a:pPr>
                      <a:r>
                        <a:rPr lang="en-IN" sz="1200">
                          <a:solidFill>
                            <a:schemeClr val="tx1"/>
                          </a:solidFill>
                          <a:effectLst/>
                        </a:rPr>
                        <a:t>672W</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8255" algn="ctr">
                        <a:buNone/>
                      </a:pPr>
                      <a:r>
                        <a:rPr lang="en-IN" sz="1200" dirty="0">
                          <a:solidFill>
                            <a:schemeClr val="tx1"/>
                          </a:solidFill>
                          <a:effectLst/>
                        </a:rPr>
                        <a:t>~2.9g/W</a:t>
                      </a:r>
                      <a:endParaRPr lang="en-IN" sz="1100" dirty="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9286642"/>
                  </a:ext>
                </a:extLst>
              </a:tr>
            </a:tbl>
          </a:graphicData>
        </a:graphic>
      </p:graphicFrame>
      <p:sp>
        <p:nvSpPr>
          <p:cNvPr id="5" name="Rectangle 4">
            <a:extLst>
              <a:ext uri="{FF2B5EF4-FFF2-40B4-BE49-F238E27FC236}">
                <a16:creationId xmlns:a16="http://schemas.microsoft.com/office/drawing/2014/main" id="{5F62FAE8-52F2-37E7-8A46-DFA31144A362}"/>
              </a:ext>
            </a:extLst>
          </p:cNvPr>
          <p:cNvSpPr/>
          <p:nvPr/>
        </p:nvSpPr>
        <p:spPr>
          <a:xfrm>
            <a:off x="0" y="212655"/>
            <a:ext cx="9611833" cy="741600"/>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700"/>
              </a:spcAft>
            </a:pPr>
            <a:r>
              <a:rPr lang="en-US" sz="4400" b="1" dirty="0">
                <a:latin typeface="Times New Roman" panose="02020603050405020304" pitchFamily="18" charset="0"/>
                <a:cs typeface="Times New Roman" panose="02020603050405020304" pitchFamily="18" charset="0"/>
              </a:rPr>
              <a:t>   PROPULSION SYSTEM:</a:t>
            </a:r>
          </a:p>
        </p:txBody>
      </p:sp>
      <p:graphicFrame>
        <p:nvGraphicFramePr>
          <p:cNvPr id="14" name="Table 13">
            <a:extLst>
              <a:ext uri="{FF2B5EF4-FFF2-40B4-BE49-F238E27FC236}">
                <a16:creationId xmlns:a16="http://schemas.microsoft.com/office/drawing/2014/main" id="{98B6908F-8FD8-C1FB-B4BB-2E2977D3DBE0}"/>
              </a:ext>
            </a:extLst>
          </p:cNvPr>
          <p:cNvGraphicFramePr>
            <a:graphicFrameLocks noGrp="1"/>
          </p:cNvGraphicFramePr>
          <p:nvPr>
            <p:extLst>
              <p:ext uri="{D42A27DB-BD31-4B8C-83A1-F6EECF244321}">
                <p14:modId xmlns:p14="http://schemas.microsoft.com/office/powerpoint/2010/main" val="1543262577"/>
              </p:ext>
            </p:extLst>
          </p:nvPr>
        </p:nvGraphicFramePr>
        <p:xfrm>
          <a:off x="613200" y="4996238"/>
          <a:ext cx="6182360" cy="1188342"/>
        </p:xfrm>
        <a:graphic>
          <a:graphicData uri="http://schemas.openxmlformats.org/drawingml/2006/table">
            <a:tbl>
              <a:tblPr firstRow="1" firstCol="1" bandRow="1">
                <a:tableStyleId>{5940675A-B579-460E-94D1-54222C63F5DA}</a:tableStyleId>
              </a:tblPr>
              <a:tblGrid>
                <a:gridCol w="2697480">
                  <a:extLst>
                    <a:ext uri="{9D8B030D-6E8A-4147-A177-3AD203B41FA5}">
                      <a16:colId xmlns:a16="http://schemas.microsoft.com/office/drawing/2014/main" val="2591469325"/>
                    </a:ext>
                  </a:extLst>
                </a:gridCol>
                <a:gridCol w="3484880">
                  <a:extLst>
                    <a:ext uri="{9D8B030D-6E8A-4147-A177-3AD203B41FA5}">
                      <a16:colId xmlns:a16="http://schemas.microsoft.com/office/drawing/2014/main" val="2537989155"/>
                    </a:ext>
                  </a:extLst>
                </a:gridCol>
              </a:tblGrid>
              <a:tr h="0">
                <a:tc>
                  <a:txBody>
                    <a:bodyPr/>
                    <a:lstStyle/>
                    <a:p>
                      <a:pPr>
                        <a:lnSpc>
                          <a:spcPct val="115000"/>
                        </a:lnSpc>
                        <a:spcAft>
                          <a:spcPts val="800"/>
                        </a:spcAft>
                        <a:buNone/>
                      </a:pPr>
                      <a:r>
                        <a:rPr lang="en-IN" sz="1200" b="1" kern="100" dirty="0">
                          <a:effectLst/>
                        </a:rPr>
                        <a:t>Specification</a:t>
                      </a:r>
                      <a:endParaRPr lang="en-IN" sz="1100" b="1"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15000"/>
                        </a:lnSpc>
                        <a:spcAft>
                          <a:spcPts val="800"/>
                        </a:spcAft>
                        <a:buNone/>
                      </a:pPr>
                      <a:r>
                        <a:rPr lang="en-IN" sz="1200" kern="100">
                          <a:effectLst/>
                        </a:rPr>
                        <a:t> </a:t>
                      </a:r>
                      <a:endParaRPr lang="en-IN"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525490542"/>
                  </a:ext>
                </a:extLst>
              </a:tr>
              <a:tr h="0">
                <a:tc>
                  <a:txBody>
                    <a:bodyPr/>
                    <a:lstStyle/>
                    <a:p>
                      <a:pPr>
                        <a:lnSpc>
                          <a:spcPct val="115000"/>
                        </a:lnSpc>
                        <a:spcAft>
                          <a:spcPts val="800"/>
                        </a:spcAft>
                        <a:buNone/>
                      </a:pPr>
                      <a:r>
                        <a:rPr lang="en-IN" sz="1200" kern="100">
                          <a:effectLst/>
                        </a:rPr>
                        <a:t>Output Voltage </a:t>
                      </a:r>
                      <a:endParaRPr lang="en-IN"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15000"/>
                        </a:lnSpc>
                        <a:spcAft>
                          <a:spcPts val="800"/>
                        </a:spcAft>
                        <a:buNone/>
                      </a:pPr>
                      <a:r>
                        <a:rPr lang="en-IN" sz="1200" kern="100">
                          <a:effectLst/>
                        </a:rPr>
                        <a:t>Support 2-6S power supply</a:t>
                      </a:r>
                      <a:endParaRPr lang="en-IN"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728389752"/>
                  </a:ext>
                </a:extLst>
              </a:tr>
              <a:tr h="0">
                <a:tc>
                  <a:txBody>
                    <a:bodyPr/>
                    <a:lstStyle/>
                    <a:p>
                      <a:pPr>
                        <a:lnSpc>
                          <a:spcPct val="115000"/>
                        </a:lnSpc>
                        <a:spcAft>
                          <a:spcPts val="800"/>
                        </a:spcAft>
                        <a:buNone/>
                      </a:pPr>
                      <a:r>
                        <a:rPr lang="en-IN" sz="1100" kern="100">
                          <a:effectLst/>
                        </a:rPr>
                        <a:t>Supported protocols</a:t>
                      </a:r>
                      <a:endParaRPr lang="en-IN"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15000"/>
                        </a:lnSpc>
                        <a:spcAft>
                          <a:spcPts val="800"/>
                        </a:spcAft>
                        <a:buNone/>
                      </a:pPr>
                      <a:r>
                        <a:rPr lang="en-IN" sz="1200" kern="100">
                          <a:effectLst/>
                        </a:rPr>
                        <a:t>dshot 125/300/600</a:t>
                      </a:r>
                      <a:endParaRPr lang="en-IN"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669334202"/>
                  </a:ext>
                </a:extLst>
              </a:tr>
              <a:tr h="0">
                <a:tc>
                  <a:txBody>
                    <a:bodyPr/>
                    <a:lstStyle/>
                    <a:p>
                      <a:pPr>
                        <a:lnSpc>
                          <a:spcPct val="115000"/>
                        </a:lnSpc>
                        <a:spcAft>
                          <a:spcPts val="800"/>
                        </a:spcAft>
                        <a:buNone/>
                      </a:pPr>
                      <a:r>
                        <a:rPr lang="en-IN" sz="1200" kern="100">
                          <a:effectLst/>
                        </a:rPr>
                        <a:t>Power Cord lenght</a:t>
                      </a:r>
                      <a:endParaRPr lang="en-IN"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15000"/>
                        </a:lnSpc>
                        <a:spcAft>
                          <a:spcPts val="800"/>
                        </a:spcAft>
                        <a:buNone/>
                      </a:pPr>
                      <a:r>
                        <a:rPr lang="en-IN" sz="1200" kern="100">
                          <a:effectLst/>
                        </a:rPr>
                        <a:t>18AWG 90mm</a:t>
                      </a:r>
                      <a:endParaRPr lang="en-IN"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4228050062"/>
                  </a:ext>
                </a:extLst>
              </a:tr>
              <a:tr h="0">
                <a:tc>
                  <a:txBody>
                    <a:bodyPr/>
                    <a:lstStyle/>
                    <a:p>
                      <a:pPr>
                        <a:lnSpc>
                          <a:spcPct val="115000"/>
                        </a:lnSpc>
                        <a:spcAft>
                          <a:spcPts val="800"/>
                        </a:spcAft>
                        <a:buNone/>
                      </a:pPr>
                      <a:r>
                        <a:rPr lang="en-IN" sz="1200" kern="100">
                          <a:effectLst/>
                        </a:rPr>
                        <a:t>Working Current</a:t>
                      </a:r>
                      <a:endParaRPr lang="en-IN"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15000"/>
                        </a:lnSpc>
                        <a:spcAft>
                          <a:spcPts val="800"/>
                        </a:spcAft>
                        <a:buNone/>
                      </a:pPr>
                      <a:r>
                        <a:rPr lang="en-IN" sz="1200" kern="100" dirty="0">
                          <a:effectLst/>
                        </a:rPr>
                        <a:t>35A</a:t>
                      </a:r>
                      <a:endParaRPr lang="en-IN"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807296883"/>
                  </a:ext>
                </a:extLst>
              </a:tr>
              <a:tr h="0">
                <a:tc>
                  <a:txBody>
                    <a:bodyPr/>
                    <a:lstStyle/>
                    <a:p>
                      <a:pPr>
                        <a:lnSpc>
                          <a:spcPct val="115000"/>
                        </a:lnSpc>
                        <a:spcAft>
                          <a:spcPts val="800"/>
                        </a:spcAft>
                        <a:buNone/>
                      </a:pPr>
                      <a:r>
                        <a:rPr lang="en-IN" sz="1200" kern="100">
                          <a:effectLst/>
                        </a:rPr>
                        <a:t>Signal line length </a:t>
                      </a:r>
                      <a:endParaRPr lang="en-IN"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nSpc>
                          <a:spcPct val="115000"/>
                        </a:lnSpc>
                        <a:spcAft>
                          <a:spcPts val="800"/>
                        </a:spcAft>
                        <a:buNone/>
                      </a:pPr>
                      <a:r>
                        <a:rPr lang="en-IN" sz="1200" kern="100" dirty="0">
                          <a:effectLst/>
                        </a:rPr>
                        <a:t>150 mm </a:t>
                      </a:r>
                      <a:endParaRPr lang="en-IN"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17982323"/>
                  </a:ext>
                </a:extLst>
              </a:tr>
            </a:tbl>
          </a:graphicData>
        </a:graphic>
      </p:graphicFrame>
      <p:sp>
        <p:nvSpPr>
          <p:cNvPr id="15" name="Picture Placeholder 14">
            <a:extLst>
              <a:ext uri="{FF2B5EF4-FFF2-40B4-BE49-F238E27FC236}">
                <a16:creationId xmlns:a16="http://schemas.microsoft.com/office/drawing/2014/main" id="{16AB080B-E894-DE1D-09C1-AAF87059096C}"/>
              </a:ext>
            </a:extLst>
          </p:cNvPr>
          <p:cNvSpPr>
            <a:spLocks noGrp="1"/>
          </p:cNvSpPr>
          <p:nvPr>
            <p:ph type="pic" idx="1"/>
          </p:nvPr>
        </p:nvSpPr>
        <p:spPr/>
      </p:sp>
    </p:spTree>
    <p:extLst>
      <p:ext uri="{BB962C8B-B14F-4D97-AF65-F5344CB8AC3E}">
        <p14:creationId xmlns:p14="http://schemas.microsoft.com/office/powerpoint/2010/main" val="19312985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E7E28-E26C-ED43-6D9A-03DF75CFB4B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F9E8CDB-CA0E-E077-88FF-2D085ABC0D1F}"/>
              </a:ext>
            </a:extLst>
          </p:cNvPr>
          <p:cNvPicPr>
            <a:picLocks noChangeAspect="1"/>
          </p:cNvPicPr>
          <p:nvPr/>
        </p:nvPicPr>
        <p:blipFill>
          <a:blip r:embed="rId2">
            <a:clrChange>
              <a:clrFrom>
                <a:srgbClr val="071002"/>
              </a:clrFrom>
              <a:clrTo>
                <a:srgbClr val="071002">
                  <a:alpha val="0"/>
                </a:srgbClr>
              </a:clrTo>
            </a:clrChange>
            <a:extLst>
              <a:ext uri="{BEBA8EAE-BF5A-486C-A8C5-ECC9F3942E4B}">
                <a14:imgProps xmlns:a14="http://schemas.microsoft.com/office/drawing/2010/main">
                  <a14:imgLayer r:embed="rId3">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pic>
        <p:nvPicPr>
          <p:cNvPr id="7" name="Picture Placeholder 6">
            <a:extLst>
              <a:ext uri="{FF2B5EF4-FFF2-40B4-BE49-F238E27FC236}">
                <a16:creationId xmlns:a16="http://schemas.microsoft.com/office/drawing/2014/main" id="{846C1949-9C5A-E96C-2628-991F13AECD87}"/>
              </a:ext>
            </a:extLst>
          </p:cNvPr>
          <p:cNvPicPr>
            <a:picLocks noGrp="1" noChangeAspect="1"/>
          </p:cNvPicPr>
          <p:nvPr>
            <p:ph type="pic" idx="1"/>
          </p:nvPr>
        </p:nvPicPr>
        <p:blipFill>
          <a:blip r:embed="rId4">
            <a:extLst>
              <a:ext uri="{28A0092B-C50C-407E-A947-70E740481C1C}">
                <a14:useLocalDpi xmlns:a14="http://schemas.microsoft.com/office/drawing/2010/main" val="0"/>
              </a:ext>
            </a:extLst>
          </a:blip>
          <a:srcRect l="4226" r="4226"/>
          <a:stretch/>
        </p:blipFill>
        <p:spPr>
          <a:xfrm>
            <a:off x="7276050" y="-5357521"/>
            <a:ext cx="3219918" cy="2084400"/>
          </a:xfrm>
          <a:prstGeom prst="roundRect">
            <a:avLst/>
          </a:prstGeom>
        </p:spPr>
      </p:pic>
      <p:pic>
        <p:nvPicPr>
          <p:cNvPr id="8" name="Picture Placeholder 6">
            <a:extLst>
              <a:ext uri="{FF2B5EF4-FFF2-40B4-BE49-F238E27FC236}">
                <a16:creationId xmlns:a16="http://schemas.microsoft.com/office/drawing/2014/main" id="{34D42353-A34F-AA42-567D-096B622F5C3A}"/>
              </a:ext>
            </a:extLst>
          </p:cNvPr>
          <p:cNvPicPr>
            <a:picLocks noChangeAspect="1"/>
          </p:cNvPicPr>
          <p:nvPr/>
        </p:nvPicPr>
        <p:blipFill>
          <a:blip r:embed="rId5">
            <a:extLst>
              <a:ext uri="{28A0092B-C50C-407E-A947-70E740481C1C}">
                <a14:useLocalDpi xmlns:a14="http://schemas.microsoft.com/office/drawing/2010/main" val="0"/>
              </a:ext>
            </a:extLst>
          </a:blip>
          <a:srcRect l="6655" r="6655"/>
          <a:stretch/>
        </p:blipFill>
        <p:spPr>
          <a:xfrm>
            <a:off x="7276050" y="-3034826"/>
            <a:ext cx="3219918" cy="2084400"/>
          </a:xfrm>
          <a:prstGeom prst="roundRect">
            <a:avLst/>
          </a:prstGeom>
          <a:ln w="15875">
            <a:solidFill>
              <a:schemeClr val="tx1">
                <a:alpha val="40000"/>
              </a:schemeClr>
            </a:solidFill>
          </a:ln>
          <a:effectLst>
            <a:innerShdw blurRad="57150" dist="38100" dir="14460000">
              <a:srgbClr val="000000">
                <a:alpha val="70000"/>
              </a:srgbClr>
            </a:innerShdw>
          </a:effectLst>
        </p:spPr>
      </p:pic>
      <p:sp>
        <p:nvSpPr>
          <p:cNvPr id="3" name="TextBox 2">
            <a:extLst>
              <a:ext uri="{FF2B5EF4-FFF2-40B4-BE49-F238E27FC236}">
                <a16:creationId xmlns:a16="http://schemas.microsoft.com/office/drawing/2014/main" id="{699E4B7D-F9A6-2BD2-B22C-E41878CFFA4D}"/>
              </a:ext>
            </a:extLst>
          </p:cNvPr>
          <p:cNvSpPr txBox="1"/>
          <p:nvPr/>
        </p:nvSpPr>
        <p:spPr>
          <a:xfrm>
            <a:off x="650982" y="1155706"/>
            <a:ext cx="5020944" cy="3176767"/>
          </a:xfrm>
          <a:prstGeom prst="rect">
            <a:avLst/>
          </a:prstGeom>
          <a:noFill/>
        </p:spPr>
        <p:txBody>
          <a:bodyPr wrap="square" rtlCol="0">
            <a:spAutoFit/>
          </a:bodyPr>
          <a:lstStyle/>
          <a:p>
            <a:pPr>
              <a:lnSpc>
                <a:spcPct val="115000"/>
              </a:lnSpc>
              <a:spcAft>
                <a:spcPts val="700"/>
              </a:spcAft>
              <a:buNone/>
            </a:pPr>
            <a:r>
              <a:rPr lang="en-US" sz="4000" b="1" kern="100" dirty="0">
                <a:effectLst/>
                <a:latin typeface="Liberation Serif"/>
                <a:ea typeface="Noto Serif CJK SC"/>
                <a:cs typeface="Noto Sans Devanagari" panose="020B0502040504020204" pitchFamily="34" charset="0"/>
              </a:rPr>
              <a:t>Propellers:</a:t>
            </a:r>
          </a:p>
          <a:p>
            <a:r>
              <a:rPr lang="en-IN" dirty="0">
                <a:latin typeface="Liberation Serif"/>
              </a:rPr>
              <a:t>The </a:t>
            </a:r>
            <a:r>
              <a:rPr lang="en-IN" b="1" dirty="0">
                <a:latin typeface="Liberation Serif"/>
              </a:rPr>
              <a:t>Carbon Fiber 1755 Propeller (17×5.5)</a:t>
            </a:r>
            <a:r>
              <a:rPr lang="en-IN" dirty="0">
                <a:latin typeface="Liberation Serif"/>
              </a:rPr>
              <a:t> is a lightweight, high-strength propeller designed for high-performance drones and UAVs. It delivers </a:t>
            </a:r>
            <a:r>
              <a:rPr lang="en-IN" b="1" dirty="0">
                <a:latin typeface="Liberation Serif"/>
              </a:rPr>
              <a:t>strong thrust, high efficiency, and stable flight</a:t>
            </a:r>
            <a:r>
              <a:rPr lang="en-IN" dirty="0">
                <a:latin typeface="Liberation Serif"/>
              </a:rPr>
              <a:t> with reduced vibration and quick throttle response. Its </a:t>
            </a:r>
            <a:r>
              <a:rPr lang="en-IN" b="1" dirty="0">
                <a:latin typeface="Liberation Serif"/>
              </a:rPr>
              <a:t>aerodynamically optimized design</a:t>
            </a:r>
            <a:r>
              <a:rPr lang="en-IN" dirty="0">
                <a:latin typeface="Liberation Serif"/>
              </a:rPr>
              <a:t> and </a:t>
            </a:r>
            <a:r>
              <a:rPr lang="en-IN" b="1" dirty="0">
                <a:latin typeface="Liberation Serif"/>
              </a:rPr>
              <a:t>easy, quick installation</a:t>
            </a:r>
            <a:r>
              <a:rPr lang="en-IN" dirty="0">
                <a:latin typeface="Liberation Serif"/>
              </a:rPr>
              <a:t> make it ideal for DIY, multirotor, and professional UAV applications.</a:t>
            </a:r>
          </a:p>
        </p:txBody>
      </p:sp>
      <p:sp>
        <p:nvSpPr>
          <p:cNvPr id="16" name="TextBox 15">
            <a:extLst>
              <a:ext uri="{FF2B5EF4-FFF2-40B4-BE49-F238E27FC236}">
                <a16:creationId xmlns:a16="http://schemas.microsoft.com/office/drawing/2014/main" id="{0D879F0F-B69C-AF70-2FFD-A1E5BDC502DE}"/>
              </a:ext>
            </a:extLst>
          </p:cNvPr>
          <p:cNvSpPr txBox="1"/>
          <p:nvPr/>
        </p:nvSpPr>
        <p:spPr>
          <a:xfrm>
            <a:off x="613200" y="-7107875"/>
            <a:ext cx="5482800" cy="4397101"/>
          </a:xfrm>
          <a:prstGeom prst="rect">
            <a:avLst/>
          </a:prstGeom>
          <a:noFill/>
        </p:spPr>
        <p:txBody>
          <a:bodyPr wrap="square" rtlCol="0">
            <a:spAutoFit/>
          </a:bodyPr>
          <a:lstStyle/>
          <a:p>
            <a:pPr>
              <a:lnSpc>
                <a:spcPct val="115000"/>
              </a:lnSpc>
              <a:spcAft>
                <a:spcPts val="700"/>
              </a:spcAft>
              <a:buNone/>
            </a:pPr>
            <a:r>
              <a:rPr lang="en-US" sz="6600" b="1" kern="100" dirty="0">
                <a:effectLst/>
                <a:latin typeface="Liberation Serif"/>
                <a:ea typeface="Noto Serif CJK SC"/>
                <a:cs typeface="Noto Sans Devanagari" panose="020B0502040504020204" pitchFamily="34" charset="0"/>
              </a:rPr>
              <a:t>ESC</a:t>
            </a:r>
            <a:endParaRPr lang="en-IN" sz="6600" kern="100" dirty="0">
              <a:effectLst/>
              <a:latin typeface="Liberation Serif"/>
              <a:ea typeface="Noto Serif CJK SC"/>
              <a:cs typeface="Noto Sans Devanagari" panose="020B0502040504020204" pitchFamily="34" charset="0"/>
            </a:endParaRPr>
          </a:p>
          <a:p>
            <a:r>
              <a:rPr lang="en-IN" dirty="0">
                <a:latin typeface="Liberation Serif"/>
              </a:rPr>
              <a:t>An Electronic Speed Controller (ESC) is a crucial component in our UAV, acting as the link between the flight controller and motors by regulating power delivery to control motor speed, torque, and thrust precisely.</a:t>
            </a:r>
          </a:p>
          <a:p>
            <a:r>
              <a:rPr lang="en-IN" dirty="0">
                <a:latin typeface="Liberation Serif"/>
              </a:rPr>
              <a:t>Each motor is paired with a </a:t>
            </a:r>
            <a:r>
              <a:rPr lang="en-IN" b="1" dirty="0" err="1">
                <a:latin typeface="Liberation Serif"/>
              </a:rPr>
              <a:t>ReadytoSky</a:t>
            </a:r>
            <a:r>
              <a:rPr lang="en-IN" b="1" dirty="0">
                <a:latin typeface="Liberation Serif"/>
              </a:rPr>
              <a:t> OPTO 40A ESC</a:t>
            </a:r>
            <a:r>
              <a:rPr lang="en-IN" dirty="0">
                <a:latin typeface="Liberation Serif"/>
              </a:rPr>
              <a:t>, selected for its 40A continuous current rating, optical isolation, and compatibility with our motor-propeller configuration. The ESC ensures smooth throttle response, reduced electrical noise, and reliable performance under high load conditions.</a:t>
            </a:r>
          </a:p>
          <a:p>
            <a:endParaRPr lang="en-IN" dirty="0"/>
          </a:p>
        </p:txBody>
      </p:sp>
      <p:graphicFrame>
        <p:nvGraphicFramePr>
          <p:cNvPr id="17" name="Table 16">
            <a:extLst>
              <a:ext uri="{FF2B5EF4-FFF2-40B4-BE49-F238E27FC236}">
                <a16:creationId xmlns:a16="http://schemas.microsoft.com/office/drawing/2014/main" id="{16856D3E-07F6-FE0C-AEF0-34DCA5260187}"/>
              </a:ext>
            </a:extLst>
          </p:cNvPr>
          <p:cNvGraphicFramePr>
            <a:graphicFrameLocks noGrp="1"/>
          </p:cNvGraphicFramePr>
          <p:nvPr/>
        </p:nvGraphicFramePr>
        <p:xfrm>
          <a:off x="859224" y="-2732082"/>
          <a:ext cx="3472501" cy="2085022"/>
        </p:xfrm>
        <a:graphic>
          <a:graphicData uri="http://schemas.openxmlformats.org/drawingml/2006/table">
            <a:tbl>
              <a:tblPr firstRow="1" firstCol="1" bandRow="1">
                <a:tableStyleId>{2D5ABB26-0587-4C30-8999-92F81FD0307C}</a:tableStyleId>
              </a:tblPr>
              <a:tblGrid>
                <a:gridCol w="1441020">
                  <a:extLst>
                    <a:ext uri="{9D8B030D-6E8A-4147-A177-3AD203B41FA5}">
                      <a16:colId xmlns:a16="http://schemas.microsoft.com/office/drawing/2014/main" val="2502392011"/>
                    </a:ext>
                  </a:extLst>
                </a:gridCol>
                <a:gridCol w="2031481">
                  <a:extLst>
                    <a:ext uri="{9D8B030D-6E8A-4147-A177-3AD203B41FA5}">
                      <a16:colId xmlns:a16="http://schemas.microsoft.com/office/drawing/2014/main" val="639308829"/>
                    </a:ext>
                  </a:extLst>
                </a:gridCol>
              </a:tblGrid>
              <a:tr h="271801">
                <a:tc gridSpan="2">
                  <a:txBody>
                    <a:bodyPr/>
                    <a:lstStyle/>
                    <a:p>
                      <a:pPr marL="67945">
                        <a:buNone/>
                      </a:pPr>
                      <a:r>
                        <a:rPr lang="en-IN" sz="1200" b="1" dirty="0">
                          <a:solidFill>
                            <a:schemeClr val="tx1"/>
                          </a:solidFill>
                          <a:effectLst/>
                          <a:latin typeface="Arial" panose="020B0604020202020204" pitchFamily="34" charset="0"/>
                          <a:ea typeface="Arial" panose="020B0604020202020204" pitchFamily="34" charset="0"/>
                        </a:rPr>
                        <a:t>Specification</a:t>
                      </a:r>
                      <a:endParaRPr lang="en-IN" sz="1100" dirty="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847511"/>
                  </a:ext>
                </a:extLst>
              </a:tr>
              <a:tr h="454216">
                <a:tc>
                  <a:txBody>
                    <a:bodyPr/>
                    <a:lstStyle/>
                    <a:p>
                      <a:pPr marL="67945">
                        <a:buNone/>
                      </a:pPr>
                      <a:r>
                        <a:rPr lang="en-IN" sz="1200" dirty="0">
                          <a:solidFill>
                            <a:schemeClr val="tx1"/>
                          </a:solidFill>
                          <a:effectLst/>
                          <a:latin typeface="Arial" panose="020B0604020202020204" pitchFamily="34" charset="0"/>
                          <a:ea typeface="Arial" panose="020B0604020202020204" pitchFamily="34" charset="0"/>
                        </a:rPr>
                        <a:t>Continuous Current</a:t>
                      </a:r>
                      <a:endParaRPr lang="en-IN" sz="1100" dirty="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buNone/>
                      </a:pPr>
                      <a:r>
                        <a:rPr lang="en-IN" sz="1200" dirty="0">
                          <a:solidFill>
                            <a:schemeClr val="tx1"/>
                          </a:solidFill>
                          <a:effectLst/>
                          <a:latin typeface="Arial" panose="020B0604020202020204" pitchFamily="34" charset="0"/>
                          <a:ea typeface="Arial" panose="020B0604020202020204" pitchFamily="34" charset="0"/>
                        </a:rPr>
                        <a:t>40 A</a:t>
                      </a:r>
                      <a:endParaRPr lang="en-IN" sz="1100" dirty="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6075293"/>
                  </a:ext>
                </a:extLst>
              </a:tr>
              <a:tr h="271801">
                <a:tc>
                  <a:txBody>
                    <a:bodyPr/>
                    <a:lstStyle/>
                    <a:p>
                      <a:pPr marL="67945">
                        <a:spcBef>
                          <a:spcPts val="10"/>
                        </a:spcBef>
                        <a:buNone/>
                      </a:pPr>
                      <a:r>
                        <a:rPr lang="en-IN" sz="1200">
                          <a:solidFill>
                            <a:schemeClr val="tx1"/>
                          </a:solidFill>
                          <a:effectLst/>
                          <a:latin typeface="Arial" panose="020B0604020202020204" pitchFamily="34" charset="0"/>
                          <a:ea typeface="Arial" panose="020B0604020202020204" pitchFamily="34" charset="0"/>
                        </a:rPr>
                        <a:t>Burst Current</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spcBef>
                          <a:spcPts val="10"/>
                        </a:spcBef>
                        <a:buNone/>
                      </a:pPr>
                      <a:r>
                        <a:rPr lang="en-IN" sz="1200">
                          <a:solidFill>
                            <a:schemeClr val="tx1"/>
                          </a:solidFill>
                          <a:effectLst/>
                          <a:latin typeface="Arial" panose="020B0604020202020204" pitchFamily="34" charset="0"/>
                          <a:ea typeface="Arial" panose="020B0604020202020204" pitchFamily="34" charset="0"/>
                        </a:rPr>
                        <a:t>60A</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4861176"/>
                  </a:ext>
                </a:extLst>
              </a:tr>
              <a:tr h="271801">
                <a:tc>
                  <a:txBody>
                    <a:bodyPr/>
                    <a:lstStyle/>
                    <a:p>
                      <a:pPr marL="67945">
                        <a:spcBef>
                          <a:spcPts val="5"/>
                        </a:spcBef>
                        <a:buNone/>
                      </a:pPr>
                      <a:r>
                        <a:rPr lang="en-IN" sz="1200">
                          <a:solidFill>
                            <a:schemeClr val="tx1"/>
                          </a:solidFill>
                          <a:effectLst/>
                          <a:latin typeface="Arial" panose="020B0604020202020204" pitchFamily="34" charset="0"/>
                          <a:ea typeface="Arial" panose="020B0604020202020204" pitchFamily="34" charset="0"/>
                        </a:rPr>
                        <a:t>Weight(g)</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spcBef>
                          <a:spcPts val="5"/>
                        </a:spcBef>
                        <a:buNone/>
                      </a:pPr>
                      <a:r>
                        <a:rPr lang="en-IN" sz="1200" dirty="0">
                          <a:solidFill>
                            <a:schemeClr val="tx1"/>
                          </a:solidFill>
                          <a:effectLst/>
                          <a:latin typeface="Arial" panose="020B0604020202020204" pitchFamily="34" charset="0"/>
                          <a:ea typeface="Arial" panose="020B0604020202020204" pitchFamily="34" charset="0"/>
                        </a:rPr>
                        <a:t>26g</a:t>
                      </a:r>
                      <a:endParaRPr lang="en-IN" sz="1100" dirty="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8678909"/>
                  </a:ext>
                </a:extLst>
              </a:tr>
              <a:tr h="271801">
                <a:tc>
                  <a:txBody>
                    <a:bodyPr/>
                    <a:lstStyle/>
                    <a:p>
                      <a:pPr marL="67945">
                        <a:buNone/>
                      </a:pPr>
                      <a:r>
                        <a:rPr lang="en-IN" sz="1200">
                          <a:solidFill>
                            <a:schemeClr val="tx1"/>
                          </a:solidFill>
                          <a:effectLst/>
                          <a:latin typeface="Arial" panose="020B0604020202020204" pitchFamily="34" charset="0"/>
                          <a:ea typeface="Arial" panose="020B0604020202020204" pitchFamily="34" charset="0"/>
                        </a:rPr>
                        <a:t>Length (mm)</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buNone/>
                      </a:pPr>
                      <a:r>
                        <a:rPr lang="en-IN" sz="1200">
                          <a:solidFill>
                            <a:schemeClr val="tx1"/>
                          </a:solidFill>
                          <a:effectLst/>
                          <a:latin typeface="Arial" panose="020B0604020202020204" pitchFamily="34" charset="0"/>
                          <a:ea typeface="Arial" panose="020B0604020202020204" pitchFamily="34" charset="0"/>
                        </a:rPr>
                        <a:t>68 mm</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3620231"/>
                  </a:ext>
                </a:extLst>
              </a:tr>
              <a:tr h="271801">
                <a:tc>
                  <a:txBody>
                    <a:bodyPr/>
                    <a:lstStyle/>
                    <a:p>
                      <a:pPr marL="67945">
                        <a:buNone/>
                      </a:pPr>
                      <a:r>
                        <a:rPr lang="en-IN" sz="1200">
                          <a:solidFill>
                            <a:schemeClr val="tx1"/>
                          </a:solidFill>
                          <a:effectLst/>
                          <a:latin typeface="Arial" panose="020B0604020202020204" pitchFamily="34" charset="0"/>
                          <a:ea typeface="Arial" panose="020B0604020202020204" pitchFamily="34" charset="0"/>
                        </a:rPr>
                        <a:t>Width (mm)</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buNone/>
                      </a:pPr>
                      <a:r>
                        <a:rPr lang="en-IN" sz="1200">
                          <a:solidFill>
                            <a:schemeClr val="tx1"/>
                          </a:solidFill>
                          <a:effectLst/>
                          <a:latin typeface="Arial" panose="020B0604020202020204" pitchFamily="34" charset="0"/>
                          <a:ea typeface="Arial" panose="020B0604020202020204" pitchFamily="34" charset="0"/>
                        </a:rPr>
                        <a:t>25 mm</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7857746"/>
                  </a:ext>
                </a:extLst>
              </a:tr>
              <a:tr h="271801">
                <a:tc>
                  <a:txBody>
                    <a:bodyPr/>
                    <a:lstStyle/>
                    <a:p>
                      <a:pPr marL="67945">
                        <a:buNone/>
                      </a:pPr>
                      <a:r>
                        <a:rPr lang="en-IN" sz="1200">
                          <a:solidFill>
                            <a:schemeClr val="tx1"/>
                          </a:solidFill>
                          <a:effectLst/>
                          <a:latin typeface="Arial" panose="020B0604020202020204" pitchFamily="34" charset="0"/>
                          <a:ea typeface="Arial" panose="020B0604020202020204" pitchFamily="34" charset="0"/>
                        </a:rPr>
                        <a:t>Height (mm)</a:t>
                      </a:r>
                      <a:endParaRPr lang="en-IN" sz="110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buNone/>
                      </a:pPr>
                      <a:r>
                        <a:rPr lang="en-IN" sz="1200" dirty="0">
                          <a:solidFill>
                            <a:schemeClr val="tx1"/>
                          </a:solidFill>
                          <a:effectLst/>
                          <a:latin typeface="Arial" panose="020B0604020202020204" pitchFamily="34" charset="0"/>
                          <a:ea typeface="Arial" panose="020B0604020202020204" pitchFamily="34" charset="0"/>
                        </a:rPr>
                        <a:t>8.7 mm</a:t>
                      </a:r>
                      <a:endParaRPr lang="en-IN" sz="1100" dirty="0">
                        <a:solidFill>
                          <a:schemeClr val="tx1"/>
                        </a:solidFill>
                        <a:effectLst/>
                        <a:latin typeface="Arial" panose="020B0604020202020204" pitchFamily="34" charset="0"/>
                        <a:ea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7793637"/>
                  </a:ext>
                </a:extLst>
              </a:tr>
            </a:tbl>
          </a:graphicData>
        </a:graphic>
      </p:graphicFrame>
      <p:sp>
        <p:nvSpPr>
          <p:cNvPr id="19" name="Rectangle 1">
            <a:extLst>
              <a:ext uri="{FF2B5EF4-FFF2-40B4-BE49-F238E27FC236}">
                <a16:creationId xmlns:a16="http://schemas.microsoft.com/office/drawing/2014/main" id="{7594ACC2-7B38-5F25-B1E2-DEFA89735E8B}"/>
              </a:ext>
            </a:extLst>
          </p:cNvPr>
          <p:cNvSpPr>
            <a:spLocks noChangeArrowheads="1"/>
          </p:cNvSpPr>
          <p:nvPr/>
        </p:nvSpPr>
        <p:spPr bwMode="auto">
          <a:xfrm>
            <a:off x="612565" y="987532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4" name="Rectangle 3">
            <a:extLst>
              <a:ext uri="{FF2B5EF4-FFF2-40B4-BE49-F238E27FC236}">
                <a16:creationId xmlns:a16="http://schemas.microsoft.com/office/drawing/2014/main" id="{36E34EF8-076D-A117-48EF-A8DBACB27549}"/>
              </a:ext>
            </a:extLst>
          </p:cNvPr>
          <p:cNvSpPr/>
          <p:nvPr/>
        </p:nvSpPr>
        <p:spPr>
          <a:xfrm>
            <a:off x="0" y="212655"/>
            <a:ext cx="9611833" cy="741600"/>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700"/>
              </a:spcAft>
            </a:pPr>
            <a:r>
              <a:rPr lang="en-US" sz="4400" b="1" dirty="0">
                <a:latin typeface="Times New Roman" panose="02020603050405020304" pitchFamily="18" charset="0"/>
                <a:cs typeface="Times New Roman" panose="02020603050405020304" pitchFamily="18" charset="0"/>
              </a:rPr>
              <a:t>   PROPULSION SYSTEM:</a:t>
            </a:r>
          </a:p>
        </p:txBody>
      </p:sp>
    </p:spTree>
    <p:extLst>
      <p:ext uri="{BB962C8B-B14F-4D97-AF65-F5344CB8AC3E}">
        <p14:creationId xmlns:p14="http://schemas.microsoft.com/office/powerpoint/2010/main" val="1857655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621A3-B750-B9CF-51D0-6D79F2705BEC}"/>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20230CB1-3B93-239F-A85B-402CF7B15F14}"/>
              </a:ext>
            </a:extLst>
          </p:cNvPr>
          <p:cNvPicPr>
            <a:picLocks noChangeAspect="1"/>
          </p:cNvPicPr>
          <p:nvPr/>
        </p:nvPicPr>
        <p:blipFill>
          <a:blip r:embed="rId3">
            <a:clrChange>
              <a:clrFrom>
                <a:srgbClr val="071002"/>
              </a:clrFrom>
              <a:clrTo>
                <a:srgbClr val="071002">
                  <a:alpha val="0"/>
                </a:srgbClr>
              </a:clrTo>
            </a:clrChange>
            <a:extLst>
              <a:ext uri="{BEBA8EAE-BF5A-486C-A8C5-ECC9F3942E4B}">
                <a14:imgProps xmlns:a14="http://schemas.microsoft.com/office/drawing/2010/main">
                  <a14:imgLayer r:embed="rId4">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sp>
        <p:nvSpPr>
          <p:cNvPr id="4" name="Rectangle 3">
            <a:extLst>
              <a:ext uri="{FF2B5EF4-FFF2-40B4-BE49-F238E27FC236}">
                <a16:creationId xmlns:a16="http://schemas.microsoft.com/office/drawing/2014/main" id="{1EFD756A-5BE9-43ED-DBE8-D00E6CBBF9D9}"/>
              </a:ext>
            </a:extLst>
          </p:cNvPr>
          <p:cNvSpPr/>
          <p:nvPr/>
        </p:nvSpPr>
        <p:spPr>
          <a:xfrm>
            <a:off x="1" y="401452"/>
            <a:ext cx="3276599" cy="743585"/>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700"/>
              </a:spcAft>
            </a:pPr>
            <a:r>
              <a:rPr lang="en-US" sz="3600" b="1" dirty="0">
                <a:latin typeface="Times New Roman" panose="02020603050405020304" pitchFamily="18" charset="0"/>
                <a:cs typeface="Times New Roman" panose="02020603050405020304" pitchFamily="18" charset="0"/>
              </a:rPr>
              <a:t> UAS SIZING</a:t>
            </a:r>
          </a:p>
        </p:txBody>
      </p:sp>
      <p:grpSp>
        <p:nvGrpSpPr>
          <p:cNvPr id="22" name="Group 21">
            <a:extLst>
              <a:ext uri="{FF2B5EF4-FFF2-40B4-BE49-F238E27FC236}">
                <a16:creationId xmlns:a16="http://schemas.microsoft.com/office/drawing/2014/main" id="{7344CA76-B357-A5C1-4EF1-14AE9C91D643}"/>
              </a:ext>
            </a:extLst>
          </p:cNvPr>
          <p:cNvGrpSpPr/>
          <p:nvPr/>
        </p:nvGrpSpPr>
        <p:grpSpPr>
          <a:xfrm>
            <a:off x="160021" y="1307256"/>
            <a:ext cx="12031979" cy="2735242"/>
            <a:chOff x="160021" y="1307256"/>
            <a:chExt cx="12031979" cy="2735242"/>
          </a:xfrm>
        </p:grpSpPr>
        <p:sp>
          <p:nvSpPr>
            <p:cNvPr id="2" name="Rectangle: Rounded Corners 1">
              <a:extLst>
                <a:ext uri="{FF2B5EF4-FFF2-40B4-BE49-F238E27FC236}">
                  <a16:creationId xmlns:a16="http://schemas.microsoft.com/office/drawing/2014/main" id="{E2A7ABBD-FEC6-CD4E-66F7-4C558FA69682}"/>
                </a:ext>
              </a:extLst>
            </p:cNvPr>
            <p:cNvSpPr/>
            <p:nvPr/>
          </p:nvSpPr>
          <p:spPr>
            <a:xfrm>
              <a:off x="160021" y="1307256"/>
              <a:ext cx="5935979" cy="2735242"/>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81E80270-000E-C974-04A8-443D928F9B76}"/>
                </a:ext>
              </a:extLst>
            </p:cNvPr>
            <p:cNvSpPr txBox="1"/>
            <p:nvPr/>
          </p:nvSpPr>
          <p:spPr>
            <a:xfrm>
              <a:off x="5600700" y="2006461"/>
              <a:ext cx="6591300" cy="981231"/>
            </a:xfrm>
            <a:prstGeom prst="rect">
              <a:avLst/>
            </a:prstGeom>
            <a:noFill/>
          </p:spPr>
          <p:txBody>
            <a:bodyPr wrap="square">
              <a:spAutoFit/>
            </a:bodyPr>
            <a:lstStyle/>
            <a:p>
              <a:pPr lvl="2">
                <a:spcBef>
                  <a:spcPts val="810"/>
                </a:spcBef>
                <a:buClr>
                  <a:srgbClr val="0E4660"/>
                </a:buClr>
                <a:buSzPts val="1600"/>
                <a:tabLst>
                  <a:tab pos="610870" algn="l"/>
                </a:tabLst>
              </a:pPr>
              <a:r>
                <a:rPr lang="en-US" sz="1600" b="1" spc="-10" dirty="0">
                  <a:effectLst/>
                  <a:latin typeface="Arial MT"/>
                  <a:ea typeface="Arial MT"/>
                  <a:cs typeface="Arial MT"/>
                </a:rPr>
                <a:t>Wheelbase</a:t>
              </a:r>
              <a:endParaRPr lang="en-IN" sz="1600" b="1" spc="0" dirty="0">
                <a:effectLst/>
                <a:latin typeface="Arial MT"/>
                <a:ea typeface="Arial MT"/>
                <a:cs typeface="Arial MT"/>
              </a:endParaRPr>
            </a:p>
            <a:p>
              <a:pPr marL="1019175" marR="337185" lvl="2" algn="just">
                <a:lnSpc>
                  <a:spcPct val="107000"/>
                </a:lnSpc>
                <a:spcBef>
                  <a:spcPts val="530"/>
                </a:spcBef>
              </a:pPr>
              <a:r>
                <a:rPr lang="en-US" sz="1200" dirty="0">
                  <a:effectLst/>
                  <a:latin typeface="Arial MT"/>
                  <a:ea typeface="Arial MT"/>
                  <a:cs typeface="Arial MT"/>
                </a:rPr>
                <a:t>The wheelbase is the distance between opposite motors and defines the drone's overall size.</a:t>
              </a:r>
              <a:r>
                <a:rPr lang="en-US" sz="1200" spc="-30" dirty="0">
                  <a:effectLst/>
                  <a:latin typeface="Arial MT"/>
                  <a:ea typeface="Arial MT"/>
                  <a:cs typeface="Arial MT"/>
                </a:rPr>
                <a:t> </a:t>
              </a:r>
              <a:r>
                <a:rPr lang="en-US" sz="1200" dirty="0">
                  <a:effectLst/>
                  <a:latin typeface="Arial MT"/>
                  <a:ea typeface="Arial MT"/>
                  <a:cs typeface="Arial MT"/>
                </a:rPr>
                <a:t>For</a:t>
              </a:r>
              <a:r>
                <a:rPr lang="en-US" sz="1200" spc="-30" dirty="0">
                  <a:effectLst/>
                  <a:latin typeface="Arial MT"/>
                  <a:ea typeface="Arial MT"/>
                  <a:cs typeface="Arial MT"/>
                </a:rPr>
                <a:t> </a:t>
              </a:r>
              <a:r>
                <a:rPr lang="en-US" sz="1200" dirty="0">
                  <a:effectLst/>
                  <a:latin typeface="Arial MT"/>
                  <a:ea typeface="Arial MT"/>
                  <a:cs typeface="Arial MT"/>
                </a:rPr>
                <a:t>our</a:t>
              </a:r>
              <a:r>
                <a:rPr lang="en-US" sz="1200" spc="-30" dirty="0">
                  <a:effectLst/>
                  <a:latin typeface="Arial MT"/>
                  <a:ea typeface="Arial MT"/>
                  <a:cs typeface="Arial MT"/>
                </a:rPr>
                <a:t> </a:t>
              </a:r>
              <a:r>
                <a:rPr lang="en-US" sz="1200" dirty="0">
                  <a:effectLst/>
                  <a:latin typeface="Arial MT"/>
                  <a:ea typeface="Arial MT"/>
                  <a:cs typeface="Arial MT"/>
                </a:rPr>
                <a:t>UAV,</a:t>
              </a:r>
              <a:r>
                <a:rPr lang="en-US" sz="1200" spc="-30" dirty="0">
                  <a:effectLst/>
                  <a:latin typeface="Arial MT"/>
                  <a:ea typeface="Arial MT"/>
                  <a:cs typeface="Arial MT"/>
                </a:rPr>
                <a:t> </a:t>
              </a:r>
              <a:r>
                <a:rPr lang="en-US" sz="1200" dirty="0">
                  <a:effectLst/>
                  <a:latin typeface="Arial MT"/>
                  <a:ea typeface="Arial MT"/>
                  <a:cs typeface="Arial MT"/>
                </a:rPr>
                <a:t>a</a:t>
              </a:r>
              <a:r>
                <a:rPr lang="en-US" sz="1200" spc="-20" dirty="0">
                  <a:effectLst/>
                  <a:latin typeface="Arial MT"/>
                  <a:ea typeface="Arial MT"/>
                  <a:cs typeface="Arial MT"/>
                </a:rPr>
                <a:t> </a:t>
              </a:r>
              <a:r>
                <a:rPr lang="en-US" sz="1200" b="1" dirty="0">
                  <a:effectLst/>
                  <a:latin typeface="Arial" panose="020B0604020202020204" pitchFamily="34" charset="0"/>
                  <a:ea typeface="Arial MT"/>
                  <a:cs typeface="Arial MT"/>
                </a:rPr>
                <a:t>~450</a:t>
              </a:r>
              <a:r>
                <a:rPr lang="en-US" sz="1200" b="1" spc="-30" dirty="0">
                  <a:effectLst/>
                  <a:latin typeface="Arial" panose="020B0604020202020204" pitchFamily="34" charset="0"/>
                  <a:ea typeface="Arial MT"/>
                  <a:cs typeface="Arial MT"/>
                </a:rPr>
                <a:t> </a:t>
              </a:r>
              <a:r>
                <a:rPr lang="en-US" sz="1200" b="1" dirty="0">
                  <a:effectLst/>
                  <a:latin typeface="Arial" panose="020B0604020202020204" pitchFamily="34" charset="0"/>
                  <a:ea typeface="Arial MT"/>
                  <a:cs typeface="Arial MT"/>
                </a:rPr>
                <a:t>mm</a:t>
              </a:r>
              <a:r>
                <a:rPr lang="en-US" sz="1200" b="1" spc="-20" dirty="0">
                  <a:effectLst/>
                  <a:latin typeface="Arial" panose="020B0604020202020204" pitchFamily="34" charset="0"/>
                  <a:ea typeface="Arial MT"/>
                  <a:cs typeface="Arial MT"/>
                </a:rPr>
                <a:t> </a:t>
              </a:r>
              <a:r>
                <a:rPr lang="en-US" sz="1200" dirty="0">
                  <a:effectLst/>
                  <a:latin typeface="Arial MT"/>
                  <a:ea typeface="Arial MT"/>
                  <a:cs typeface="Arial MT"/>
                </a:rPr>
                <a:t>wheelbase</a:t>
              </a:r>
              <a:r>
                <a:rPr lang="en-US" sz="1200" spc="-30" dirty="0">
                  <a:effectLst/>
                  <a:latin typeface="Arial MT"/>
                  <a:ea typeface="Arial MT"/>
                  <a:cs typeface="Arial MT"/>
                </a:rPr>
                <a:t> </a:t>
              </a:r>
              <a:r>
                <a:rPr lang="en-US" sz="1200" dirty="0">
                  <a:effectLst/>
                  <a:latin typeface="Arial MT"/>
                  <a:ea typeface="Arial MT"/>
                  <a:cs typeface="Arial MT"/>
                </a:rPr>
                <a:t>offers</a:t>
              </a:r>
              <a:r>
                <a:rPr lang="en-US" sz="1200" spc="-30" dirty="0">
                  <a:effectLst/>
                  <a:latin typeface="Arial MT"/>
                  <a:ea typeface="Arial MT"/>
                  <a:cs typeface="Arial MT"/>
                </a:rPr>
                <a:t> </a:t>
              </a:r>
              <a:r>
                <a:rPr lang="en-US" sz="1200" dirty="0">
                  <a:effectLst/>
                  <a:latin typeface="Arial MT"/>
                  <a:ea typeface="Arial MT"/>
                  <a:cs typeface="Arial MT"/>
                </a:rPr>
                <a:t>a</a:t>
              </a:r>
              <a:r>
                <a:rPr lang="en-US" sz="1200" spc="-30" dirty="0">
                  <a:effectLst/>
                  <a:latin typeface="Arial MT"/>
                  <a:ea typeface="Arial MT"/>
                  <a:cs typeface="Arial MT"/>
                </a:rPr>
                <a:t> </a:t>
              </a:r>
              <a:r>
                <a:rPr lang="en-US" sz="1200" dirty="0">
                  <a:effectLst/>
                  <a:latin typeface="Arial MT"/>
                  <a:ea typeface="Arial MT"/>
                  <a:cs typeface="Arial MT"/>
                </a:rPr>
                <a:t>balanced</a:t>
              </a:r>
              <a:r>
                <a:rPr lang="en-US" sz="1200" spc="-40" dirty="0">
                  <a:effectLst/>
                  <a:latin typeface="Arial MT"/>
                  <a:ea typeface="Arial MT"/>
                  <a:cs typeface="Arial MT"/>
                </a:rPr>
                <a:t> </a:t>
              </a:r>
              <a:r>
                <a:rPr lang="en-US" sz="1200" dirty="0">
                  <a:effectLst/>
                  <a:latin typeface="Arial MT"/>
                  <a:ea typeface="Arial MT"/>
                  <a:cs typeface="Arial MT"/>
                </a:rPr>
                <a:t>platform</a:t>
              </a:r>
              <a:r>
                <a:rPr lang="en-US" sz="1200" spc="-40" dirty="0">
                  <a:effectLst/>
                  <a:latin typeface="Arial MT"/>
                  <a:ea typeface="Arial MT"/>
                  <a:cs typeface="Arial MT"/>
                </a:rPr>
                <a:t> </a:t>
              </a:r>
              <a:r>
                <a:rPr lang="en-US" sz="1200" dirty="0">
                  <a:effectLst/>
                  <a:latin typeface="Arial MT"/>
                  <a:ea typeface="Arial MT"/>
                  <a:cs typeface="Arial MT"/>
                </a:rPr>
                <a:t>for</a:t>
              </a:r>
              <a:r>
                <a:rPr lang="en-US" sz="1200" spc="-30" dirty="0">
                  <a:effectLst/>
                  <a:latin typeface="Arial MT"/>
                  <a:ea typeface="Arial MT"/>
                  <a:cs typeface="Arial MT"/>
                </a:rPr>
                <a:t> </a:t>
              </a:r>
              <a:r>
                <a:rPr lang="en-US" sz="1200" dirty="0">
                  <a:effectLst/>
                  <a:latin typeface="Arial MT"/>
                  <a:ea typeface="Arial MT"/>
                  <a:cs typeface="Arial MT"/>
                </a:rPr>
                <a:t>stable</a:t>
              </a:r>
              <a:r>
                <a:rPr lang="en-US" sz="1200" spc="-30" dirty="0">
                  <a:effectLst/>
                  <a:latin typeface="Arial MT"/>
                  <a:ea typeface="Arial MT"/>
                  <a:cs typeface="Arial MT"/>
                </a:rPr>
                <a:t> </a:t>
              </a:r>
              <a:r>
                <a:rPr lang="en-US" sz="1200" dirty="0">
                  <a:effectLst/>
                  <a:latin typeface="Arial MT"/>
                  <a:ea typeface="Arial MT"/>
                  <a:cs typeface="Arial MT"/>
                </a:rPr>
                <a:t>flight</a:t>
              </a:r>
              <a:r>
                <a:rPr lang="en-US" sz="1200" spc="-30" dirty="0">
                  <a:effectLst/>
                  <a:latin typeface="Arial MT"/>
                  <a:ea typeface="Arial MT"/>
                  <a:cs typeface="Arial MT"/>
                </a:rPr>
                <a:t> </a:t>
              </a:r>
              <a:r>
                <a:rPr lang="en-US" sz="1200" dirty="0">
                  <a:effectLst/>
                  <a:latin typeface="Arial MT"/>
                  <a:ea typeface="Arial MT"/>
                  <a:cs typeface="Arial MT"/>
                </a:rPr>
                <a:t>and efficient thrust.</a:t>
              </a:r>
              <a:endParaRPr lang="en-IN" sz="1200" dirty="0">
                <a:effectLst/>
                <a:latin typeface="Arial MT"/>
                <a:ea typeface="Arial MT"/>
                <a:cs typeface="Arial MT"/>
              </a:endParaRPr>
            </a:p>
          </p:txBody>
        </p:sp>
      </p:grpSp>
      <p:grpSp>
        <p:nvGrpSpPr>
          <p:cNvPr id="23" name="Group 22">
            <a:extLst>
              <a:ext uri="{FF2B5EF4-FFF2-40B4-BE49-F238E27FC236}">
                <a16:creationId xmlns:a16="http://schemas.microsoft.com/office/drawing/2014/main" id="{D06A1DA5-D0CD-4244-073D-ADFDA4A647B2}"/>
              </a:ext>
            </a:extLst>
          </p:cNvPr>
          <p:cNvGrpSpPr/>
          <p:nvPr/>
        </p:nvGrpSpPr>
        <p:grpSpPr>
          <a:xfrm>
            <a:off x="-99047" y="4183123"/>
            <a:ext cx="12131026" cy="2735242"/>
            <a:chOff x="-99047" y="4183123"/>
            <a:chExt cx="12131026" cy="2735242"/>
          </a:xfrm>
        </p:grpSpPr>
        <p:sp>
          <p:nvSpPr>
            <p:cNvPr id="12" name="Rectangle: Rounded Corners 11">
              <a:extLst>
                <a:ext uri="{FF2B5EF4-FFF2-40B4-BE49-F238E27FC236}">
                  <a16:creationId xmlns:a16="http://schemas.microsoft.com/office/drawing/2014/main" id="{35FC53A4-DD5A-5B40-56F1-7B0DD9917714}"/>
                </a:ext>
              </a:extLst>
            </p:cNvPr>
            <p:cNvSpPr/>
            <p:nvPr/>
          </p:nvSpPr>
          <p:spPr>
            <a:xfrm>
              <a:off x="6096000" y="4183123"/>
              <a:ext cx="5935979" cy="2735242"/>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40715576-3D91-017F-3B4F-EFB07E918F65}"/>
                </a:ext>
              </a:extLst>
            </p:cNvPr>
            <p:cNvSpPr txBox="1"/>
            <p:nvPr/>
          </p:nvSpPr>
          <p:spPr>
            <a:xfrm>
              <a:off x="-99047" y="4569512"/>
              <a:ext cx="5600701" cy="981231"/>
            </a:xfrm>
            <a:prstGeom prst="rect">
              <a:avLst/>
            </a:prstGeom>
            <a:noFill/>
          </p:spPr>
          <p:txBody>
            <a:bodyPr wrap="square">
              <a:spAutoFit/>
            </a:bodyPr>
            <a:lstStyle/>
            <a:p>
              <a:pPr lvl="2">
                <a:spcBef>
                  <a:spcPts val="280"/>
                </a:spcBef>
                <a:buClr>
                  <a:srgbClr val="0E4660"/>
                </a:buClr>
                <a:buSzPts val="1600"/>
                <a:tabLst>
                  <a:tab pos="610870" algn="l"/>
                </a:tabLst>
              </a:pPr>
              <a:r>
                <a:rPr lang="en-US" sz="1600" b="1" spc="0" dirty="0">
                  <a:effectLst/>
                  <a:latin typeface="Arial MT"/>
                  <a:ea typeface="Arial MT"/>
                  <a:cs typeface="Arial MT"/>
                </a:rPr>
                <a:t>Rotor</a:t>
              </a:r>
              <a:r>
                <a:rPr lang="en-US" sz="1600" b="1" spc="-115" dirty="0">
                  <a:effectLst/>
                  <a:latin typeface="Arial MT"/>
                  <a:ea typeface="Arial MT"/>
                  <a:cs typeface="Arial MT"/>
                </a:rPr>
                <a:t> </a:t>
              </a:r>
              <a:r>
                <a:rPr lang="en-US" sz="1600" b="1" spc="0" dirty="0">
                  <a:effectLst/>
                  <a:latin typeface="Arial MT"/>
                  <a:ea typeface="Arial MT"/>
                  <a:cs typeface="Arial MT"/>
                </a:rPr>
                <a:t>Arm</a:t>
              </a:r>
              <a:r>
                <a:rPr lang="en-US" sz="1600" b="1" spc="-40" dirty="0">
                  <a:effectLst/>
                  <a:latin typeface="Arial MT"/>
                  <a:ea typeface="Arial MT"/>
                  <a:cs typeface="Arial MT"/>
                </a:rPr>
                <a:t> </a:t>
              </a:r>
              <a:r>
                <a:rPr lang="en-US" sz="1600" b="1" spc="-10" dirty="0">
                  <a:effectLst/>
                  <a:latin typeface="Arial MT"/>
                  <a:ea typeface="Arial MT"/>
                  <a:cs typeface="Arial MT"/>
                </a:rPr>
                <a:t>Length</a:t>
              </a:r>
              <a:endParaRPr lang="en-IN" sz="1600" b="1" spc="0" dirty="0">
                <a:effectLst/>
                <a:latin typeface="Arial MT"/>
                <a:ea typeface="Arial MT"/>
                <a:cs typeface="Arial MT"/>
              </a:endParaRPr>
            </a:p>
            <a:p>
              <a:pPr marL="1019175" lvl="2">
                <a:lnSpc>
                  <a:spcPct val="107000"/>
                </a:lnSpc>
                <a:spcBef>
                  <a:spcPts val="540"/>
                </a:spcBef>
              </a:pPr>
              <a:r>
                <a:rPr lang="en-US" sz="1200" dirty="0">
                  <a:effectLst/>
                  <a:latin typeface="Arial MT"/>
                  <a:ea typeface="Arial MT"/>
                  <a:cs typeface="Arial MT"/>
                </a:rPr>
                <a:t>The rotor</a:t>
              </a:r>
              <a:r>
                <a:rPr lang="en-US" sz="1200" spc="-10" dirty="0">
                  <a:effectLst/>
                  <a:latin typeface="Arial MT"/>
                  <a:ea typeface="Arial MT"/>
                  <a:cs typeface="Arial MT"/>
                </a:rPr>
                <a:t> </a:t>
              </a:r>
              <a:r>
                <a:rPr lang="en-US" sz="1200" dirty="0">
                  <a:effectLst/>
                  <a:latin typeface="Arial MT"/>
                  <a:ea typeface="Arial MT"/>
                  <a:cs typeface="Arial MT"/>
                </a:rPr>
                <a:t>arm</a:t>
              </a:r>
              <a:r>
                <a:rPr lang="en-US" sz="1200" spc="-10" dirty="0">
                  <a:effectLst/>
                  <a:latin typeface="Arial MT"/>
                  <a:ea typeface="Arial MT"/>
                  <a:cs typeface="Arial MT"/>
                </a:rPr>
                <a:t> </a:t>
              </a:r>
              <a:r>
                <a:rPr lang="en-US" sz="1200" dirty="0">
                  <a:effectLst/>
                  <a:latin typeface="Arial MT"/>
                  <a:ea typeface="Arial MT"/>
                  <a:cs typeface="Arial MT"/>
                </a:rPr>
                <a:t>length of</a:t>
              </a:r>
              <a:r>
                <a:rPr lang="en-US" sz="1200" spc="-15" dirty="0">
                  <a:effectLst/>
                  <a:latin typeface="Arial MT"/>
                  <a:ea typeface="Arial MT"/>
                  <a:cs typeface="Arial MT"/>
                </a:rPr>
                <a:t> </a:t>
              </a:r>
              <a:r>
                <a:rPr lang="en-US" sz="1200" dirty="0">
                  <a:effectLst/>
                  <a:latin typeface="Arial MT"/>
                  <a:ea typeface="Arial MT"/>
                  <a:cs typeface="Arial MT"/>
                </a:rPr>
                <a:t>our</a:t>
              </a:r>
              <a:r>
                <a:rPr lang="en-US" sz="1200" spc="-10" dirty="0">
                  <a:effectLst/>
                  <a:latin typeface="Arial MT"/>
                  <a:ea typeface="Arial MT"/>
                  <a:cs typeface="Arial MT"/>
                </a:rPr>
                <a:t> </a:t>
              </a:r>
              <a:r>
                <a:rPr lang="en-US" sz="1200" dirty="0">
                  <a:effectLst/>
                  <a:latin typeface="Arial MT"/>
                  <a:ea typeface="Arial MT"/>
                  <a:cs typeface="Arial MT"/>
                </a:rPr>
                <a:t>UAV is </a:t>
              </a:r>
              <a:r>
                <a:rPr lang="en-US" sz="1200" b="1" dirty="0">
                  <a:effectLst/>
                  <a:latin typeface="Arial" panose="020B0604020202020204" pitchFamily="34" charset="0"/>
                  <a:ea typeface="Arial MT"/>
                  <a:cs typeface="Arial MT"/>
                </a:rPr>
                <a:t>~190 mm</a:t>
              </a:r>
              <a:r>
                <a:rPr lang="en-US" sz="1200" dirty="0">
                  <a:effectLst/>
                  <a:latin typeface="Arial MT"/>
                  <a:ea typeface="Arial MT"/>
                  <a:cs typeface="Arial MT"/>
                </a:rPr>
                <a:t>,</a:t>
              </a:r>
              <a:r>
                <a:rPr lang="en-US" sz="1200" spc="-15" dirty="0">
                  <a:effectLst/>
                  <a:latin typeface="Arial MT"/>
                  <a:ea typeface="Arial MT"/>
                  <a:cs typeface="Arial MT"/>
                </a:rPr>
                <a:t> </a:t>
              </a:r>
              <a:r>
                <a:rPr lang="en-US" sz="1200" dirty="0">
                  <a:effectLst/>
                  <a:latin typeface="Arial MT"/>
                  <a:ea typeface="Arial MT"/>
                  <a:cs typeface="Arial MT"/>
                </a:rPr>
                <a:t>providing the necessary</a:t>
              </a:r>
              <a:r>
                <a:rPr lang="en-US" sz="1200" spc="-10" dirty="0">
                  <a:effectLst/>
                  <a:latin typeface="Arial MT"/>
                  <a:ea typeface="Arial MT"/>
                  <a:cs typeface="Arial MT"/>
                </a:rPr>
                <a:t> </a:t>
              </a:r>
              <a:r>
                <a:rPr lang="en-US" sz="1200" dirty="0">
                  <a:effectLst/>
                  <a:latin typeface="Arial MT"/>
                  <a:ea typeface="Arial MT"/>
                  <a:cs typeface="Arial MT"/>
                </a:rPr>
                <a:t>clearance for</a:t>
              </a:r>
              <a:r>
                <a:rPr lang="en-US" sz="1200" spc="-10" dirty="0">
                  <a:effectLst/>
                  <a:latin typeface="Arial MT"/>
                  <a:ea typeface="Arial MT"/>
                  <a:cs typeface="Arial MT"/>
                </a:rPr>
                <a:t> </a:t>
              </a:r>
              <a:r>
                <a:rPr lang="en-US" sz="1200" dirty="0">
                  <a:effectLst/>
                  <a:latin typeface="Arial MT"/>
                  <a:ea typeface="Arial MT"/>
                  <a:cs typeface="Arial MT"/>
                </a:rPr>
                <a:t>optimal propeller size and efficient thrust generation.</a:t>
              </a:r>
              <a:endParaRPr lang="en-IN" sz="1200" dirty="0">
                <a:effectLst/>
                <a:latin typeface="Arial MT"/>
                <a:ea typeface="Arial MT"/>
                <a:cs typeface="Arial MT"/>
              </a:endParaRPr>
            </a:p>
          </p:txBody>
        </p:sp>
      </p:grpSp>
    </p:spTree>
    <p:custDataLst>
      <p:tags r:id="rId1"/>
    </p:custDataLst>
    <p:extLst>
      <p:ext uri="{BB962C8B-B14F-4D97-AF65-F5344CB8AC3E}">
        <p14:creationId xmlns:p14="http://schemas.microsoft.com/office/powerpoint/2010/main" val="3832898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1000"/>
                                        <p:tgtEl>
                                          <p:spTgt spid="23"/>
                                        </p:tgtEl>
                                      </p:cBhvr>
                                    </p:animEffect>
                                    <p:anim calcmode="lin" valueType="num">
                                      <p:cBhvr>
                                        <p:cTn id="14" dur="1000" fill="hold"/>
                                        <p:tgtEl>
                                          <p:spTgt spid="23"/>
                                        </p:tgtEl>
                                        <p:attrNameLst>
                                          <p:attrName>ppt_x</p:attrName>
                                        </p:attrNameLst>
                                      </p:cBhvr>
                                      <p:tavLst>
                                        <p:tav tm="0">
                                          <p:val>
                                            <p:strVal val="#ppt_x"/>
                                          </p:val>
                                        </p:tav>
                                        <p:tav tm="100000">
                                          <p:val>
                                            <p:strVal val="#ppt_x"/>
                                          </p:val>
                                        </p:tav>
                                      </p:tavLst>
                                    </p:anim>
                                    <p:anim calcmode="lin" valueType="num">
                                      <p:cBhvr>
                                        <p:cTn id="15"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23160-707C-D013-AB3A-FC5B5DA15038}"/>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EFD1A8BA-EDEF-1CD2-1963-DF0ECB8AE69A}"/>
              </a:ext>
            </a:extLst>
          </p:cNvPr>
          <p:cNvPicPr>
            <a:picLocks noChangeAspect="1"/>
          </p:cNvPicPr>
          <p:nvPr/>
        </p:nvPicPr>
        <p:blipFill>
          <a:blip r:embed="rId3">
            <a:clrChange>
              <a:clrFrom>
                <a:srgbClr val="071002"/>
              </a:clrFrom>
              <a:clrTo>
                <a:srgbClr val="071002">
                  <a:alpha val="0"/>
                </a:srgbClr>
              </a:clrTo>
            </a:clrChange>
            <a:extLst>
              <a:ext uri="{BEBA8EAE-BF5A-486C-A8C5-ECC9F3942E4B}">
                <a14:imgProps xmlns:a14="http://schemas.microsoft.com/office/drawing/2010/main">
                  <a14:imgLayer r:embed="rId4">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sp>
        <p:nvSpPr>
          <p:cNvPr id="4" name="Rectangle 3">
            <a:extLst>
              <a:ext uri="{FF2B5EF4-FFF2-40B4-BE49-F238E27FC236}">
                <a16:creationId xmlns:a16="http://schemas.microsoft.com/office/drawing/2014/main" id="{1A378448-E28E-7484-5CE3-A0DC590EC7DD}"/>
              </a:ext>
            </a:extLst>
          </p:cNvPr>
          <p:cNvSpPr/>
          <p:nvPr/>
        </p:nvSpPr>
        <p:spPr>
          <a:xfrm>
            <a:off x="1" y="401452"/>
            <a:ext cx="3276599" cy="743585"/>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700"/>
              </a:spcAft>
            </a:pPr>
            <a:r>
              <a:rPr lang="en-US" sz="3600" b="1" dirty="0">
                <a:latin typeface="Times New Roman" panose="02020603050405020304" pitchFamily="18" charset="0"/>
                <a:cs typeface="Times New Roman" panose="02020603050405020304" pitchFamily="18" charset="0"/>
              </a:rPr>
              <a:t> UAS SIZING</a:t>
            </a:r>
          </a:p>
        </p:txBody>
      </p:sp>
      <p:grpSp>
        <p:nvGrpSpPr>
          <p:cNvPr id="21" name="Group 20">
            <a:extLst>
              <a:ext uri="{FF2B5EF4-FFF2-40B4-BE49-F238E27FC236}">
                <a16:creationId xmlns:a16="http://schemas.microsoft.com/office/drawing/2014/main" id="{0AC5D3E5-8596-FF94-52A8-30799235B6AD}"/>
              </a:ext>
            </a:extLst>
          </p:cNvPr>
          <p:cNvGrpSpPr/>
          <p:nvPr/>
        </p:nvGrpSpPr>
        <p:grpSpPr>
          <a:xfrm>
            <a:off x="160021" y="1307256"/>
            <a:ext cx="9237979" cy="1802130"/>
            <a:chOff x="160021" y="1307256"/>
            <a:chExt cx="9237979" cy="1802130"/>
          </a:xfrm>
        </p:grpSpPr>
        <p:sp>
          <p:nvSpPr>
            <p:cNvPr id="2" name="Rectangle: Rounded Corners 1">
              <a:extLst>
                <a:ext uri="{FF2B5EF4-FFF2-40B4-BE49-F238E27FC236}">
                  <a16:creationId xmlns:a16="http://schemas.microsoft.com/office/drawing/2014/main" id="{8759F493-3149-59DB-570D-37E7F055AE36}"/>
                </a:ext>
              </a:extLst>
            </p:cNvPr>
            <p:cNvSpPr/>
            <p:nvPr/>
          </p:nvSpPr>
          <p:spPr>
            <a:xfrm>
              <a:off x="160021" y="1307256"/>
              <a:ext cx="3276599" cy="1802130"/>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D448C78C-ED11-91B2-26BA-F410138DF168}"/>
                </a:ext>
              </a:extLst>
            </p:cNvPr>
            <p:cNvSpPr txBox="1"/>
            <p:nvPr/>
          </p:nvSpPr>
          <p:spPr>
            <a:xfrm>
              <a:off x="2794000" y="1659845"/>
              <a:ext cx="6604000" cy="969496"/>
            </a:xfrm>
            <a:prstGeom prst="rect">
              <a:avLst/>
            </a:prstGeom>
            <a:noFill/>
          </p:spPr>
          <p:txBody>
            <a:bodyPr wrap="square">
              <a:spAutoFit/>
            </a:bodyPr>
            <a:lstStyle/>
            <a:p>
              <a:pPr lvl="2">
                <a:spcBef>
                  <a:spcPts val="5"/>
                </a:spcBef>
                <a:buClr>
                  <a:srgbClr val="0E4660"/>
                </a:buClr>
                <a:buSzPts val="1600"/>
                <a:tabLst>
                  <a:tab pos="611505" algn="l"/>
                </a:tabLst>
              </a:pPr>
              <a:r>
                <a:rPr lang="en-US" sz="1600" b="1" spc="0" dirty="0">
                  <a:effectLst/>
                  <a:latin typeface="Arial MT"/>
                  <a:ea typeface="Arial MT"/>
                  <a:cs typeface="Arial MT"/>
                </a:rPr>
                <a:t>Hub</a:t>
              </a:r>
              <a:r>
                <a:rPr lang="en-US" sz="1600" b="1" spc="-45" dirty="0">
                  <a:effectLst/>
                  <a:latin typeface="Arial MT"/>
                  <a:ea typeface="Arial MT"/>
                  <a:cs typeface="Arial MT"/>
                </a:rPr>
                <a:t> </a:t>
              </a:r>
              <a:r>
                <a:rPr lang="en-US" sz="1600" b="1" spc="-20" dirty="0">
                  <a:effectLst/>
                  <a:latin typeface="Arial MT"/>
                  <a:ea typeface="Arial MT"/>
                  <a:cs typeface="Arial MT"/>
                </a:rPr>
                <a:t>Size</a:t>
              </a:r>
              <a:endParaRPr lang="en-IN" sz="1600" b="1" spc="0" dirty="0">
                <a:effectLst/>
                <a:latin typeface="Arial MT"/>
                <a:ea typeface="Arial MT"/>
                <a:cs typeface="Arial MT"/>
              </a:endParaRPr>
            </a:p>
            <a:p>
              <a:pPr marL="1019175" lvl="2">
                <a:spcBef>
                  <a:spcPts val="535"/>
                </a:spcBef>
              </a:pPr>
              <a:r>
                <a:rPr lang="en-US" sz="1200" dirty="0">
                  <a:effectLst/>
                  <a:latin typeface="Arial MT"/>
                  <a:ea typeface="Arial MT"/>
                  <a:cs typeface="Arial MT"/>
                </a:rPr>
                <a:t>The</a:t>
              </a:r>
              <a:r>
                <a:rPr lang="en-US" sz="1200" spc="45" dirty="0">
                  <a:effectLst/>
                  <a:latin typeface="Arial MT"/>
                  <a:ea typeface="Arial MT"/>
                  <a:cs typeface="Arial MT"/>
                </a:rPr>
                <a:t> </a:t>
              </a:r>
              <a:r>
                <a:rPr lang="en-US" sz="1200" dirty="0">
                  <a:effectLst/>
                  <a:latin typeface="Arial MT"/>
                  <a:ea typeface="Arial MT"/>
                  <a:cs typeface="Arial MT"/>
                </a:rPr>
                <a:t>drone’s</a:t>
              </a:r>
              <a:r>
                <a:rPr lang="en-US" sz="1200" spc="70" dirty="0">
                  <a:effectLst/>
                  <a:latin typeface="Arial MT"/>
                  <a:ea typeface="Arial MT"/>
                  <a:cs typeface="Arial MT"/>
                </a:rPr>
                <a:t> </a:t>
              </a:r>
              <a:r>
                <a:rPr lang="en-US" sz="1200" dirty="0">
                  <a:effectLst/>
                  <a:latin typeface="Arial MT"/>
                  <a:ea typeface="Arial MT"/>
                  <a:cs typeface="Arial MT"/>
                </a:rPr>
                <a:t>hub</a:t>
              </a:r>
              <a:r>
                <a:rPr lang="en-US" sz="1200" spc="55" dirty="0">
                  <a:effectLst/>
                  <a:latin typeface="Arial MT"/>
                  <a:ea typeface="Arial MT"/>
                  <a:cs typeface="Arial MT"/>
                </a:rPr>
                <a:t> </a:t>
              </a:r>
              <a:r>
                <a:rPr lang="en-US" sz="1200" dirty="0">
                  <a:effectLst/>
                  <a:latin typeface="Arial MT"/>
                  <a:ea typeface="Arial MT"/>
                  <a:cs typeface="Arial MT"/>
                </a:rPr>
                <a:t>size,</a:t>
              </a:r>
              <a:r>
                <a:rPr lang="en-US" sz="1200" spc="50" dirty="0">
                  <a:effectLst/>
                  <a:latin typeface="Arial MT"/>
                  <a:ea typeface="Arial MT"/>
                  <a:cs typeface="Arial MT"/>
                </a:rPr>
                <a:t> </a:t>
              </a:r>
              <a:r>
                <a:rPr lang="en-US" sz="1200" dirty="0">
                  <a:effectLst/>
                  <a:latin typeface="Arial MT"/>
                  <a:ea typeface="Arial MT"/>
                  <a:cs typeface="Arial MT"/>
                </a:rPr>
                <a:t>measured</a:t>
              </a:r>
              <a:r>
                <a:rPr lang="en-US" sz="1200" spc="55" dirty="0">
                  <a:effectLst/>
                  <a:latin typeface="Arial MT"/>
                  <a:ea typeface="Arial MT"/>
                  <a:cs typeface="Arial MT"/>
                </a:rPr>
                <a:t> </a:t>
              </a:r>
              <a:r>
                <a:rPr lang="en-US" sz="1200" dirty="0">
                  <a:effectLst/>
                  <a:latin typeface="Arial MT"/>
                  <a:ea typeface="Arial MT"/>
                  <a:cs typeface="Arial MT"/>
                </a:rPr>
                <a:t>diagonally</a:t>
              </a:r>
              <a:r>
                <a:rPr lang="en-US" sz="1200" spc="55" dirty="0">
                  <a:effectLst/>
                  <a:latin typeface="Arial MT"/>
                  <a:ea typeface="Arial MT"/>
                  <a:cs typeface="Arial MT"/>
                </a:rPr>
                <a:t> </a:t>
              </a:r>
              <a:r>
                <a:rPr lang="en-US" sz="1200" dirty="0">
                  <a:effectLst/>
                  <a:latin typeface="Arial MT"/>
                  <a:ea typeface="Arial MT"/>
                  <a:cs typeface="Arial MT"/>
                </a:rPr>
                <a:t>between</a:t>
              </a:r>
              <a:r>
                <a:rPr lang="en-US" sz="1200" spc="70" dirty="0">
                  <a:effectLst/>
                  <a:latin typeface="Arial MT"/>
                  <a:ea typeface="Arial MT"/>
                  <a:cs typeface="Arial MT"/>
                </a:rPr>
                <a:t> </a:t>
              </a:r>
              <a:r>
                <a:rPr lang="en-US" sz="1200" dirty="0">
                  <a:effectLst/>
                  <a:latin typeface="Arial MT"/>
                  <a:ea typeface="Arial MT"/>
                  <a:cs typeface="Arial MT"/>
                </a:rPr>
                <a:t>motor</a:t>
              </a:r>
              <a:r>
                <a:rPr lang="en-US" sz="1200" spc="60" dirty="0">
                  <a:effectLst/>
                  <a:latin typeface="Arial MT"/>
                  <a:ea typeface="Arial MT"/>
                  <a:cs typeface="Arial MT"/>
                </a:rPr>
                <a:t> </a:t>
              </a:r>
              <a:r>
                <a:rPr lang="en-US" sz="1200" dirty="0">
                  <a:effectLst/>
                  <a:latin typeface="Arial MT"/>
                  <a:ea typeface="Arial MT"/>
                  <a:cs typeface="Arial MT"/>
                </a:rPr>
                <a:t>mounts,</a:t>
              </a:r>
              <a:r>
                <a:rPr lang="en-US" sz="1200" spc="60" dirty="0">
                  <a:effectLst/>
                  <a:latin typeface="Arial MT"/>
                  <a:ea typeface="Arial MT"/>
                  <a:cs typeface="Arial MT"/>
                </a:rPr>
                <a:t> </a:t>
              </a:r>
              <a:r>
                <a:rPr lang="en-US" sz="1200" dirty="0">
                  <a:effectLst/>
                  <a:latin typeface="Arial MT"/>
                  <a:ea typeface="Arial MT"/>
                  <a:cs typeface="Arial MT"/>
                </a:rPr>
                <a:t>is</a:t>
              </a:r>
              <a:r>
                <a:rPr lang="en-US" sz="1200" spc="60" dirty="0">
                  <a:effectLst/>
                  <a:latin typeface="Arial MT"/>
                  <a:ea typeface="Arial MT"/>
                  <a:cs typeface="Arial MT"/>
                </a:rPr>
                <a:t> </a:t>
              </a:r>
              <a:r>
                <a:rPr lang="en-US" sz="1200" dirty="0">
                  <a:effectLst/>
                  <a:latin typeface="Arial MT"/>
                  <a:ea typeface="Arial MT"/>
                  <a:cs typeface="Arial MT"/>
                </a:rPr>
                <a:t>about</a:t>
              </a:r>
              <a:r>
                <a:rPr lang="en-US" sz="1200" spc="110" dirty="0">
                  <a:effectLst/>
                  <a:latin typeface="Arial MT"/>
                  <a:ea typeface="Arial MT"/>
                  <a:cs typeface="Arial MT"/>
                </a:rPr>
                <a:t> </a:t>
              </a:r>
              <a:r>
                <a:rPr lang="en-US" sz="1200" b="1" dirty="0">
                  <a:effectLst/>
                  <a:latin typeface="Arial" panose="020B0604020202020204" pitchFamily="34" charset="0"/>
                  <a:ea typeface="Arial MT"/>
                  <a:cs typeface="Arial MT"/>
                </a:rPr>
                <a:t>~15.5</a:t>
              </a:r>
              <a:r>
                <a:rPr lang="en-US" sz="1200" b="1" spc="65" dirty="0">
                  <a:effectLst/>
                  <a:latin typeface="Arial" panose="020B0604020202020204" pitchFamily="34" charset="0"/>
                  <a:ea typeface="Arial MT"/>
                  <a:cs typeface="Arial MT"/>
                </a:rPr>
                <a:t> </a:t>
              </a:r>
              <a:r>
                <a:rPr lang="en-US" sz="1200" b="1" dirty="0">
                  <a:effectLst/>
                  <a:latin typeface="Arial" panose="020B0604020202020204" pitchFamily="34" charset="0"/>
                  <a:ea typeface="Arial MT"/>
                  <a:cs typeface="Arial MT"/>
                </a:rPr>
                <a:t>mm</a:t>
              </a:r>
              <a:r>
                <a:rPr lang="en-US" sz="1200" b="1" spc="60" dirty="0">
                  <a:effectLst/>
                  <a:latin typeface="Arial" panose="020B0604020202020204" pitchFamily="34" charset="0"/>
                  <a:ea typeface="Arial MT"/>
                  <a:cs typeface="Arial MT"/>
                </a:rPr>
                <a:t> </a:t>
              </a:r>
              <a:r>
                <a:rPr lang="en-US" sz="1200" spc="-25" dirty="0">
                  <a:effectLst/>
                  <a:latin typeface="Arial MT"/>
                  <a:ea typeface="Arial MT"/>
                  <a:cs typeface="Arial MT"/>
                </a:rPr>
                <a:t>by</a:t>
              </a:r>
              <a:endParaRPr lang="en-IN" sz="1200" dirty="0">
                <a:effectLst/>
                <a:latin typeface="Arial MT"/>
                <a:ea typeface="Arial MT"/>
                <a:cs typeface="Arial MT"/>
              </a:endParaRPr>
            </a:p>
            <a:p>
              <a:pPr marL="1019175" lvl="2" algn="just">
                <a:spcBef>
                  <a:spcPts val="110"/>
                </a:spcBef>
              </a:pPr>
              <a:r>
                <a:rPr lang="en-US" sz="1200" b="1" dirty="0">
                  <a:effectLst/>
                  <a:latin typeface="Arial" panose="020B0604020202020204" pitchFamily="34" charset="0"/>
                  <a:ea typeface="Arial MT"/>
                  <a:cs typeface="Arial MT"/>
                </a:rPr>
                <a:t>~20</a:t>
              </a:r>
              <a:r>
                <a:rPr lang="en-US" sz="1200" b="1" spc="-25" dirty="0">
                  <a:effectLst/>
                  <a:latin typeface="Arial" panose="020B0604020202020204" pitchFamily="34" charset="0"/>
                  <a:ea typeface="Arial MT"/>
                  <a:cs typeface="Arial MT"/>
                </a:rPr>
                <a:t> </a:t>
              </a:r>
              <a:r>
                <a:rPr lang="en-US" sz="1200" b="1" dirty="0">
                  <a:effectLst/>
                  <a:latin typeface="Arial" panose="020B0604020202020204" pitchFamily="34" charset="0"/>
                  <a:ea typeface="Arial MT"/>
                  <a:cs typeface="Arial MT"/>
                </a:rPr>
                <a:t>mm</a:t>
              </a:r>
              <a:r>
                <a:rPr lang="en-US" sz="1200" dirty="0">
                  <a:effectLst/>
                  <a:latin typeface="Arial MT"/>
                  <a:ea typeface="Arial MT"/>
                  <a:cs typeface="Arial MT"/>
                </a:rPr>
                <a:t>,</a:t>
              </a:r>
              <a:r>
                <a:rPr lang="en-US" sz="1200" spc="-15" dirty="0">
                  <a:effectLst/>
                  <a:latin typeface="Arial MT"/>
                  <a:ea typeface="Arial MT"/>
                  <a:cs typeface="Arial MT"/>
                </a:rPr>
                <a:t> </a:t>
              </a:r>
              <a:r>
                <a:rPr lang="en-US" sz="1200" dirty="0">
                  <a:effectLst/>
                  <a:latin typeface="Arial MT"/>
                  <a:ea typeface="Arial MT"/>
                  <a:cs typeface="Arial MT"/>
                </a:rPr>
                <a:t>ensuring</a:t>
              </a:r>
              <a:r>
                <a:rPr lang="en-US" sz="1200" spc="-15" dirty="0">
                  <a:effectLst/>
                  <a:latin typeface="Arial MT"/>
                  <a:ea typeface="Arial MT"/>
                  <a:cs typeface="Arial MT"/>
                </a:rPr>
                <a:t> </a:t>
              </a:r>
              <a:r>
                <a:rPr lang="en-US" sz="1200" dirty="0">
                  <a:effectLst/>
                  <a:latin typeface="Arial MT"/>
                  <a:ea typeface="Arial MT"/>
                  <a:cs typeface="Arial MT"/>
                </a:rPr>
                <a:t>secure</a:t>
              </a:r>
              <a:r>
                <a:rPr lang="en-US" sz="1200" spc="-10" dirty="0">
                  <a:effectLst/>
                  <a:latin typeface="Arial MT"/>
                  <a:ea typeface="Arial MT"/>
                  <a:cs typeface="Arial MT"/>
                </a:rPr>
                <a:t> </a:t>
              </a:r>
              <a:r>
                <a:rPr lang="en-US" sz="1200" dirty="0">
                  <a:effectLst/>
                  <a:latin typeface="Arial MT"/>
                  <a:ea typeface="Arial MT"/>
                  <a:cs typeface="Arial MT"/>
                </a:rPr>
                <a:t>motor</a:t>
              </a:r>
              <a:r>
                <a:rPr lang="en-US" sz="1200" spc="-10" dirty="0">
                  <a:effectLst/>
                  <a:latin typeface="Arial MT"/>
                  <a:ea typeface="Arial MT"/>
                  <a:cs typeface="Arial MT"/>
                </a:rPr>
                <a:t> </a:t>
              </a:r>
              <a:r>
                <a:rPr lang="en-US" sz="1200" dirty="0">
                  <a:effectLst/>
                  <a:latin typeface="Arial MT"/>
                  <a:ea typeface="Arial MT"/>
                  <a:cs typeface="Arial MT"/>
                </a:rPr>
                <a:t>fit</a:t>
              </a:r>
              <a:r>
                <a:rPr lang="en-US" sz="1200" spc="-20" dirty="0">
                  <a:effectLst/>
                  <a:latin typeface="Arial MT"/>
                  <a:ea typeface="Arial MT"/>
                  <a:cs typeface="Arial MT"/>
                </a:rPr>
                <a:t> </a:t>
              </a:r>
              <a:r>
                <a:rPr lang="en-US" sz="1200" dirty="0">
                  <a:effectLst/>
                  <a:latin typeface="Arial MT"/>
                  <a:ea typeface="Arial MT"/>
                  <a:cs typeface="Arial MT"/>
                </a:rPr>
                <a:t>and</a:t>
              </a:r>
              <a:r>
                <a:rPr lang="en-US" sz="1200" spc="-15" dirty="0">
                  <a:effectLst/>
                  <a:latin typeface="Arial MT"/>
                  <a:ea typeface="Arial MT"/>
                  <a:cs typeface="Arial MT"/>
                </a:rPr>
                <a:t> </a:t>
              </a:r>
              <a:r>
                <a:rPr lang="en-US" sz="1200" dirty="0">
                  <a:effectLst/>
                  <a:latin typeface="Arial MT"/>
                  <a:ea typeface="Arial MT"/>
                  <a:cs typeface="Arial MT"/>
                </a:rPr>
                <a:t>stable</a:t>
              </a:r>
              <a:r>
                <a:rPr lang="en-US" sz="1200" spc="-15" dirty="0">
                  <a:effectLst/>
                  <a:latin typeface="Arial MT"/>
                  <a:ea typeface="Arial MT"/>
                  <a:cs typeface="Arial MT"/>
                </a:rPr>
                <a:t> </a:t>
              </a:r>
              <a:r>
                <a:rPr lang="en-US" sz="1200" spc="-10" dirty="0">
                  <a:effectLst/>
                  <a:latin typeface="Arial MT"/>
                  <a:ea typeface="Arial MT"/>
                  <a:cs typeface="Arial MT"/>
                </a:rPr>
                <a:t>flight.</a:t>
              </a:r>
              <a:endParaRPr lang="en-IN" sz="1200" dirty="0">
                <a:effectLst/>
                <a:latin typeface="Arial MT"/>
                <a:ea typeface="Arial MT"/>
                <a:cs typeface="Arial MT"/>
              </a:endParaRPr>
            </a:p>
          </p:txBody>
        </p:sp>
      </p:grpSp>
      <p:grpSp>
        <p:nvGrpSpPr>
          <p:cNvPr id="23" name="Group 22">
            <a:extLst>
              <a:ext uri="{FF2B5EF4-FFF2-40B4-BE49-F238E27FC236}">
                <a16:creationId xmlns:a16="http://schemas.microsoft.com/office/drawing/2014/main" id="{58FA89E0-39E1-BB54-15EE-CA84C088FEDD}"/>
              </a:ext>
            </a:extLst>
          </p:cNvPr>
          <p:cNvGrpSpPr/>
          <p:nvPr/>
        </p:nvGrpSpPr>
        <p:grpSpPr>
          <a:xfrm>
            <a:off x="160021" y="4649678"/>
            <a:ext cx="6973223" cy="1802130"/>
            <a:chOff x="160021" y="4649678"/>
            <a:chExt cx="6973223" cy="1802130"/>
          </a:xfrm>
        </p:grpSpPr>
        <p:sp>
          <p:nvSpPr>
            <p:cNvPr id="9" name="Rectangle: Rounded Corners 8">
              <a:extLst>
                <a:ext uri="{FF2B5EF4-FFF2-40B4-BE49-F238E27FC236}">
                  <a16:creationId xmlns:a16="http://schemas.microsoft.com/office/drawing/2014/main" id="{E060E00D-7E99-8F55-ABCD-12C0DDA83CC3}"/>
                </a:ext>
              </a:extLst>
            </p:cNvPr>
            <p:cNvSpPr/>
            <p:nvPr/>
          </p:nvSpPr>
          <p:spPr>
            <a:xfrm>
              <a:off x="160021" y="4649678"/>
              <a:ext cx="3276599" cy="1802130"/>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67F949C3-5A92-D082-3437-7DD99400536E}"/>
                </a:ext>
              </a:extLst>
            </p:cNvPr>
            <p:cNvSpPr txBox="1"/>
            <p:nvPr/>
          </p:nvSpPr>
          <p:spPr>
            <a:xfrm>
              <a:off x="2794000" y="4959711"/>
              <a:ext cx="4339244" cy="1200329"/>
            </a:xfrm>
            <a:prstGeom prst="rect">
              <a:avLst/>
            </a:prstGeom>
            <a:noFill/>
          </p:spPr>
          <p:txBody>
            <a:bodyPr wrap="square">
              <a:spAutoFit/>
            </a:bodyPr>
            <a:lstStyle/>
            <a:p>
              <a:r>
                <a:rPr lang="en-US" sz="800" b="1" dirty="0"/>
                <a:t> </a:t>
              </a:r>
              <a:endParaRPr lang="en-IN" sz="1600" dirty="0">
                <a:latin typeface="Arial MT"/>
              </a:endParaRPr>
            </a:p>
            <a:p>
              <a:pPr lvl="2"/>
              <a:r>
                <a:rPr lang="en-US" sz="1600" b="1" dirty="0">
                  <a:latin typeface="Arial MT"/>
                </a:rPr>
                <a:t>Landing Gear Dimensions</a:t>
              </a:r>
              <a:endParaRPr lang="en-IN" sz="1600" b="1" dirty="0">
                <a:latin typeface="Arial MT"/>
              </a:endParaRPr>
            </a:p>
            <a:p>
              <a:pPr lvl="2"/>
              <a:r>
                <a:rPr lang="en-US" sz="1200" dirty="0">
                  <a:latin typeface="Arial MT"/>
                </a:rPr>
                <a:t>For our drone, the Ground Clearence is </a:t>
              </a:r>
              <a:r>
                <a:rPr lang="en-US" sz="1200" b="1" dirty="0">
                  <a:latin typeface="Arial MT"/>
                </a:rPr>
                <a:t>~193 mm</a:t>
              </a:r>
              <a:r>
                <a:rPr lang="en-US" sz="1200" dirty="0">
                  <a:latin typeface="Arial MT"/>
                </a:rPr>
                <a:t>, Landing Gear Length is </a:t>
              </a:r>
              <a:r>
                <a:rPr lang="en-US" sz="1200" b="1" dirty="0">
                  <a:latin typeface="Arial MT"/>
                </a:rPr>
                <a:t>~213 mm</a:t>
              </a:r>
              <a:endParaRPr lang="en-IN" sz="1200" dirty="0">
                <a:latin typeface="Arial MT"/>
              </a:endParaRPr>
            </a:p>
            <a:p>
              <a:pPr lvl="2"/>
              <a:r>
                <a:rPr lang="en-US" sz="1200" dirty="0">
                  <a:latin typeface="Arial MT"/>
                </a:rPr>
                <a:t>providing sufficient clearance from the ground.</a:t>
              </a:r>
              <a:endParaRPr lang="en-IN" sz="1200" dirty="0">
                <a:latin typeface="Arial MT"/>
              </a:endParaRPr>
            </a:p>
            <a:p>
              <a:pPr lvl="2">
                <a:spcBef>
                  <a:spcPts val="5"/>
                </a:spcBef>
                <a:buClr>
                  <a:srgbClr val="0E4660"/>
                </a:buClr>
                <a:buSzPts val="1600"/>
                <a:tabLst>
                  <a:tab pos="611505" algn="l"/>
                </a:tabLst>
              </a:pPr>
              <a:endParaRPr lang="en-IN" sz="1200" dirty="0">
                <a:effectLst/>
                <a:latin typeface="Arial MT"/>
                <a:ea typeface="Arial MT"/>
                <a:cs typeface="Arial MT"/>
              </a:endParaRPr>
            </a:p>
          </p:txBody>
        </p:sp>
      </p:grpSp>
      <p:sp>
        <p:nvSpPr>
          <p:cNvPr id="18" name="Rectangle 2">
            <a:extLst>
              <a:ext uri="{FF2B5EF4-FFF2-40B4-BE49-F238E27FC236}">
                <a16:creationId xmlns:a16="http://schemas.microsoft.com/office/drawing/2014/main" id="{191FB53A-AD35-2934-08DE-263BE69173C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7821" tIns="41262" rIns="91440" bIns="0" numCol="1" anchor="ctr" anchorCtr="0" compatLnSpc="1">
            <a:prstTxWarp prst="textNoShape">
              <a:avLst/>
            </a:prstTxWarp>
            <a:spAutoFit/>
          </a:bodyPr>
          <a:lstStyle/>
          <a:p>
            <a:endParaRPr lang="en-IN"/>
          </a:p>
        </p:txBody>
      </p:sp>
      <p:grpSp>
        <p:nvGrpSpPr>
          <p:cNvPr id="22" name="Group 21">
            <a:extLst>
              <a:ext uri="{FF2B5EF4-FFF2-40B4-BE49-F238E27FC236}">
                <a16:creationId xmlns:a16="http://schemas.microsoft.com/office/drawing/2014/main" id="{82B9CB8B-7C26-4771-4708-7AAA40B7C88F}"/>
              </a:ext>
            </a:extLst>
          </p:cNvPr>
          <p:cNvGrpSpPr/>
          <p:nvPr/>
        </p:nvGrpSpPr>
        <p:grpSpPr>
          <a:xfrm>
            <a:off x="-112915" y="3109386"/>
            <a:ext cx="10554868" cy="1802130"/>
            <a:chOff x="-112915" y="3109386"/>
            <a:chExt cx="10554868" cy="1802130"/>
          </a:xfrm>
        </p:grpSpPr>
        <p:sp>
          <p:nvSpPr>
            <p:cNvPr id="10" name="Rectangle: Rounded Corners 9">
              <a:extLst>
                <a:ext uri="{FF2B5EF4-FFF2-40B4-BE49-F238E27FC236}">
                  <a16:creationId xmlns:a16="http://schemas.microsoft.com/office/drawing/2014/main" id="{04577EA5-1C99-70E5-B918-095B13939507}"/>
                </a:ext>
              </a:extLst>
            </p:cNvPr>
            <p:cNvSpPr/>
            <p:nvPr/>
          </p:nvSpPr>
          <p:spPr>
            <a:xfrm>
              <a:off x="7165354" y="3109386"/>
              <a:ext cx="3276599" cy="1802130"/>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3">
              <a:extLst>
                <a:ext uri="{FF2B5EF4-FFF2-40B4-BE49-F238E27FC236}">
                  <a16:creationId xmlns:a16="http://schemas.microsoft.com/office/drawing/2014/main" id="{788237C2-4F2E-C66F-F8B2-E16D7B77ABF8}"/>
                </a:ext>
              </a:extLst>
            </p:cNvPr>
            <p:cNvSpPr>
              <a:spLocks noChangeArrowheads="1"/>
            </p:cNvSpPr>
            <p:nvPr/>
          </p:nvSpPr>
          <p:spPr bwMode="auto">
            <a:xfrm>
              <a:off x="-112915" y="3348250"/>
              <a:ext cx="7099069"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914400" marR="0" lvl="2"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effectLst/>
                  <a:latin typeface="Arial" panose="020B0604020202020204" pitchFamily="34" charset="0"/>
                  <a:ea typeface="Arial MT"/>
                  <a:cs typeface="Arial MT"/>
                </a:rPr>
                <a:t>Propeller Clearance</a:t>
              </a:r>
            </a:p>
            <a:p>
              <a:pPr marL="914400" marR="0" lvl="2"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dirty="0">
                  <a:ln>
                    <a:noFill/>
                  </a:ln>
                  <a:solidFill>
                    <a:schemeClr val="tx1"/>
                  </a:solidFill>
                  <a:effectLst/>
                  <a:latin typeface="Arial" panose="020B0604020202020204" pitchFamily="34" charset="0"/>
                  <a:ea typeface="Arial MT"/>
                  <a:cs typeface="Arial MT"/>
                </a:rPr>
                <a:t>Propeller clearance is the minimum space between propellers and the drone frame or components to prevent obstruction. Our drone has </a:t>
              </a:r>
              <a:r>
                <a:rPr kumimoji="0" lang="en-US" altLang="en-US" sz="1200" b="1" i="0" u="none" strike="noStrike" cap="none" normalizeH="0" baseline="0" dirty="0">
                  <a:ln>
                    <a:noFill/>
                  </a:ln>
                  <a:solidFill>
                    <a:schemeClr val="tx1"/>
                  </a:solidFill>
                  <a:effectLst/>
                  <a:latin typeface="Arial" panose="020B0604020202020204" pitchFamily="34" charset="0"/>
                  <a:ea typeface="Arial MT"/>
                  <a:cs typeface="Arial" panose="020B0604020202020204" pitchFamily="34" charset="0"/>
                </a:rPr>
                <a:t>~45 mm </a:t>
              </a:r>
              <a:r>
                <a:rPr kumimoji="0" lang="en-US" altLang="en-US" sz="1200" b="0" i="0" u="none" strike="noStrike" cap="none" normalizeH="0" baseline="0" dirty="0">
                  <a:ln>
                    <a:noFill/>
                  </a:ln>
                  <a:solidFill>
                    <a:schemeClr val="tx1"/>
                  </a:solidFill>
                  <a:effectLst/>
                  <a:ea typeface="Arial MT"/>
                  <a:cs typeface="Arial MT"/>
                </a:rPr>
                <a:t>clearance from body and </a:t>
              </a:r>
              <a:r>
                <a:rPr kumimoji="0" lang="en-US" altLang="en-US" sz="1200" b="1" i="0" u="none" strike="noStrike" cap="none" normalizeH="0" baseline="0" dirty="0">
                  <a:ln>
                    <a:noFill/>
                  </a:ln>
                  <a:solidFill>
                    <a:schemeClr val="tx1"/>
                  </a:solidFill>
                  <a:effectLst/>
                  <a:latin typeface="Arial" panose="020B0604020202020204" pitchFamily="34" charset="0"/>
                  <a:ea typeface="Arial MT"/>
                  <a:cs typeface="Arial" panose="020B0604020202020204" pitchFamily="34" charset="0"/>
                </a:rPr>
                <a:t>~121 mm </a:t>
              </a:r>
              <a:r>
                <a:rPr kumimoji="0" lang="en-US" altLang="en-US" sz="1200" b="0" i="0" u="none" strike="noStrike" cap="none" normalizeH="0" baseline="0" dirty="0">
                  <a:ln>
                    <a:noFill/>
                  </a:ln>
                  <a:solidFill>
                    <a:schemeClr val="tx1"/>
                  </a:solidFill>
                  <a:effectLst/>
                  <a:ea typeface="Arial MT"/>
                  <a:cs typeface="Arial MT"/>
                </a:rPr>
                <a:t>between propellers for safe, efficient operation.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spTree>
    <p:custDataLst>
      <p:tags r:id="rId1"/>
    </p:custDataLst>
    <p:extLst>
      <p:ext uri="{BB962C8B-B14F-4D97-AF65-F5344CB8AC3E}">
        <p14:creationId xmlns:p14="http://schemas.microsoft.com/office/powerpoint/2010/main" val="270727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000"/>
                                        <p:tgtEl>
                                          <p:spTgt spid="21"/>
                                        </p:tgtEl>
                                      </p:cBhvr>
                                    </p:animEffect>
                                    <p:anim calcmode="lin" valueType="num">
                                      <p:cBhvr>
                                        <p:cTn id="8" dur="1000" fill="hold"/>
                                        <p:tgtEl>
                                          <p:spTgt spid="21"/>
                                        </p:tgtEl>
                                        <p:attrNameLst>
                                          <p:attrName>ppt_x</p:attrName>
                                        </p:attrNameLst>
                                      </p:cBhvr>
                                      <p:tavLst>
                                        <p:tav tm="0">
                                          <p:val>
                                            <p:strVal val="#ppt_x"/>
                                          </p:val>
                                        </p:tav>
                                        <p:tav tm="100000">
                                          <p:val>
                                            <p:strVal val="#ppt_x"/>
                                          </p:val>
                                        </p:tav>
                                      </p:tavLst>
                                    </p:anim>
                                    <p:anim calcmode="lin" valueType="num">
                                      <p:cBhvr>
                                        <p:cTn id="9" dur="1000" fill="hold"/>
                                        <p:tgtEl>
                                          <p:spTgt spid="2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1000"/>
                                        <p:tgtEl>
                                          <p:spTgt spid="22"/>
                                        </p:tgtEl>
                                      </p:cBhvr>
                                    </p:animEffect>
                                    <p:anim calcmode="lin" valueType="num">
                                      <p:cBhvr>
                                        <p:cTn id="14" dur="1000" fill="hold"/>
                                        <p:tgtEl>
                                          <p:spTgt spid="22"/>
                                        </p:tgtEl>
                                        <p:attrNameLst>
                                          <p:attrName>ppt_x</p:attrName>
                                        </p:attrNameLst>
                                      </p:cBhvr>
                                      <p:tavLst>
                                        <p:tav tm="0">
                                          <p:val>
                                            <p:strVal val="#ppt_x"/>
                                          </p:val>
                                        </p:tav>
                                        <p:tav tm="100000">
                                          <p:val>
                                            <p:strVal val="#ppt_x"/>
                                          </p:val>
                                        </p:tav>
                                      </p:tavLst>
                                    </p:anim>
                                    <p:anim calcmode="lin" valueType="num">
                                      <p:cBhvr>
                                        <p:cTn id="15" dur="1000" fill="hold"/>
                                        <p:tgtEl>
                                          <p:spTgt spid="22"/>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1000"/>
                                        <p:tgtEl>
                                          <p:spTgt spid="23"/>
                                        </p:tgtEl>
                                      </p:cBhvr>
                                    </p:animEffect>
                                    <p:anim calcmode="lin" valueType="num">
                                      <p:cBhvr>
                                        <p:cTn id="20" dur="1000" fill="hold"/>
                                        <p:tgtEl>
                                          <p:spTgt spid="23"/>
                                        </p:tgtEl>
                                        <p:attrNameLst>
                                          <p:attrName>ppt_x</p:attrName>
                                        </p:attrNameLst>
                                      </p:cBhvr>
                                      <p:tavLst>
                                        <p:tav tm="0">
                                          <p:val>
                                            <p:strVal val="#ppt_x"/>
                                          </p:val>
                                        </p:tav>
                                        <p:tav tm="100000">
                                          <p:val>
                                            <p:strVal val="#ppt_x"/>
                                          </p:val>
                                        </p:tav>
                                      </p:tavLst>
                                    </p:anim>
                                    <p:anim calcmode="lin" valueType="num">
                                      <p:cBhvr>
                                        <p:cTn id="2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2B2CC-6F33-57CA-10A1-28DD1F643B62}"/>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6DB57B33-C5EF-7221-D598-F561750920E7}"/>
              </a:ext>
            </a:extLst>
          </p:cNvPr>
          <p:cNvPicPr>
            <a:picLocks noChangeAspect="1"/>
          </p:cNvPicPr>
          <p:nvPr/>
        </p:nvPicPr>
        <p:blipFill>
          <a:blip r:embed="rId3">
            <a:clrChange>
              <a:clrFrom>
                <a:srgbClr val="071002"/>
              </a:clrFrom>
              <a:clrTo>
                <a:srgbClr val="071002">
                  <a:alpha val="0"/>
                </a:srgbClr>
              </a:clrTo>
            </a:clrChange>
            <a:extLst>
              <a:ext uri="{BEBA8EAE-BF5A-486C-A8C5-ECC9F3942E4B}">
                <a14:imgProps xmlns:a14="http://schemas.microsoft.com/office/drawing/2010/main">
                  <a14:imgLayer r:embed="rId4">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sp>
        <p:nvSpPr>
          <p:cNvPr id="4" name="Rectangle 3">
            <a:extLst>
              <a:ext uri="{FF2B5EF4-FFF2-40B4-BE49-F238E27FC236}">
                <a16:creationId xmlns:a16="http://schemas.microsoft.com/office/drawing/2014/main" id="{4FA0C9C1-B506-2D1A-33BA-ADA7C9595F67}"/>
              </a:ext>
            </a:extLst>
          </p:cNvPr>
          <p:cNvSpPr/>
          <p:nvPr/>
        </p:nvSpPr>
        <p:spPr>
          <a:xfrm>
            <a:off x="0" y="401452"/>
            <a:ext cx="9997440" cy="741600"/>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700"/>
              </a:spcAft>
            </a:pPr>
            <a:r>
              <a:rPr lang="en-US" sz="4400" b="1" dirty="0">
                <a:latin typeface="Times New Roman" panose="02020603050405020304" pitchFamily="18" charset="0"/>
                <a:cs typeface="Times New Roman" panose="02020603050405020304" pitchFamily="18" charset="0"/>
              </a:rPr>
              <a:t> FINAL DESIGN CAD MODEL</a:t>
            </a:r>
          </a:p>
        </p:txBody>
      </p:sp>
      <p:grpSp>
        <p:nvGrpSpPr>
          <p:cNvPr id="10" name="Group 9">
            <a:extLst>
              <a:ext uri="{FF2B5EF4-FFF2-40B4-BE49-F238E27FC236}">
                <a16:creationId xmlns:a16="http://schemas.microsoft.com/office/drawing/2014/main" id="{6DF3489B-D7AF-BD50-8F01-34885E0BB6BE}"/>
              </a:ext>
            </a:extLst>
          </p:cNvPr>
          <p:cNvGrpSpPr/>
          <p:nvPr/>
        </p:nvGrpSpPr>
        <p:grpSpPr>
          <a:xfrm>
            <a:off x="693378" y="1677225"/>
            <a:ext cx="10066303" cy="4779323"/>
            <a:chOff x="693378" y="1677225"/>
            <a:chExt cx="10066303" cy="4779323"/>
          </a:xfrm>
        </p:grpSpPr>
        <p:sp>
          <p:nvSpPr>
            <p:cNvPr id="6" name="Rectangle: Rounded Corners 5">
              <a:extLst>
                <a:ext uri="{FF2B5EF4-FFF2-40B4-BE49-F238E27FC236}">
                  <a16:creationId xmlns:a16="http://schemas.microsoft.com/office/drawing/2014/main" id="{F066A5EE-4C59-A5BA-13DF-523FF6DBB575}"/>
                </a:ext>
              </a:extLst>
            </p:cNvPr>
            <p:cNvSpPr/>
            <p:nvPr/>
          </p:nvSpPr>
          <p:spPr>
            <a:xfrm>
              <a:off x="6799681" y="1677225"/>
              <a:ext cx="3960000" cy="2160000"/>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8" name="Image 45">
              <a:extLst>
                <a:ext uri="{FF2B5EF4-FFF2-40B4-BE49-F238E27FC236}">
                  <a16:creationId xmlns:a16="http://schemas.microsoft.com/office/drawing/2014/main" id="{15D694A1-F574-8117-3C36-42DD46921595}"/>
                </a:ext>
              </a:extLst>
            </p:cNvPr>
            <p:cNvPicPr/>
            <p:nvPr/>
          </p:nvPicPr>
          <p:blipFill>
            <a:blip r:embed="rId5" cstate="print"/>
            <a:stretch>
              <a:fillRect/>
            </a:stretch>
          </p:blipFill>
          <p:spPr>
            <a:xfrm>
              <a:off x="1313657" y="1705460"/>
              <a:ext cx="2895760" cy="2162587"/>
            </a:xfrm>
            <a:prstGeom prst="rect">
              <a:avLst/>
            </a:prstGeom>
          </p:spPr>
        </p:pic>
        <p:sp>
          <p:nvSpPr>
            <p:cNvPr id="16" name="Rectangle: Rounded Corners 15">
              <a:extLst>
                <a:ext uri="{FF2B5EF4-FFF2-40B4-BE49-F238E27FC236}">
                  <a16:creationId xmlns:a16="http://schemas.microsoft.com/office/drawing/2014/main" id="{79E17529-EB0C-8B9D-B3B2-43A1642E83A2}"/>
                </a:ext>
              </a:extLst>
            </p:cNvPr>
            <p:cNvSpPr/>
            <p:nvPr/>
          </p:nvSpPr>
          <p:spPr>
            <a:xfrm>
              <a:off x="693378" y="4296548"/>
              <a:ext cx="3960000" cy="2160000"/>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Rectangle: Rounded Corners 16">
              <a:extLst>
                <a:ext uri="{FF2B5EF4-FFF2-40B4-BE49-F238E27FC236}">
                  <a16:creationId xmlns:a16="http://schemas.microsoft.com/office/drawing/2014/main" id="{A5DFED04-2BBB-5944-C369-159F7242358A}"/>
                </a:ext>
              </a:extLst>
            </p:cNvPr>
            <p:cNvSpPr/>
            <p:nvPr/>
          </p:nvSpPr>
          <p:spPr>
            <a:xfrm>
              <a:off x="693378" y="1677225"/>
              <a:ext cx="3960000" cy="2160000"/>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0" name="Rectangle: Rounded Corners 19">
              <a:extLst>
                <a:ext uri="{FF2B5EF4-FFF2-40B4-BE49-F238E27FC236}">
                  <a16:creationId xmlns:a16="http://schemas.microsoft.com/office/drawing/2014/main" id="{20EFEECE-AAD7-1BEA-C117-154B82BBBFC4}"/>
                </a:ext>
              </a:extLst>
            </p:cNvPr>
            <p:cNvSpPr/>
            <p:nvPr/>
          </p:nvSpPr>
          <p:spPr>
            <a:xfrm>
              <a:off x="6799681" y="4296548"/>
              <a:ext cx="3960000" cy="2160000"/>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11" name="TextBox 10">
            <a:extLst>
              <a:ext uri="{FF2B5EF4-FFF2-40B4-BE49-F238E27FC236}">
                <a16:creationId xmlns:a16="http://schemas.microsoft.com/office/drawing/2014/main" id="{7EED891E-B499-168B-B3B1-C2BA5C0FA7E2}"/>
              </a:ext>
            </a:extLst>
          </p:cNvPr>
          <p:cNvSpPr txBox="1"/>
          <p:nvPr/>
        </p:nvSpPr>
        <p:spPr>
          <a:xfrm>
            <a:off x="6894674" y="6456548"/>
            <a:ext cx="2265685" cy="369332"/>
          </a:xfrm>
          <a:prstGeom prst="rect">
            <a:avLst/>
          </a:prstGeom>
          <a:noFill/>
        </p:spPr>
        <p:txBody>
          <a:bodyPr wrap="square" rtlCol="0">
            <a:spAutoFit/>
          </a:bodyPr>
          <a:lstStyle/>
          <a:p>
            <a:r>
              <a:rPr lang="en-IN" dirty="0"/>
              <a:t>ANGLE VIEW</a:t>
            </a:r>
          </a:p>
        </p:txBody>
      </p:sp>
      <p:sp>
        <p:nvSpPr>
          <p:cNvPr id="14" name="TextBox 13">
            <a:extLst>
              <a:ext uri="{FF2B5EF4-FFF2-40B4-BE49-F238E27FC236}">
                <a16:creationId xmlns:a16="http://schemas.microsoft.com/office/drawing/2014/main" id="{5B40C773-212C-F7F0-4A27-FD46DA46D9F6}"/>
              </a:ext>
            </a:extLst>
          </p:cNvPr>
          <p:cNvSpPr txBox="1"/>
          <p:nvPr/>
        </p:nvSpPr>
        <p:spPr>
          <a:xfrm>
            <a:off x="977931" y="3815848"/>
            <a:ext cx="2265685" cy="369332"/>
          </a:xfrm>
          <a:prstGeom prst="rect">
            <a:avLst/>
          </a:prstGeom>
          <a:noFill/>
        </p:spPr>
        <p:txBody>
          <a:bodyPr wrap="square" rtlCol="0">
            <a:spAutoFit/>
          </a:bodyPr>
          <a:lstStyle/>
          <a:p>
            <a:r>
              <a:rPr lang="en-IN" dirty="0"/>
              <a:t>FRONT VIEW</a:t>
            </a:r>
          </a:p>
        </p:txBody>
      </p:sp>
      <p:sp>
        <p:nvSpPr>
          <p:cNvPr id="15" name="TextBox 14">
            <a:extLst>
              <a:ext uri="{FF2B5EF4-FFF2-40B4-BE49-F238E27FC236}">
                <a16:creationId xmlns:a16="http://schemas.microsoft.com/office/drawing/2014/main" id="{ECFA19E6-DDBA-4518-7CA8-FC1E902D3054}"/>
              </a:ext>
            </a:extLst>
          </p:cNvPr>
          <p:cNvSpPr txBox="1"/>
          <p:nvPr/>
        </p:nvSpPr>
        <p:spPr>
          <a:xfrm>
            <a:off x="874941" y="6444858"/>
            <a:ext cx="2265685" cy="369332"/>
          </a:xfrm>
          <a:prstGeom prst="rect">
            <a:avLst/>
          </a:prstGeom>
          <a:noFill/>
        </p:spPr>
        <p:txBody>
          <a:bodyPr wrap="square" rtlCol="0">
            <a:spAutoFit/>
          </a:bodyPr>
          <a:lstStyle/>
          <a:p>
            <a:r>
              <a:rPr lang="en-IN" dirty="0"/>
              <a:t>TOP VIEW</a:t>
            </a:r>
          </a:p>
        </p:txBody>
      </p:sp>
      <p:sp>
        <p:nvSpPr>
          <p:cNvPr id="23" name="TextBox 22">
            <a:extLst>
              <a:ext uri="{FF2B5EF4-FFF2-40B4-BE49-F238E27FC236}">
                <a16:creationId xmlns:a16="http://schemas.microsoft.com/office/drawing/2014/main" id="{32F82929-8C97-8B26-EB53-D95FFFC40EB2}"/>
              </a:ext>
            </a:extLst>
          </p:cNvPr>
          <p:cNvSpPr txBox="1"/>
          <p:nvPr/>
        </p:nvSpPr>
        <p:spPr>
          <a:xfrm>
            <a:off x="6883399" y="3850048"/>
            <a:ext cx="2265685" cy="369332"/>
          </a:xfrm>
          <a:prstGeom prst="rect">
            <a:avLst/>
          </a:prstGeom>
          <a:noFill/>
        </p:spPr>
        <p:txBody>
          <a:bodyPr wrap="square" rtlCol="0">
            <a:spAutoFit/>
          </a:bodyPr>
          <a:lstStyle/>
          <a:p>
            <a:r>
              <a:rPr lang="en-IN" dirty="0"/>
              <a:t>SIDE VIEW</a:t>
            </a:r>
          </a:p>
        </p:txBody>
      </p:sp>
    </p:spTree>
    <p:custDataLst>
      <p:tags r:id="rId1"/>
    </p:custDataLst>
    <p:extLst>
      <p:ext uri="{BB962C8B-B14F-4D97-AF65-F5344CB8AC3E}">
        <p14:creationId xmlns:p14="http://schemas.microsoft.com/office/powerpoint/2010/main" val="1996072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down)">
                                      <p:cBhvr>
                                        <p:cTn id="10" dur="500"/>
                                        <p:tgtEl>
                                          <p:spTgt spid="11"/>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wipe(down)">
                                      <p:cBhvr>
                                        <p:cTn id="13" dur="500"/>
                                        <p:tgtEl>
                                          <p:spTgt spid="14"/>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down)">
                                      <p:cBhvr>
                                        <p:cTn id="16" dur="500"/>
                                        <p:tgtEl>
                                          <p:spTgt spid="15"/>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wipe(down)">
                                      <p:cBhvr>
                                        <p:cTn id="1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P spid="15" grpId="0"/>
      <p:bldP spid="2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FE74D-A3E0-3D7E-7929-341F196ED4A9}"/>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2BB26ED-8E43-3951-9991-6159AD8B3112}"/>
              </a:ext>
            </a:extLst>
          </p:cNvPr>
          <p:cNvPicPr>
            <a:picLocks noChangeAspect="1"/>
          </p:cNvPicPr>
          <p:nvPr/>
        </p:nvPicPr>
        <p:blipFill>
          <a:blip r:embed="rId2">
            <a:clrChange>
              <a:clrFrom>
                <a:srgbClr val="071002"/>
              </a:clrFrom>
              <a:clrTo>
                <a:srgbClr val="071002">
                  <a:alpha val="0"/>
                </a:srgbClr>
              </a:clrTo>
            </a:clrChange>
            <a:extLst>
              <a:ext uri="{BEBA8EAE-BF5A-486C-A8C5-ECC9F3942E4B}">
                <a14:imgProps xmlns:a14="http://schemas.microsoft.com/office/drawing/2010/main">
                  <a14:imgLayer r:embed="rId3">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sp>
        <p:nvSpPr>
          <p:cNvPr id="4" name="Rectangle 3">
            <a:extLst>
              <a:ext uri="{FF2B5EF4-FFF2-40B4-BE49-F238E27FC236}">
                <a16:creationId xmlns:a16="http://schemas.microsoft.com/office/drawing/2014/main" id="{AA24E75C-CEB9-F803-DFF7-878A72884623}"/>
              </a:ext>
            </a:extLst>
          </p:cNvPr>
          <p:cNvSpPr/>
          <p:nvPr/>
        </p:nvSpPr>
        <p:spPr>
          <a:xfrm>
            <a:off x="-1021080" y="6338274"/>
            <a:ext cx="14234160" cy="6004560"/>
          </a:xfrm>
          <a:prstGeom prst="rect">
            <a:avLst/>
          </a:prstGeom>
          <a:gradFill>
            <a:gsLst>
              <a:gs pos="0">
                <a:schemeClr val="bg1">
                  <a:lumMod val="95000"/>
                  <a:lumOff val="5000"/>
                  <a:alpha val="0"/>
                </a:schemeClr>
              </a:gs>
              <a:gs pos="77000">
                <a:schemeClr val="tx2">
                  <a:lumMod val="10000"/>
                </a:schemeClr>
              </a:gs>
            </a:gsLst>
            <a:lin ang="612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93889BE9-463A-27B2-5A44-6363A39476DA}"/>
              </a:ext>
            </a:extLst>
          </p:cNvPr>
          <p:cNvSpPr/>
          <p:nvPr/>
        </p:nvSpPr>
        <p:spPr>
          <a:xfrm>
            <a:off x="773723" y="1367360"/>
            <a:ext cx="10644553" cy="2860431"/>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3BD4D8F3-B12E-310B-5993-8DED3612B099}"/>
              </a:ext>
            </a:extLst>
          </p:cNvPr>
          <p:cNvSpPr txBox="1"/>
          <p:nvPr/>
        </p:nvSpPr>
        <p:spPr>
          <a:xfrm>
            <a:off x="1137137" y="1643413"/>
            <a:ext cx="9917723" cy="2308324"/>
          </a:xfrm>
          <a:prstGeom prst="rect">
            <a:avLst/>
          </a:prstGeom>
          <a:noFill/>
        </p:spPr>
        <p:txBody>
          <a:bodyPr wrap="square" rtlCol="0">
            <a:spAutoFit/>
          </a:bodyPr>
          <a:lstStyle/>
          <a:p>
            <a:r>
              <a:rPr lang="en-IN" sz="7200" dirty="0"/>
              <a:t>COMPUTATIONAL ANALYSIS</a:t>
            </a:r>
          </a:p>
        </p:txBody>
      </p:sp>
      <p:sp>
        <p:nvSpPr>
          <p:cNvPr id="8" name="TextBox 7">
            <a:extLst>
              <a:ext uri="{FF2B5EF4-FFF2-40B4-BE49-F238E27FC236}">
                <a16:creationId xmlns:a16="http://schemas.microsoft.com/office/drawing/2014/main" id="{AA0D13D6-B411-6056-6920-7E12A5C83B2B}"/>
              </a:ext>
            </a:extLst>
          </p:cNvPr>
          <p:cNvSpPr txBox="1"/>
          <p:nvPr/>
        </p:nvSpPr>
        <p:spPr>
          <a:xfrm>
            <a:off x="1686372" y="4525109"/>
            <a:ext cx="7145078" cy="700833"/>
          </a:xfrm>
          <a:prstGeom prst="rect">
            <a:avLst/>
          </a:prstGeom>
          <a:noFill/>
        </p:spPr>
        <p:txBody>
          <a:bodyPr wrap="square">
            <a:spAutoFit/>
          </a:bodyPr>
          <a:lstStyle/>
          <a:p>
            <a:pPr>
              <a:lnSpc>
                <a:spcPct val="115000"/>
              </a:lnSpc>
              <a:spcAft>
                <a:spcPts val="700"/>
              </a:spcAft>
            </a:pPr>
            <a:r>
              <a:rPr lang="en-US" dirty="0"/>
              <a:t>In the structural analysis, a </a:t>
            </a:r>
            <a:r>
              <a:rPr lang="en-US" b="1" dirty="0"/>
              <a:t>60 N thrust force </a:t>
            </a:r>
            <a:r>
              <a:rPr lang="en-US" dirty="0"/>
              <a:t>and a </a:t>
            </a:r>
            <a:r>
              <a:rPr lang="en-US" b="1" dirty="0"/>
              <a:t>20 N payload </a:t>
            </a:r>
            <a:r>
              <a:rPr lang="en-US" dirty="0"/>
              <a:t>are applied to both the frame and the arm.</a:t>
            </a:r>
            <a:endParaRPr lang="en-IN" dirty="0"/>
          </a:p>
        </p:txBody>
      </p:sp>
    </p:spTree>
    <p:extLst>
      <p:ext uri="{BB962C8B-B14F-4D97-AF65-F5344CB8AC3E}">
        <p14:creationId xmlns:p14="http://schemas.microsoft.com/office/powerpoint/2010/main" val="1710977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0C0BE-A17C-0FF8-0075-4F81A7F0C1C2}"/>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895154F1-C237-B239-21D0-A8678747C7B0}"/>
              </a:ext>
            </a:extLst>
          </p:cNvPr>
          <p:cNvPicPr>
            <a:picLocks noChangeAspect="1"/>
          </p:cNvPicPr>
          <p:nvPr/>
        </p:nvPicPr>
        <p:blipFill>
          <a:blip r:embed="rId2">
            <a:clrChange>
              <a:clrFrom>
                <a:srgbClr val="071002"/>
              </a:clrFrom>
              <a:clrTo>
                <a:srgbClr val="071002">
                  <a:alpha val="0"/>
                </a:srgbClr>
              </a:clrTo>
            </a:clrChange>
            <a:extLst>
              <a:ext uri="{BEBA8EAE-BF5A-486C-A8C5-ECC9F3942E4B}">
                <a14:imgProps xmlns:a14="http://schemas.microsoft.com/office/drawing/2010/main">
                  <a14:imgLayer r:embed="rId3">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sp>
        <p:nvSpPr>
          <p:cNvPr id="4" name="Rectangle 3">
            <a:extLst>
              <a:ext uri="{FF2B5EF4-FFF2-40B4-BE49-F238E27FC236}">
                <a16:creationId xmlns:a16="http://schemas.microsoft.com/office/drawing/2014/main" id="{B7EDDDCB-B8BA-C00A-1CA2-7FE0590F29D8}"/>
              </a:ext>
            </a:extLst>
          </p:cNvPr>
          <p:cNvSpPr/>
          <p:nvPr/>
        </p:nvSpPr>
        <p:spPr>
          <a:xfrm>
            <a:off x="0" y="401452"/>
            <a:ext cx="7740502" cy="741600"/>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700"/>
              </a:spcAft>
            </a:pPr>
            <a:r>
              <a:rPr lang="en-US" sz="4400" b="1" dirty="0">
                <a:latin typeface="Times New Roman" panose="02020603050405020304" pitchFamily="18" charset="0"/>
                <a:cs typeface="Times New Roman" panose="02020603050405020304" pitchFamily="18" charset="0"/>
              </a:rPr>
              <a:t>   TOTAL DEFORMATION:</a:t>
            </a:r>
          </a:p>
        </p:txBody>
      </p:sp>
      <p:sp>
        <p:nvSpPr>
          <p:cNvPr id="11" name="TextBox 10">
            <a:extLst>
              <a:ext uri="{FF2B5EF4-FFF2-40B4-BE49-F238E27FC236}">
                <a16:creationId xmlns:a16="http://schemas.microsoft.com/office/drawing/2014/main" id="{3F82B2F5-03AA-57AC-FDB5-90F5A2BE5053}"/>
              </a:ext>
            </a:extLst>
          </p:cNvPr>
          <p:cNvSpPr txBox="1"/>
          <p:nvPr/>
        </p:nvSpPr>
        <p:spPr>
          <a:xfrm>
            <a:off x="120809" y="1614442"/>
            <a:ext cx="5061902" cy="2974276"/>
          </a:xfrm>
          <a:prstGeom prst="rect">
            <a:avLst/>
          </a:prstGeom>
          <a:noFill/>
        </p:spPr>
        <p:txBody>
          <a:bodyPr wrap="square" rtlCol="0">
            <a:spAutoFit/>
          </a:bodyPr>
          <a:lstStyle/>
          <a:p>
            <a:pPr>
              <a:lnSpc>
                <a:spcPct val="115000"/>
              </a:lnSpc>
              <a:spcAft>
                <a:spcPts val="700"/>
              </a:spcAft>
            </a:pPr>
            <a:r>
              <a:rPr lang="en-US" dirty="0"/>
              <a:t>Total Deformation is the magnitude of the total displacement of a point in all directions, showing how far that point has moved from its original position.</a:t>
            </a:r>
          </a:p>
          <a:p>
            <a:pPr>
              <a:lnSpc>
                <a:spcPct val="115000"/>
              </a:lnSpc>
              <a:spcAft>
                <a:spcPts val="700"/>
              </a:spcAft>
            </a:pPr>
            <a:r>
              <a:rPr lang="en-US" b="1" dirty="0"/>
              <a:t>FRAME:</a:t>
            </a:r>
          </a:p>
          <a:p>
            <a:pPr>
              <a:lnSpc>
                <a:spcPct val="115000"/>
              </a:lnSpc>
              <a:spcAft>
                <a:spcPts val="700"/>
              </a:spcAft>
            </a:pPr>
            <a:r>
              <a:rPr lang="en-US" dirty="0"/>
              <a:t>Maximum Deformation: </a:t>
            </a:r>
            <a:r>
              <a:rPr lang="en-US" b="1" dirty="0"/>
              <a:t>12.018</a:t>
            </a:r>
          </a:p>
          <a:p>
            <a:pPr>
              <a:lnSpc>
                <a:spcPct val="115000"/>
              </a:lnSpc>
              <a:spcAft>
                <a:spcPts val="700"/>
              </a:spcAft>
            </a:pPr>
            <a:r>
              <a:rPr lang="en-US" dirty="0"/>
              <a:t>Minimum Deformation: </a:t>
            </a:r>
            <a:r>
              <a:rPr lang="en-US" b="1" dirty="0"/>
              <a:t>0 m </a:t>
            </a:r>
          </a:p>
          <a:p>
            <a:pPr>
              <a:lnSpc>
                <a:spcPct val="115000"/>
              </a:lnSpc>
              <a:spcAft>
                <a:spcPts val="700"/>
              </a:spcAft>
              <a:buNone/>
            </a:pPr>
            <a:endParaRPr lang="en-IN" sz="1800" kern="100" dirty="0">
              <a:effectLst/>
              <a:latin typeface="Liberation Serif"/>
              <a:ea typeface="Noto Serif CJK SC"/>
              <a:cs typeface="Noto Sans Devanagari" panose="020B0502040504020204" pitchFamily="34" charset="0"/>
            </a:endParaRPr>
          </a:p>
        </p:txBody>
      </p:sp>
    </p:spTree>
    <p:extLst>
      <p:ext uri="{BB962C8B-B14F-4D97-AF65-F5344CB8AC3E}">
        <p14:creationId xmlns:p14="http://schemas.microsoft.com/office/powerpoint/2010/main" val="38410538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A12D8-3C56-0591-AB93-38340BC96CF8}"/>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16A5779E-3A30-C7CF-5388-C0E9D98BD747}"/>
              </a:ext>
            </a:extLst>
          </p:cNvPr>
          <p:cNvPicPr>
            <a:picLocks noChangeAspect="1"/>
          </p:cNvPicPr>
          <p:nvPr/>
        </p:nvPicPr>
        <p:blipFill>
          <a:blip r:embed="rId2">
            <a:clrChange>
              <a:clrFrom>
                <a:srgbClr val="071002"/>
              </a:clrFrom>
              <a:clrTo>
                <a:srgbClr val="071002">
                  <a:alpha val="0"/>
                </a:srgbClr>
              </a:clrTo>
            </a:clrChange>
            <a:extLst>
              <a:ext uri="{BEBA8EAE-BF5A-486C-A8C5-ECC9F3942E4B}">
                <a14:imgProps xmlns:a14="http://schemas.microsoft.com/office/drawing/2010/main">
                  <a14:imgLayer r:embed="rId3">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sp>
        <p:nvSpPr>
          <p:cNvPr id="4" name="Rectangle 3">
            <a:extLst>
              <a:ext uri="{FF2B5EF4-FFF2-40B4-BE49-F238E27FC236}">
                <a16:creationId xmlns:a16="http://schemas.microsoft.com/office/drawing/2014/main" id="{72F6E0D8-C521-2503-BCBC-E36BAF5441A3}"/>
              </a:ext>
            </a:extLst>
          </p:cNvPr>
          <p:cNvSpPr/>
          <p:nvPr/>
        </p:nvSpPr>
        <p:spPr>
          <a:xfrm>
            <a:off x="0" y="401452"/>
            <a:ext cx="7740502" cy="741600"/>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700"/>
              </a:spcAft>
            </a:pPr>
            <a:r>
              <a:rPr lang="en-US" sz="4400" b="1" dirty="0">
                <a:latin typeface="Times New Roman" panose="02020603050405020304" pitchFamily="18" charset="0"/>
                <a:cs typeface="Times New Roman" panose="02020603050405020304" pitchFamily="18" charset="0"/>
              </a:rPr>
              <a:t>   TOTAL DEFORMATION:</a:t>
            </a:r>
          </a:p>
        </p:txBody>
      </p:sp>
      <p:sp>
        <p:nvSpPr>
          <p:cNvPr id="11" name="TextBox 10">
            <a:extLst>
              <a:ext uri="{FF2B5EF4-FFF2-40B4-BE49-F238E27FC236}">
                <a16:creationId xmlns:a16="http://schemas.microsoft.com/office/drawing/2014/main" id="{5D9D212A-2260-CD1A-D2CE-4AE1900AD065}"/>
              </a:ext>
            </a:extLst>
          </p:cNvPr>
          <p:cNvSpPr txBox="1"/>
          <p:nvPr/>
        </p:nvSpPr>
        <p:spPr>
          <a:xfrm>
            <a:off x="120809" y="1614442"/>
            <a:ext cx="5061902" cy="2711640"/>
          </a:xfrm>
          <a:prstGeom prst="rect">
            <a:avLst/>
          </a:prstGeom>
          <a:noFill/>
        </p:spPr>
        <p:txBody>
          <a:bodyPr wrap="square" rtlCol="0">
            <a:spAutoFit/>
          </a:bodyPr>
          <a:lstStyle/>
          <a:p>
            <a:pPr>
              <a:lnSpc>
                <a:spcPct val="115000"/>
              </a:lnSpc>
              <a:spcAft>
                <a:spcPts val="700"/>
              </a:spcAft>
            </a:pPr>
            <a:r>
              <a:rPr lang="en-US" dirty="0"/>
              <a:t>Total Deformation is the magnitude of the total displacement of a point in all directions, showing how far that point has moved from its original position.</a:t>
            </a:r>
          </a:p>
          <a:p>
            <a:pPr>
              <a:lnSpc>
                <a:spcPct val="115000"/>
              </a:lnSpc>
              <a:spcAft>
                <a:spcPts val="700"/>
              </a:spcAft>
            </a:pPr>
            <a:r>
              <a:rPr lang="en-US" b="1" dirty="0"/>
              <a:t>ARMS:</a:t>
            </a:r>
          </a:p>
          <a:p>
            <a:r>
              <a:rPr lang="en-US" dirty="0"/>
              <a:t>Maximum Deformation: </a:t>
            </a:r>
            <a:r>
              <a:rPr lang="en-US" b="1" dirty="0"/>
              <a:t>12.018 mm</a:t>
            </a:r>
            <a:endParaRPr lang="en-IN" dirty="0"/>
          </a:p>
          <a:p>
            <a:r>
              <a:rPr lang="en-US" dirty="0"/>
              <a:t>Minimum Deformation: </a:t>
            </a:r>
            <a:r>
              <a:rPr lang="en-US" b="1" dirty="0"/>
              <a:t>0 mm</a:t>
            </a:r>
            <a:endParaRPr lang="en-IN" dirty="0"/>
          </a:p>
          <a:p>
            <a:pPr>
              <a:lnSpc>
                <a:spcPct val="115000"/>
              </a:lnSpc>
              <a:spcAft>
                <a:spcPts val="700"/>
              </a:spcAft>
              <a:buNone/>
            </a:pPr>
            <a:endParaRPr lang="en-IN" sz="1800" kern="100" dirty="0">
              <a:effectLst/>
              <a:latin typeface="Liberation Serif"/>
              <a:ea typeface="Noto Serif CJK SC"/>
              <a:cs typeface="Noto Sans Devanagari" panose="020B0502040504020204" pitchFamily="34" charset="0"/>
            </a:endParaRPr>
          </a:p>
        </p:txBody>
      </p:sp>
      <p:sp>
        <p:nvSpPr>
          <p:cNvPr id="5" name="TextBox 4">
            <a:extLst>
              <a:ext uri="{FF2B5EF4-FFF2-40B4-BE49-F238E27FC236}">
                <a16:creationId xmlns:a16="http://schemas.microsoft.com/office/drawing/2014/main" id="{6757C1FB-252E-9DA8-86E8-64348A888372}"/>
              </a:ext>
            </a:extLst>
          </p:cNvPr>
          <p:cNvSpPr txBox="1"/>
          <p:nvPr/>
        </p:nvSpPr>
        <p:spPr>
          <a:xfrm>
            <a:off x="77418" y="4445477"/>
            <a:ext cx="6018582" cy="959943"/>
          </a:xfrm>
          <a:prstGeom prst="rect">
            <a:avLst/>
          </a:prstGeom>
          <a:noFill/>
        </p:spPr>
        <p:txBody>
          <a:bodyPr wrap="square">
            <a:spAutoFit/>
          </a:bodyPr>
          <a:lstStyle/>
          <a:p>
            <a:pPr marL="104775" marR="95250" algn="just">
              <a:lnSpc>
                <a:spcPct val="107000"/>
              </a:lnSpc>
              <a:spcBef>
                <a:spcPts val="410"/>
              </a:spcBef>
            </a:pPr>
            <a:r>
              <a:rPr lang="en-US" sz="1800" dirty="0">
                <a:effectLst/>
                <a:latin typeface="Arial MT"/>
                <a:ea typeface="Arial MT"/>
                <a:cs typeface="Arial MT"/>
              </a:rPr>
              <a:t>The simulation showed very little deformation in the Frame and Arms, which means the design is structurally strong.</a:t>
            </a:r>
            <a:endParaRPr lang="en-IN" sz="1800" dirty="0">
              <a:effectLst/>
              <a:latin typeface="Arial MT"/>
              <a:ea typeface="Arial MT"/>
              <a:cs typeface="Arial MT"/>
            </a:endParaRPr>
          </a:p>
        </p:txBody>
      </p:sp>
      <p:sp>
        <p:nvSpPr>
          <p:cNvPr id="6" name="Rectangle 5">
            <a:extLst>
              <a:ext uri="{FF2B5EF4-FFF2-40B4-BE49-F238E27FC236}">
                <a16:creationId xmlns:a16="http://schemas.microsoft.com/office/drawing/2014/main" id="{7158A71D-F336-3D9C-0035-614A9258BD6F}"/>
              </a:ext>
            </a:extLst>
          </p:cNvPr>
          <p:cNvSpPr/>
          <p:nvPr/>
        </p:nvSpPr>
        <p:spPr>
          <a:xfrm>
            <a:off x="6354555" y="1899000"/>
            <a:ext cx="5580000" cy="306000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916271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AAF91-4BD2-1305-F3BA-083DF42CAB47}"/>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09BB5948-EE40-2EA9-2F4D-982EF93201D2}"/>
              </a:ext>
            </a:extLst>
          </p:cNvPr>
          <p:cNvPicPr>
            <a:picLocks noChangeAspect="1"/>
          </p:cNvPicPr>
          <p:nvPr/>
        </p:nvPicPr>
        <p:blipFill>
          <a:blip r:embed="rId2">
            <a:clrChange>
              <a:clrFrom>
                <a:srgbClr val="071002"/>
              </a:clrFrom>
              <a:clrTo>
                <a:srgbClr val="071002">
                  <a:alpha val="0"/>
                </a:srgbClr>
              </a:clrTo>
            </a:clrChange>
            <a:extLst>
              <a:ext uri="{BEBA8EAE-BF5A-486C-A8C5-ECC9F3942E4B}">
                <a14:imgProps xmlns:a14="http://schemas.microsoft.com/office/drawing/2010/main">
                  <a14:imgLayer r:embed="rId3">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sp>
        <p:nvSpPr>
          <p:cNvPr id="4" name="Rectangle 3">
            <a:extLst>
              <a:ext uri="{FF2B5EF4-FFF2-40B4-BE49-F238E27FC236}">
                <a16:creationId xmlns:a16="http://schemas.microsoft.com/office/drawing/2014/main" id="{81A55985-8096-AADB-018E-6A37E1468011}"/>
              </a:ext>
            </a:extLst>
          </p:cNvPr>
          <p:cNvSpPr/>
          <p:nvPr/>
        </p:nvSpPr>
        <p:spPr>
          <a:xfrm>
            <a:off x="-1" y="401452"/>
            <a:ext cx="9611833" cy="741600"/>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700"/>
              </a:spcAft>
            </a:pPr>
            <a:r>
              <a:rPr lang="en-US" sz="4400" b="1" dirty="0">
                <a:latin typeface="Times New Roman" panose="02020603050405020304" pitchFamily="18" charset="0"/>
                <a:cs typeface="Times New Roman" panose="02020603050405020304" pitchFamily="18" charset="0"/>
              </a:rPr>
              <a:t>   EQUIVQLENT ELASTIC STRAIN:</a:t>
            </a:r>
          </a:p>
        </p:txBody>
      </p:sp>
      <p:sp>
        <p:nvSpPr>
          <p:cNvPr id="11" name="TextBox 10">
            <a:extLst>
              <a:ext uri="{FF2B5EF4-FFF2-40B4-BE49-F238E27FC236}">
                <a16:creationId xmlns:a16="http://schemas.microsoft.com/office/drawing/2014/main" id="{0752D2A1-3D67-6342-F808-DEE9E3330E26}"/>
              </a:ext>
            </a:extLst>
          </p:cNvPr>
          <p:cNvSpPr txBox="1"/>
          <p:nvPr/>
        </p:nvSpPr>
        <p:spPr>
          <a:xfrm>
            <a:off x="120809" y="1614442"/>
            <a:ext cx="5061902" cy="2737160"/>
          </a:xfrm>
          <a:prstGeom prst="rect">
            <a:avLst/>
          </a:prstGeom>
          <a:noFill/>
        </p:spPr>
        <p:txBody>
          <a:bodyPr wrap="square" rtlCol="0">
            <a:spAutoFit/>
          </a:bodyPr>
          <a:lstStyle/>
          <a:p>
            <a:pPr>
              <a:lnSpc>
                <a:spcPct val="115000"/>
              </a:lnSpc>
              <a:spcAft>
                <a:spcPts val="700"/>
              </a:spcAft>
            </a:pPr>
            <a:r>
              <a:rPr lang="en-US" dirty="0"/>
              <a:t>Equivalent Elastic Strain is the amount of strain energy per unit volume a material stores under elastic deformation, expressed as a single value, typically used for comparing to yield strain limits.</a:t>
            </a:r>
          </a:p>
          <a:p>
            <a:pPr>
              <a:lnSpc>
                <a:spcPct val="115000"/>
              </a:lnSpc>
              <a:spcAft>
                <a:spcPts val="700"/>
              </a:spcAft>
            </a:pPr>
            <a:r>
              <a:rPr lang="en-US" b="1" dirty="0"/>
              <a:t>FRAME:</a:t>
            </a:r>
          </a:p>
          <a:p>
            <a:r>
              <a:rPr lang="en-US" dirty="0"/>
              <a:t>Maximum Elastic Strain: </a:t>
            </a:r>
            <a:r>
              <a:rPr lang="en-US" b="1" dirty="0"/>
              <a:t>0.0043213</a:t>
            </a:r>
            <a:endParaRPr lang="en-IN" dirty="0"/>
          </a:p>
          <a:p>
            <a:r>
              <a:rPr lang="en-US" dirty="0"/>
              <a:t>Minimum Elastic Strain: </a:t>
            </a:r>
            <a:r>
              <a:rPr lang="en-US" b="1" dirty="0"/>
              <a:t>0 </a:t>
            </a:r>
            <a:endParaRPr lang="en-IN" sz="1800" kern="100" dirty="0">
              <a:effectLst/>
              <a:latin typeface="Liberation Serif"/>
              <a:ea typeface="Noto Serif CJK SC"/>
              <a:cs typeface="Noto Sans Devanagari" panose="020B0502040504020204" pitchFamily="34" charset="0"/>
            </a:endParaRPr>
          </a:p>
        </p:txBody>
      </p:sp>
    </p:spTree>
    <p:extLst>
      <p:ext uri="{BB962C8B-B14F-4D97-AF65-F5344CB8AC3E}">
        <p14:creationId xmlns:p14="http://schemas.microsoft.com/office/powerpoint/2010/main" val="16900001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027A5-12F4-D712-0E74-17D354A8043C}"/>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83E65326-1464-30C7-B9CB-745BFD939CE6}"/>
              </a:ext>
            </a:extLst>
          </p:cNvPr>
          <p:cNvPicPr>
            <a:picLocks noChangeAspect="1"/>
          </p:cNvPicPr>
          <p:nvPr/>
        </p:nvPicPr>
        <p:blipFill>
          <a:blip r:embed="rId2">
            <a:clrChange>
              <a:clrFrom>
                <a:srgbClr val="071002"/>
              </a:clrFrom>
              <a:clrTo>
                <a:srgbClr val="071002">
                  <a:alpha val="0"/>
                </a:srgbClr>
              </a:clrTo>
            </a:clrChange>
            <a:extLst>
              <a:ext uri="{BEBA8EAE-BF5A-486C-A8C5-ECC9F3942E4B}">
                <a14:imgProps xmlns:a14="http://schemas.microsoft.com/office/drawing/2010/main">
                  <a14:imgLayer r:embed="rId3">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sp>
        <p:nvSpPr>
          <p:cNvPr id="4" name="Rectangle 3">
            <a:extLst>
              <a:ext uri="{FF2B5EF4-FFF2-40B4-BE49-F238E27FC236}">
                <a16:creationId xmlns:a16="http://schemas.microsoft.com/office/drawing/2014/main" id="{E8620CF6-5FE7-7973-E45F-EE76CB1FFB05}"/>
              </a:ext>
            </a:extLst>
          </p:cNvPr>
          <p:cNvSpPr/>
          <p:nvPr/>
        </p:nvSpPr>
        <p:spPr>
          <a:xfrm>
            <a:off x="-1" y="401452"/>
            <a:ext cx="9611833" cy="741600"/>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700"/>
              </a:spcAft>
            </a:pPr>
            <a:r>
              <a:rPr lang="en-US" sz="4400" b="1" dirty="0">
                <a:latin typeface="Times New Roman" panose="02020603050405020304" pitchFamily="18" charset="0"/>
                <a:cs typeface="Times New Roman" panose="02020603050405020304" pitchFamily="18" charset="0"/>
              </a:rPr>
              <a:t>   EQUIVQLENT ELASTIC STRAIN:</a:t>
            </a:r>
          </a:p>
        </p:txBody>
      </p:sp>
      <p:sp>
        <p:nvSpPr>
          <p:cNvPr id="11" name="TextBox 10">
            <a:extLst>
              <a:ext uri="{FF2B5EF4-FFF2-40B4-BE49-F238E27FC236}">
                <a16:creationId xmlns:a16="http://schemas.microsoft.com/office/drawing/2014/main" id="{5DC17CDD-350E-7B16-D2F9-078B98DF5CBC}"/>
              </a:ext>
            </a:extLst>
          </p:cNvPr>
          <p:cNvSpPr txBox="1"/>
          <p:nvPr/>
        </p:nvSpPr>
        <p:spPr>
          <a:xfrm>
            <a:off x="120809" y="1614442"/>
            <a:ext cx="5061902" cy="4003084"/>
          </a:xfrm>
          <a:prstGeom prst="rect">
            <a:avLst/>
          </a:prstGeom>
          <a:noFill/>
        </p:spPr>
        <p:txBody>
          <a:bodyPr wrap="square" rtlCol="0">
            <a:spAutoFit/>
          </a:bodyPr>
          <a:lstStyle/>
          <a:p>
            <a:pPr>
              <a:lnSpc>
                <a:spcPct val="115000"/>
              </a:lnSpc>
              <a:spcAft>
                <a:spcPts val="700"/>
              </a:spcAft>
            </a:pPr>
            <a:r>
              <a:rPr lang="en-US" dirty="0"/>
              <a:t>Equivalent Elastic Strain is the amount of strain energy per unit volume a material stores under elastic deformation, expressed as a single value, typically used for comparing to yield strain limits.</a:t>
            </a:r>
          </a:p>
          <a:p>
            <a:r>
              <a:rPr lang="en-US" b="1" dirty="0"/>
              <a:t>ARMS:</a:t>
            </a:r>
          </a:p>
          <a:p>
            <a:r>
              <a:rPr lang="en-US" dirty="0"/>
              <a:t>Maximum Elastic Strain: </a:t>
            </a:r>
            <a:r>
              <a:rPr lang="en-US" b="1" dirty="0"/>
              <a:t>0.0034692</a:t>
            </a:r>
            <a:endParaRPr lang="en-IN" dirty="0"/>
          </a:p>
          <a:p>
            <a:r>
              <a:rPr lang="en-US" dirty="0"/>
              <a:t>Minimum Elastic Strain: </a:t>
            </a:r>
            <a:r>
              <a:rPr lang="en-US" b="1" dirty="0"/>
              <a:t>0</a:t>
            </a:r>
          </a:p>
          <a:p>
            <a:endParaRPr lang="en-IN" dirty="0"/>
          </a:p>
          <a:p>
            <a:r>
              <a:rPr lang="en-US" dirty="0"/>
              <a:t>The strain values stayed within safe limits, indicating the material only experienced elastic deformation.</a:t>
            </a:r>
            <a:endParaRPr lang="en-IN" dirty="0"/>
          </a:p>
          <a:p>
            <a:pPr>
              <a:lnSpc>
                <a:spcPct val="115000"/>
              </a:lnSpc>
              <a:spcAft>
                <a:spcPts val="700"/>
              </a:spcAft>
            </a:pPr>
            <a:endParaRPr lang="en-US" b="1" dirty="0"/>
          </a:p>
        </p:txBody>
      </p:sp>
    </p:spTree>
    <p:extLst>
      <p:ext uri="{BB962C8B-B14F-4D97-AF65-F5344CB8AC3E}">
        <p14:creationId xmlns:p14="http://schemas.microsoft.com/office/powerpoint/2010/main" val="13877170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D077E-9D44-6771-2CF7-8AC5A283D159}"/>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33F9517A-DFE5-03B0-CD26-D369D9339C69}"/>
              </a:ext>
            </a:extLst>
          </p:cNvPr>
          <p:cNvPicPr>
            <a:picLocks noChangeAspect="1"/>
          </p:cNvPicPr>
          <p:nvPr/>
        </p:nvPicPr>
        <p:blipFill>
          <a:blip r:embed="rId2">
            <a:clrChange>
              <a:clrFrom>
                <a:srgbClr val="071002"/>
              </a:clrFrom>
              <a:clrTo>
                <a:srgbClr val="071002">
                  <a:alpha val="0"/>
                </a:srgbClr>
              </a:clrTo>
            </a:clrChange>
            <a:extLst>
              <a:ext uri="{BEBA8EAE-BF5A-486C-A8C5-ECC9F3942E4B}">
                <a14:imgProps xmlns:a14="http://schemas.microsoft.com/office/drawing/2010/main">
                  <a14:imgLayer r:embed="rId3">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sp>
        <p:nvSpPr>
          <p:cNvPr id="4" name="Rectangle 3">
            <a:extLst>
              <a:ext uri="{FF2B5EF4-FFF2-40B4-BE49-F238E27FC236}">
                <a16:creationId xmlns:a16="http://schemas.microsoft.com/office/drawing/2014/main" id="{B65FE7A7-2DA5-A50C-30E9-F8B0C1B6C114}"/>
              </a:ext>
            </a:extLst>
          </p:cNvPr>
          <p:cNvSpPr/>
          <p:nvPr/>
        </p:nvSpPr>
        <p:spPr>
          <a:xfrm>
            <a:off x="-1" y="401452"/>
            <a:ext cx="9611833" cy="741600"/>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700"/>
              </a:spcAft>
            </a:pPr>
            <a:r>
              <a:rPr lang="en-US" sz="4400" b="1" dirty="0">
                <a:latin typeface="Times New Roman" panose="02020603050405020304" pitchFamily="18" charset="0"/>
                <a:cs typeface="Times New Roman" panose="02020603050405020304" pitchFamily="18" charset="0"/>
              </a:rPr>
              <a:t>   EQUIVQLENT STRESS:</a:t>
            </a:r>
          </a:p>
        </p:txBody>
      </p:sp>
      <p:sp>
        <p:nvSpPr>
          <p:cNvPr id="11" name="TextBox 10">
            <a:extLst>
              <a:ext uri="{FF2B5EF4-FFF2-40B4-BE49-F238E27FC236}">
                <a16:creationId xmlns:a16="http://schemas.microsoft.com/office/drawing/2014/main" id="{E71E11A6-D761-27E3-FE37-7FCF2860EADF}"/>
              </a:ext>
            </a:extLst>
          </p:cNvPr>
          <p:cNvSpPr txBox="1"/>
          <p:nvPr/>
        </p:nvSpPr>
        <p:spPr>
          <a:xfrm>
            <a:off x="120809" y="1614442"/>
            <a:ext cx="5061902" cy="3199274"/>
          </a:xfrm>
          <a:prstGeom prst="rect">
            <a:avLst/>
          </a:prstGeom>
          <a:noFill/>
        </p:spPr>
        <p:txBody>
          <a:bodyPr wrap="square" rtlCol="0">
            <a:spAutoFit/>
          </a:bodyPr>
          <a:lstStyle/>
          <a:p>
            <a:pPr>
              <a:lnSpc>
                <a:spcPct val="115000"/>
              </a:lnSpc>
              <a:spcAft>
                <a:spcPts val="700"/>
              </a:spcAft>
            </a:pPr>
            <a:r>
              <a:rPr lang="en-US" dirty="0"/>
              <a:t>Equivalent Stress (also known as von Mises stress) is a calculated value that combines the different normal and shear stress components into one value, making it easier to compare against the material's yield strength.</a:t>
            </a:r>
          </a:p>
          <a:p>
            <a:pPr>
              <a:lnSpc>
                <a:spcPct val="115000"/>
              </a:lnSpc>
              <a:spcAft>
                <a:spcPts val="700"/>
              </a:spcAft>
            </a:pPr>
            <a:r>
              <a:rPr lang="en-US" b="1" dirty="0"/>
              <a:t>FRAME:</a:t>
            </a:r>
          </a:p>
          <a:p>
            <a:pPr>
              <a:lnSpc>
                <a:spcPct val="115000"/>
              </a:lnSpc>
              <a:spcAft>
                <a:spcPts val="700"/>
              </a:spcAft>
            </a:pPr>
            <a:r>
              <a:rPr lang="en-US" dirty="0"/>
              <a:t>Maximum Elastic Strain: </a:t>
            </a:r>
            <a:r>
              <a:rPr lang="en-US" b="1" dirty="0"/>
              <a:t>137.18 MPa</a:t>
            </a:r>
            <a:endParaRPr lang="en-IN" dirty="0"/>
          </a:p>
          <a:p>
            <a:pPr>
              <a:lnSpc>
                <a:spcPct val="115000"/>
              </a:lnSpc>
              <a:spcAft>
                <a:spcPts val="700"/>
              </a:spcAft>
            </a:pPr>
            <a:r>
              <a:rPr lang="en-US" dirty="0"/>
              <a:t>Minimum Elastic Strain: </a:t>
            </a:r>
            <a:r>
              <a:rPr lang="en-US" b="1" dirty="0"/>
              <a:t>0 </a:t>
            </a:r>
          </a:p>
        </p:txBody>
      </p:sp>
    </p:spTree>
    <p:extLst>
      <p:ext uri="{BB962C8B-B14F-4D97-AF65-F5344CB8AC3E}">
        <p14:creationId xmlns:p14="http://schemas.microsoft.com/office/powerpoint/2010/main" val="1701859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32DCD-0B48-2C84-63C6-E654DAE3A485}"/>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D915915C-A7AC-6808-3268-4D213EFE0E9F}"/>
              </a:ext>
            </a:extLst>
          </p:cNvPr>
          <p:cNvPicPr>
            <a:picLocks noChangeAspect="1"/>
          </p:cNvPicPr>
          <p:nvPr/>
        </p:nvPicPr>
        <p:blipFill>
          <a:blip r:embed="rId2">
            <a:clrChange>
              <a:clrFrom>
                <a:srgbClr val="071002"/>
              </a:clrFrom>
              <a:clrTo>
                <a:srgbClr val="071002">
                  <a:alpha val="0"/>
                </a:srgbClr>
              </a:clrTo>
            </a:clrChange>
            <a:extLst>
              <a:ext uri="{BEBA8EAE-BF5A-486C-A8C5-ECC9F3942E4B}">
                <a14:imgProps xmlns:a14="http://schemas.microsoft.com/office/drawing/2010/main">
                  <a14:imgLayer r:embed="rId3">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sp>
        <p:nvSpPr>
          <p:cNvPr id="4" name="Rectangle 3">
            <a:extLst>
              <a:ext uri="{FF2B5EF4-FFF2-40B4-BE49-F238E27FC236}">
                <a16:creationId xmlns:a16="http://schemas.microsoft.com/office/drawing/2014/main" id="{6700C0D8-BC82-CFFF-6803-03EDFB6C8AA5}"/>
              </a:ext>
            </a:extLst>
          </p:cNvPr>
          <p:cNvSpPr/>
          <p:nvPr/>
        </p:nvSpPr>
        <p:spPr>
          <a:xfrm>
            <a:off x="-1" y="401452"/>
            <a:ext cx="9611833" cy="741600"/>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700"/>
              </a:spcAft>
            </a:pPr>
            <a:r>
              <a:rPr lang="en-US" sz="4400" b="1" dirty="0">
                <a:latin typeface="Times New Roman" panose="02020603050405020304" pitchFamily="18" charset="0"/>
                <a:cs typeface="Times New Roman" panose="02020603050405020304" pitchFamily="18" charset="0"/>
              </a:rPr>
              <a:t>   EQUIVQLENT STRESS:</a:t>
            </a:r>
          </a:p>
        </p:txBody>
      </p:sp>
      <p:sp>
        <p:nvSpPr>
          <p:cNvPr id="11" name="TextBox 10">
            <a:extLst>
              <a:ext uri="{FF2B5EF4-FFF2-40B4-BE49-F238E27FC236}">
                <a16:creationId xmlns:a16="http://schemas.microsoft.com/office/drawing/2014/main" id="{E2B96AA5-BD64-EC58-4C55-53E75A756447}"/>
              </a:ext>
            </a:extLst>
          </p:cNvPr>
          <p:cNvSpPr txBox="1"/>
          <p:nvPr/>
        </p:nvSpPr>
        <p:spPr>
          <a:xfrm>
            <a:off x="120809" y="1614442"/>
            <a:ext cx="5061902" cy="4321632"/>
          </a:xfrm>
          <a:prstGeom prst="rect">
            <a:avLst/>
          </a:prstGeom>
          <a:noFill/>
        </p:spPr>
        <p:txBody>
          <a:bodyPr wrap="square" rtlCol="0">
            <a:spAutoFit/>
          </a:bodyPr>
          <a:lstStyle/>
          <a:p>
            <a:pPr>
              <a:lnSpc>
                <a:spcPct val="115000"/>
              </a:lnSpc>
              <a:spcAft>
                <a:spcPts val="700"/>
              </a:spcAft>
            </a:pPr>
            <a:r>
              <a:rPr lang="en-US" dirty="0"/>
              <a:t>Equivalent Stress (also known as von Mises stress) is a calculated value that combines the different normal and shear stress components into one value, making it easier to compare against the material's yield strength.</a:t>
            </a:r>
          </a:p>
          <a:p>
            <a:r>
              <a:rPr lang="en-US" b="1" dirty="0"/>
              <a:t>ARMS:</a:t>
            </a:r>
          </a:p>
          <a:p>
            <a:r>
              <a:rPr lang="en-US" dirty="0"/>
              <a:t>Maximum Elastic Strain: </a:t>
            </a:r>
            <a:r>
              <a:rPr lang="en-US" b="1" dirty="0"/>
              <a:t>18.502 MPa</a:t>
            </a:r>
            <a:endParaRPr lang="en-IN" dirty="0"/>
          </a:p>
          <a:p>
            <a:r>
              <a:rPr lang="en-US" dirty="0"/>
              <a:t>Minimum Elastic Strain: </a:t>
            </a:r>
            <a:r>
              <a:rPr lang="en-US" b="1" dirty="0"/>
              <a:t>0</a:t>
            </a:r>
          </a:p>
          <a:p>
            <a:endParaRPr lang="en-IN" dirty="0"/>
          </a:p>
          <a:p>
            <a:r>
              <a:rPr lang="en-US" dirty="0"/>
              <a:t>The stress values were all below the yield strength, confirming that the structure is safe under load.</a:t>
            </a:r>
            <a:endParaRPr lang="en-IN" dirty="0"/>
          </a:p>
          <a:p>
            <a:pPr>
              <a:lnSpc>
                <a:spcPct val="115000"/>
              </a:lnSpc>
              <a:spcAft>
                <a:spcPts val="700"/>
              </a:spcAft>
            </a:pPr>
            <a:endParaRPr lang="en-US" b="1" dirty="0"/>
          </a:p>
        </p:txBody>
      </p:sp>
    </p:spTree>
    <p:extLst>
      <p:ext uri="{BB962C8B-B14F-4D97-AF65-F5344CB8AC3E}">
        <p14:creationId xmlns:p14="http://schemas.microsoft.com/office/powerpoint/2010/main" val="18621481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8D4BB-B55E-D1D9-007B-99DD3235935F}"/>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D36DDCD-C7A1-C405-75BF-D8711562FEDA}"/>
              </a:ext>
            </a:extLst>
          </p:cNvPr>
          <p:cNvPicPr>
            <a:picLocks noChangeAspect="1"/>
          </p:cNvPicPr>
          <p:nvPr/>
        </p:nvPicPr>
        <p:blipFill>
          <a:blip r:embed="rId2">
            <a:clrChange>
              <a:clrFrom>
                <a:srgbClr val="071002"/>
              </a:clrFrom>
              <a:clrTo>
                <a:srgbClr val="071002">
                  <a:alpha val="0"/>
                </a:srgbClr>
              </a:clrTo>
            </a:clrChange>
            <a:extLst>
              <a:ext uri="{BEBA8EAE-BF5A-486C-A8C5-ECC9F3942E4B}">
                <a14:imgProps xmlns:a14="http://schemas.microsoft.com/office/drawing/2010/main">
                  <a14:imgLayer r:embed="rId3">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sp>
        <p:nvSpPr>
          <p:cNvPr id="4" name="Rectangle 3">
            <a:extLst>
              <a:ext uri="{FF2B5EF4-FFF2-40B4-BE49-F238E27FC236}">
                <a16:creationId xmlns:a16="http://schemas.microsoft.com/office/drawing/2014/main" id="{7F43D56E-3362-D3AE-3232-75268F6666E7}"/>
              </a:ext>
            </a:extLst>
          </p:cNvPr>
          <p:cNvSpPr/>
          <p:nvPr/>
        </p:nvSpPr>
        <p:spPr>
          <a:xfrm>
            <a:off x="-1021080" y="6338274"/>
            <a:ext cx="14234160" cy="6004560"/>
          </a:xfrm>
          <a:prstGeom prst="rect">
            <a:avLst/>
          </a:prstGeom>
          <a:gradFill>
            <a:gsLst>
              <a:gs pos="0">
                <a:schemeClr val="bg1">
                  <a:lumMod val="95000"/>
                  <a:lumOff val="5000"/>
                  <a:alpha val="0"/>
                </a:schemeClr>
              </a:gs>
              <a:gs pos="77000">
                <a:schemeClr val="tx2">
                  <a:lumMod val="10000"/>
                </a:schemeClr>
              </a:gs>
            </a:gsLst>
            <a:lin ang="612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DF1E28BE-D0E5-89A8-7CDD-CF0E6ADD48A9}"/>
              </a:ext>
            </a:extLst>
          </p:cNvPr>
          <p:cNvSpPr/>
          <p:nvPr/>
        </p:nvSpPr>
        <p:spPr>
          <a:xfrm>
            <a:off x="773723" y="1367360"/>
            <a:ext cx="10644553" cy="2860431"/>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5CD7C0F2-B7B1-F5B2-8FBF-54DBFED62DF5}"/>
              </a:ext>
            </a:extLst>
          </p:cNvPr>
          <p:cNvSpPr txBox="1"/>
          <p:nvPr/>
        </p:nvSpPr>
        <p:spPr>
          <a:xfrm>
            <a:off x="773723" y="1643413"/>
            <a:ext cx="10905659" cy="2308324"/>
          </a:xfrm>
          <a:prstGeom prst="rect">
            <a:avLst/>
          </a:prstGeom>
          <a:noFill/>
        </p:spPr>
        <p:txBody>
          <a:bodyPr wrap="square" rtlCol="0">
            <a:spAutoFit/>
          </a:bodyPr>
          <a:lstStyle/>
          <a:p>
            <a:r>
              <a:rPr lang="en-IN" sz="7200" dirty="0"/>
              <a:t>AUTOMATIC DETECTION</a:t>
            </a:r>
          </a:p>
          <a:p>
            <a:r>
              <a:rPr lang="en-IN" sz="7200" dirty="0"/>
              <a:t>&amp; GEOTAGGING </a:t>
            </a:r>
          </a:p>
        </p:txBody>
      </p:sp>
    </p:spTree>
    <p:extLst>
      <p:ext uri="{BB962C8B-B14F-4D97-AF65-F5344CB8AC3E}">
        <p14:creationId xmlns:p14="http://schemas.microsoft.com/office/powerpoint/2010/main" val="23174300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CB57044-48FA-30CD-0D32-BAB22828AB6A}"/>
              </a:ext>
            </a:extLst>
          </p:cNvPr>
          <p:cNvPicPr>
            <a:picLocks noChangeAspect="1"/>
          </p:cNvPicPr>
          <p:nvPr/>
        </p:nvPicPr>
        <p:blipFill>
          <a:blip r:embed="rId3">
            <a:clrChange>
              <a:clrFrom>
                <a:srgbClr val="071002"/>
              </a:clrFrom>
              <a:clrTo>
                <a:srgbClr val="071002">
                  <a:alpha val="0"/>
                </a:srgbClr>
              </a:clrTo>
            </a:clrChange>
            <a:extLst>
              <a:ext uri="{BEBA8EAE-BF5A-486C-A8C5-ECC9F3942E4B}">
                <a14:imgProps xmlns:a14="http://schemas.microsoft.com/office/drawing/2010/main">
                  <a14:imgLayer r:embed="rId4">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sp>
        <p:nvSpPr>
          <p:cNvPr id="6" name="椭圆 5"/>
          <p:cNvSpPr/>
          <p:nvPr/>
        </p:nvSpPr>
        <p:spPr>
          <a:xfrm>
            <a:off x="3701642" y="4463642"/>
            <a:ext cx="4788716" cy="2394358"/>
          </a:xfrm>
          <a:custGeom>
            <a:avLst/>
            <a:gdLst>
              <a:gd name="connsiteX0" fmla="*/ 0 w 4788715"/>
              <a:gd name="connsiteY0" fmla="*/ 2394358 h 4788715"/>
              <a:gd name="connsiteX1" fmla="*/ 2394358 w 4788715"/>
              <a:gd name="connsiteY1" fmla="*/ 0 h 4788715"/>
              <a:gd name="connsiteX2" fmla="*/ 4788716 w 4788715"/>
              <a:gd name="connsiteY2" fmla="*/ 2394358 h 4788715"/>
              <a:gd name="connsiteX3" fmla="*/ 2394358 w 4788715"/>
              <a:gd name="connsiteY3" fmla="*/ 4788716 h 4788715"/>
              <a:gd name="connsiteX4" fmla="*/ 0 w 4788715"/>
              <a:gd name="connsiteY4" fmla="*/ 2394358 h 4788715"/>
              <a:gd name="connsiteX0" fmla="*/ 0 w 4788716"/>
              <a:gd name="connsiteY0" fmla="*/ 2394358 h 4788716"/>
              <a:gd name="connsiteX1" fmla="*/ 2394358 w 4788716"/>
              <a:gd name="connsiteY1" fmla="*/ 0 h 4788716"/>
              <a:gd name="connsiteX2" fmla="*/ 4788716 w 4788716"/>
              <a:gd name="connsiteY2" fmla="*/ 2394358 h 4788716"/>
              <a:gd name="connsiteX3" fmla="*/ 2394358 w 4788716"/>
              <a:gd name="connsiteY3" fmla="*/ 4788716 h 4788716"/>
              <a:gd name="connsiteX4" fmla="*/ 91440 w 4788716"/>
              <a:gd name="connsiteY4" fmla="*/ 2485798 h 4788716"/>
              <a:gd name="connsiteX0" fmla="*/ 0 w 4788716"/>
              <a:gd name="connsiteY0" fmla="*/ 2394358 h 4789578"/>
              <a:gd name="connsiteX1" fmla="*/ 2394358 w 4788716"/>
              <a:gd name="connsiteY1" fmla="*/ 0 h 4789578"/>
              <a:gd name="connsiteX2" fmla="*/ 4788716 w 4788716"/>
              <a:gd name="connsiteY2" fmla="*/ 2394358 h 4789578"/>
              <a:gd name="connsiteX3" fmla="*/ 2394358 w 4788716"/>
              <a:gd name="connsiteY3" fmla="*/ 4788716 h 4789578"/>
              <a:gd name="connsiteX4" fmla="*/ 605790 w 4788716"/>
              <a:gd name="connsiteY4" fmla="*/ 2600098 h 4789578"/>
              <a:gd name="connsiteX0" fmla="*/ 0 w 4788716"/>
              <a:gd name="connsiteY0" fmla="*/ 2394358 h 4788716"/>
              <a:gd name="connsiteX1" fmla="*/ 2394358 w 4788716"/>
              <a:gd name="connsiteY1" fmla="*/ 0 h 4788716"/>
              <a:gd name="connsiteX2" fmla="*/ 4788716 w 4788716"/>
              <a:gd name="connsiteY2" fmla="*/ 2394358 h 4788716"/>
              <a:gd name="connsiteX3" fmla="*/ 2394358 w 4788716"/>
              <a:gd name="connsiteY3" fmla="*/ 4788716 h 4788716"/>
              <a:gd name="connsiteX0" fmla="*/ 0 w 4788716"/>
              <a:gd name="connsiteY0" fmla="*/ 2394358 h 2394358"/>
              <a:gd name="connsiteX1" fmla="*/ 2394358 w 4788716"/>
              <a:gd name="connsiteY1" fmla="*/ 0 h 2394358"/>
              <a:gd name="connsiteX2" fmla="*/ 4788716 w 4788716"/>
              <a:gd name="connsiteY2" fmla="*/ 2394358 h 2394358"/>
            </a:gdLst>
            <a:ahLst/>
            <a:cxnLst>
              <a:cxn ang="0">
                <a:pos x="connsiteX0" y="connsiteY0"/>
              </a:cxn>
              <a:cxn ang="0">
                <a:pos x="connsiteX1" y="connsiteY1"/>
              </a:cxn>
              <a:cxn ang="0">
                <a:pos x="connsiteX2" y="connsiteY2"/>
              </a:cxn>
            </a:cxnLst>
            <a:rect l="l" t="t" r="r" b="b"/>
            <a:pathLst>
              <a:path w="4788716" h="2394358">
                <a:moveTo>
                  <a:pt x="0" y="2394358"/>
                </a:moveTo>
                <a:cubicBezTo>
                  <a:pt x="0" y="1071991"/>
                  <a:pt x="1071991" y="0"/>
                  <a:pt x="2394358" y="0"/>
                </a:cubicBezTo>
                <a:cubicBezTo>
                  <a:pt x="3716725" y="0"/>
                  <a:pt x="4788716" y="1071991"/>
                  <a:pt x="4788716" y="2394358"/>
                </a:cubicBezTo>
              </a:path>
            </a:pathLst>
          </a:custGeom>
          <a:noFill/>
          <a:ln w="381000">
            <a:solidFill>
              <a:schemeClr val="bg2">
                <a:lumMod val="75000"/>
              </a:schemeClr>
            </a:solidFill>
          </a:ln>
          <a:effectLst>
            <a:outerShdw blurRad="254000" algn="ctr" rotWithShape="0">
              <a:srgbClr val="53D2FF">
                <a:alpha val="8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Freeform 6" hidden="1"/>
          <p:cNvSpPr>
            <a:spLocks/>
          </p:cNvSpPr>
          <p:nvPr/>
        </p:nvSpPr>
        <p:spPr bwMode="auto">
          <a:xfrm>
            <a:off x="2323201" y="2712798"/>
            <a:ext cx="924272" cy="916898"/>
          </a:xfrm>
          <a:custGeom>
            <a:avLst/>
            <a:gdLst>
              <a:gd name="T0" fmla="*/ 2 w 159"/>
              <a:gd name="T1" fmla="*/ 0 h 158"/>
              <a:gd name="T2" fmla="*/ 0 w 159"/>
              <a:gd name="T3" fmla="*/ 0 h 158"/>
              <a:gd name="T4" fmla="*/ 0 w 159"/>
              <a:gd name="T5" fmla="*/ 6 h 158"/>
              <a:gd name="T6" fmla="*/ 0 w 159"/>
              <a:gd name="T7" fmla="*/ 106 h 158"/>
              <a:gd name="T8" fmla="*/ 0 w 159"/>
              <a:gd name="T9" fmla="*/ 158 h 158"/>
              <a:gd name="T10" fmla="*/ 159 w 159"/>
              <a:gd name="T11" fmla="*/ 158 h 158"/>
              <a:gd name="T12" fmla="*/ 159 w 159"/>
              <a:gd name="T13" fmla="*/ 157 h 158"/>
              <a:gd name="T14" fmla="*/ 2 w 159"/>
              <a:gd name="T15" fmla="*/ 0 h 1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9" h="158">
                <a:moveTo>
                  <a:pt x="2" y="0"/>
                </a:moveTo>
                <a:cubicBezTo>
                  <a:pt x="1" y="0"/>
                  <a:pt x="1" y="0"/>
                  <a:pt x="0" y="0"/>
                </a:cubicBezTo>
                <a:cubicBezTo>
                  <a:pt x="0" y="6"/>
                  <a:pt x="0" y="6"/>
                  <a:pt x="0" y="6"/>
                </a:cubicBezTo>
                <a:cubicBezTo>
                  <a:pt x="0" y="106"/>
                  <a:pt x="0" y="106"/>
                  <a:pt x="0" y="106"/>
                </a:cubicBezTo>
                <a:cubicBezTo>
                  <a:pt x="0" y="158"/>
                  <a:pt x="0" y="158"/>
                  <a:pt x="0" y="158"/>
                </a:cubicBezTo>
                <a:cubicBezTo>
                  <a:pt x="159" y="158"/>
                  <a:pt x="159" y="158"/>
                  <a:pt x="159" y="158"/>
                </a:cubicBezTo>
                <a:cubicBezTo>
                  <a:pt x="159" y="157"/>
                  <a:pt x="159" y="157"/>
                  <a:pt x="159" y="157"/>
                </a:cubicBezTo>
                <a:cubicBezTo>
                  <a:pt x="159" y="70"/>
                  <a:pt x="89" y="0"/>
                  <a:pt x="2" y="0"/>
                </a:cubicBezTo>
                <a:close/>
              </a:path>
            </a:pathLst>
          </a:custGeom>
          <a:solidFill>
            <a:schemeClr val="bg1">
              <a:lumMod val="85000"/>
            </a:scheme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4" name="椭圆 33"/>
          <p:cNvSpPr/>
          <p:nvPr/>
        </p:nvSpPr>
        <p:spPr>
          <a:xfrm>
            <a:off x="1486066" y="1973192"/>
            <a:ext cx="2383340" cy="2189574"/>
          </a:xfrm>
          <a:prstGeom prst="ellipse">
            <a:avLst/>
          </a:prstGeom>
          <a:solidFill>
            <a:schemeClr val="bg2">
              <a:lumMod val="50000"/>
              <a:alpha val="60000"/>
            </a:schemeClr>
          </a:solidFill>
          <a:ln>
            <a:solidFill>
              <a:srgbClr val="41A0DA"/>
            </a:solidFill>
          </a:ln>
          <a:effectLst>
            <a:outerShdw blurRad="254000" algn="ctr" rotWithShape="0">
              <a:srgbClr val="53D2FF">
                <a:alpha val="8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100" dirty="0">
                <a:latin typeface="Liberation Serif"/>
              </a:rPr>
              <a:t>Geofence coordinates define the operational boundary of the mission and are uploaded to the drone's flight controller via </a:t>
            </a:r>
            <a:r>
              <a:rPr lang="en-US" sz="1100" dirty="0" err="1">
                <a:latin typeface="Liberation Serif"/>
              </a:rPr>
              <a:t>DroneKit</a:t>
            </a:r>
            <a:r>
              <a:rPr lang="en-US" sz="1100" dirty="0">
                <a:latin typeface="Liberation Serif"/>
              </a:rPr>
              <a:t> and Mission Planner software. This ensures the UAV remains within designated safety perimeters during autonomous missions.</a:t>
            </a:r>
            <a:endParaRPr lang="zh-CN" altLang="en-US" sz="1000" dirty="0">
              <a:latin typeface="Liberation Serif"/>
              <a:ea typeface="微软雅黑" panose="020B0503020204020204" pitchFamily="34" charset="-122"/>
            </a:endParaRPr>
          </a:p>
        </p:txBody>
      </p:sp>
      <p:sp>
        <p:nvSpPr>
          <p:cNvPr id="35" name="椭圆 34"/>
          <p:cNvSpPr/>
          <p:nvPr/>
        </p:nvSpPr>
        <p:spPr>
          <a:xfrm>
            <a:off x="3928800" y="746749"/>
            <a:ext cx="2167200" cy="2188800"/>
          </a:xfrm>
          <a:prstGeom prst="ellipse">
            <a:avLst/>
          </a:prstGeom>
          <a:solidFill>
            <a:schemeClr val="bg2">
              <a:lumMod val="50000"/>
              <a:alpha val="60000"/>
            </a:schemeClr>
          </a:solidFill>
          <a:ln>
            <a:solidFill>
              <a:srgbClr val="41A0DA"/>
            </a:solidFill>
          </a:ln>
          <a:effectLst>
            <a:outerShdw blurRad="254000" algn="ctr" rotWithShape="0">
              <a:srgbClr val="53D2FF">
                <a:alpha val="8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latin typeface="Liberation Serif"/>
              </a:rPr>
              <a:t>To guarantee complete coverage of the survey area, a grid flight pattern is implemented</a:t>
            </a:r>
            <a:endParaRPr lang="zh-CN" altLang="en-US" sz="900" dirty="0">
              <a:solidFill>
                <a:prstClr val="white"/>
              </a:solidFill>
              <a:latin typeface="Liberation Serif"/>
              <a:ea typeface="微软雅黑" panose="020B0503020204020204" pitchFamily="34" charset="-122"/>
            </a:endParaRPr>
          </a:p>
        </p:txBody>
      </p:sp>
      <p:sp>
        <p:nvSpPr>
          <p:cNvPr id="36" name="椭圆 35"/>
          <p:cNvSpPr/>
          <p:nvPr/>
        </p:nvSpPr>
        <p:spPr>
          <a:xfrm>
            <a:off x="6155394" y="754545"/>
            <a:ext cx="2167200" cy="2188800"/>
          </a:xfrm>
          <a:prstGeom prst="ellipse">
            <a:avLst/>
          </a:prstGeom>
          <a:solidFill>
            <a:schemeClr val="bg2">
              <a:lumMod val="50000"/>
              <a:alpha val="60000"/>
            </a:schemeClr>
          </a:solidFill>
          <a:ln>
            <a:solidFill>
              <a:srgbClr val="41A0DA"/>
            </a:solidFill>
          </a:ln>
          <a:effectLst>
            <a:outerShdw blurRad="254000" algn="ctr" rotWithShape="0">
              <a:srgbClr val="53D2FF">
                <a:alpha val="8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kern="100" dirty="0" err="1">
                <a:latin typeface="Liberation Serif"/>
              </a:rPr>
              <a:t>RunCam</a:t>
            </a:r>
            <a:r>
              <a:rPr lang="en-IN" sz="1100" kern="100" dirty="0">
                <a:latin typeface="Liberation Serif"/>
              </a:rPr>
              <a:t> Phoenix 2 SP V3 </a:t>
            </a:r>
            <a:r>
              <a:rPr lang="en-US" sz="1100" dirty="0">
                <a:latin typeface="Liberation Serif"/>
              </a:rPr>
              <a:t>camera is mounted downward- facing to capture high-resolution images. Images are taken at consistent intervals and stored for offline processing</a:t>
            </a:r>
            <a:r>
              <a:rPr lang="en-US" sz="900" dirty="0">
                <a:latin typeface="Liberation Serif"/>
              </a:rPr>
              <a:t>.</a:t>
            </a:r>
            <a:endParaRPr lang="zh-CN" altLang="en-US" sz="600" dirty="0">
              <a:solidFill>
                <a:prstClr val="white"/>
              </a:solidFill>
              <a:latin typeface="Liberation Serif"/>
              <a:ea typeface="微软雅黑" panose="020B0503020204020204" pitchFamily="34" charset="-122"/>
            </a:endParaRPr>
          </a:p>
        </p:txBody>
      </p:sp>
      <p:sp>
        <p:nvSpPr>
          <p:cNvPr id="37" name="椭圆 36"/>
          <p:cNvSpPr/>
          <p:nvPr/>
        </p:nvSpPr>
        <p:spPr>
          <a:xfrm>
            <a:off x="8107079" y="1848945"/>
            <a:ext cx="2167200" cy="2188800"/>
          </a:xfrm>
          <a:prstGeom prst="ellipse">
            <a:avLst/>
          </a:prstGeom>
          <a:solidFill>
            <a:schemeClr val="bg2">
              <a:lumMod val="50000"/>
              <a:alpha val="60000"/>
            </a:schemeClr>
          </a:solidFill>
          <a:ln>
            <a:solidFill>
              <a:srgbClr val="41A0DA"/>
            </a:solidFill>
          </a:ln>
          <a:effectLst>
            <a:outerShdw blurRad="254000" algn="ctr" rotWithShape="0">
              <a:srgbClr val="53D2FF">
                <a:alpha val="8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latin typeface="Liberation Serif"/>
              </a:rPr>
              <a:t>Both are fully autonomous using pre-configured flight modes, enabling seamless mission execution.</a:t>
            </a:r>
            <a:endParaRPr lang="zh-CN" altLang="en-US" sz="900" dirty="0">
              <a:solidFill>
                <a:prstClr val="white"/>
              </a:solidFill>
              <a:latin typeface="Liberation Serif"/>
              <a:ea typeface="微软雅黑" panose="020B0503020204020204" pitchFamily="34" charset="-122"/>
            </a:endParaRPr>
          </a:p>
        </p:txBody>
      </p:sp>
      <p:sp>
        <p:nvSpPr>
          <p:cNvPr id="73" name="任意多边形 72"/>
          <p:cNvSpPr/>
          <p:nvPr/>
        </p:nvSpPr>
        <p:spPr>
          <a:xfrm rot="5400000">
            <a:off x="7693425" y="4718891"/>
            <a:ext cx="1937040" cy="523750"/>
          </a:xfrm>
          <a:custGeom>
            <a:avLst/>
            <a:gdLst>
              <a:gd name="connsiteX0" fmla="*/ 1799772 w 1799772"/>
              <a:gd name="connsiteY0" fmla="*/ 232228 h 232228"/>
              <a:gd name="connsiteX1" fmla="*/ 1524000 w 1799772"/>
              <a:gd name="connsiteY1" fmla="*/ 0 h 232228"/>
              <a:gd name="connsiteX2" fmla="*/ 0 w 1799772"/>
              <a:gd name="connsiteY2" fmla="*/ 0 h 232228"/>
            </a:gdLst>
            <a:ahLst/>
            <a:cxnLst>
              <a:cxn ang="0">
                <a:pos x="connsiteX0" y="connsiteY0"/>
              </a:cxn>
              <a:cxn ang="0">
                <a:pos x="connsiteX1" y="connsiteY1"/>
              </a:cxn>
              <a:cxn ang="0">
                <a:pos x="connsiteX2" y="connsiteY2"/>
              </a:cxn>
            </a:cxnLst>
            <a:rect l="l" t="t" r="r" b="b"/>
            <a:pathLst>
              <a:path w="1799772" h="232228">
                <a:moveTo>
                  <a:pt x="1799772" y="232228"/>
                </a:moveTo>
                <a:lnTo>
                  <a:pt x="1524000" y="0"/>
                </a:lnTo>
                <a:lnTo>
                  <a:pt x="0" y="0"/>
                </a:lnTo>
              </a:path>
            </a:pathLst>
          </a:cu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4" name="任意多边形 73"/>
          <p:cNvSpPr/>
          <p:nvPr/>
        </p:nvSpPr>
        <p:spPr>
          <a:xfrm rot="5400000">
            <a:off x="4609917" y="3466544"/>
            <a:ext cx="1333881" cy="282128"/>
          </a:xfrm>
          <a:custGeom>
            <a:avLst/>
            <a:gdLst>
              <a:gd name="connsiteX0" fmla="*/ 740229 w 740229"/>
              <a:gd name="connsiteY0" fmla="*/ 0 h 406400"/>
              <a:gd name="connsiteX1" fmla="*/ 580572 w 740229"/>
              <a:gd name="connsiteY1" fmla="*/ 406400 h 406400"/>
              <a:gd name="connsiteX2" fmla="*/ 0 w 740229"/>
              <a:gd name="connsiteY2" fmla="*/ 406400 h 406400"/>
              <a:gd name="connsiteX0" fmla="*/ 723382 w 723382"/>
              <a:gd name="connsiteY0" fmla="*/ 1 h 796145"/>
              <a:gd name="connsiteX1" fmla="*/ 580572 w 723382"/>
              <a:gd name="connsiteY1" fmla="*/ 796145 h 796145"/>
              <a:gd name="connsiteX2" fmla="*/ 0 w 723382"/>
              <a:gd name="connsiteY2" fmla="*/ 796145 h 796145"/>
            </a:gdLst>
            <a:ahLst/>
            <a:cxnLst>
              <a:cxn ang="0">
                <a:pos x="connsiteX0" y="connsiteY0"/>
              </a:cxn>
              <a:cxn ang="0">
                <a:pos x="connsiteX1" y="connsiteY1"/>
              </a:cxn>
              <a:cxn ang="0">
                <a:pos x="connsiteX2" y="connsiteY2"/>
              </a:cxn>
            </a:cxnLst>
            <a:rect l="l" t="t" r="r" b="b"/>
            <a:pathLst>
              <a:path w="723382" h="796145">
                <a:moveTo>
                  <a:pt x="723382" y="1"/>
                </a:moveTo>
                <a:lnTo>
                  <a:pt x="580572" y="796145"/>
                </a:lnTo>
                <a:lnTo>
                  <a:pt x="0" y="796145"/>
                </a:lnTo>
              </a:path>
            </a:pathLst>
          </a:cu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5" name="任意多边形 74"/>
          <p:cNvSpPr/>
          <p:nvPr/>
        </p:nvSpPr>
        <p:spPr>
          <a:xfrm rot="5400000">
            <a:off x="6269807" y="3462824"/>
            <a:ext cx="1319944" cy="265394"/>
          </a:xfrm>
          <a:custGeom>
            <a:avLst/>
            <a:gdLst>
              <a:gd name="connsiteX0" fmla="*/ 769257 w 769257"/>
              <a:gd name="connsiteY0" fmla="*/ 290286 h 290286"/>
              <a:gd name="connsiteX1" fmla="*/ 493485 w 769257"/>
              <a:gd name="connsiteY1" fmla="*/ 0 h 290286"/>
              <a:gd name="connsiteX2" fmla="*/ 0 w 769257"/>
              <a:gd name="connsiteY2" fmla="*/ 0 h 290286"/>
              <a:gd name="connsiteX0" fmla="*/ 743025 w 743025"/>
              <a:gd name="connsiteY0" fmla="*/ 605271 h 605271"/>
              <a:gd name="connsiteX1" fmla="*/ 493485 w 743025"/>
              <a:gd name="connsiteY1" fmla="*/ 0 h 605271"/>
              <a:gd name="connsiteX2" fmla="*/ 0 w 743025"/>
              <a:gd name="connsiteY2" fmla="*/ 0 h 605271"/>
            </a:gdLst>
            <a:ahLst/>
            <a:cxnLst>
              <a:cxn ang="0">
                <a:pos x="connsiteX0" y="connsiteY0"/>
              </a:cxn>
              <a:cxn ang="0">
                <a:pos x="connsiteX1" y="connsiteY1"/>
              </a:cxn>
              <a:cxn ang="0">
                <a:pos x="connsiteX2" y="connsiteY2"/>
              </a:cxn>
            </a:cxnLst>
            <a:rect l="l" t="t" r="r" b="b"/>
            <a:pathLst>
              <a:path w="743025" h="605271">
                <a:moveTo>
                  <a:pt x="743025" y="605271"/>
                </a:moveTo>
                <a:lnTo>
                  <a:pt x="493485" y="0"/>
                </a:lnTo>
                <a:lnTo>
                  <a:pt x="0" y="0"/>
                </a:lnTo>
              </a:path>
            </a:pathLst>
          </a:cu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6" name="任意多边形 75"/>
          <p:cNvSpPr/>
          <p:nvPr/>
        </p:nvSpPr>
        <p:spPr>
          <a:xfrm rot="5400000" flipV="1">
            <a:off x="2518608" y="4694900"/>
            <a:ext cx="1944218" cy="564549"/>
          </a:xfrm>
          <a:custGeom>
            <a:avLst/>
            <a:gdLst>
              <a:gd name="connsiteX0" fmla="*/ 1799772 w 1799772"/>
              <a:gd name="connsiteY0" fmla="*/ 232228 h 232228"/>
              <a:gd name="connsiteX1" fmla="*/ 1524000 w 1799772"/>
              <a:gd name="connsiteY1" fmla="*/ 0 h 232228"/>
              <a:gd name="connsiteX2" fmla="*/ 0 w 1799772"/>
              <a:gd name="connsiteY2" fmla="*/ 0 h 232228"/>
            </a:gdLst>
            <a:ahLst/>
            <a:cxnLst>
              <a:cxn ang="0">
                <a:pos x="connsiteX0" y="connsiteY0"/>
              </a:cxn>
              <a:cxn ang="0">
                <a:pos x="connsiteX1" y="connsiteY1"/>
              </a:cxn>
              <a:cxn ang="0">
                <a:pos x="connsiteX2" y="connsiteY2"/>
              </a:cxn>
            </a:cxnLst>
            <a:rect l="l" t="t" r="r" b="b"/>
            <a:pathLst>
              <a:path w="1799772" h="232228">
                <a:moveTo>
                  <a:pt x="1799772" y="232228"/>
                </a:moveTo>
                <a:lnTo>
                  <a:pt x="1524000" y="0"/>
                </a:lnTo>
                <a:lnTo>
                  <a:pt x="0" y="0"/>
                </a:lnTo>
              </a:path>
            </a:pathLst>
          </a:cu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7" name="矩形 76"/>
          <p:cNvSpPr/>
          <p:nvPr/>
        </p:nvSpPr>
        <p:spPr>
          <a:xfrm>
            <a:off x="4421370" y="5258560"/>
            <a:ext cx="2909090" cy="765200"/>
          </a:xfrm>
          <a:prstGeom prst="rect">
            <a:avLst/>
          </a:prstGeom>
        </p:spPr>
        <p:txBody>
          <a:bodyPr wrap="square" tIns="36000" bIns="36000">
            <a:spAutoFit/>
          </a:bodyPr>
          <a:lstStyle/>
          <a:p>
            <a:pPr lvl="1"/>
            <a:r>
              <a:rPr lang="en-US" sz="900" dirty="0">
                <a:latin typeface="Liberation Serif"/>
              </a:rPr>
              <a:t>Our UAV system integrates a </a:t>
            </a:r>
            <a:r>
              <a:rPr lang="en-US" sz="900" b="1" dirty="0">
                <a:latin typeface="Liberation Serif"/>
              </a:rPr>
              <a:t>Raspberry Pi 5 </a:t>
            </a:r>
            <a:r>
              <a:rPr lang="en-US" sz="900" dirty="0">
                <a:latin typeface="Liberation Serif"/>
              </a:rPr>
              <a:t>as the companion computer. The system leverages </a:t>
            </a:r>
            <a:r>
              <a:rPr lang="en-US" sz="900" dirty="0" err="1">
                <a:latin typeface="Liberation Serif"/>
              </a:rPr>
              <a:t>DroneKit</a:t>
            </a:r>
            <a:r>
              <a:rPr lang="en-US" sz="900" dirty="0">
                <a:latin typeface="Liberation Serif"/>
              </a:rPr>
              <a:t> Python scripts to automate flight operations, and communicates with the Pixhawk flight controller using the </a:t>
            </a:r>
            <a:r>
              <a:rPr lang="en-US" sz="900" dirty="0" err="1">
                <a:latin typeface="Liberation Serif"/>
              </a:rPr>
              <a:t>MAVLink</a:t>
            </a:r>
            <a:r>
              <a:rPr lang="en-US" sz="900" dirty="0">
                <a:latin typeface="Liberation Serif"/>
              </a:rPr>
              <a:t> protocol. </a:t>
            </a:r>
            <a:endParaRPr lang="en-IN" sz="900" b="1" dirty="0">
              <a:latin typeface="Liberation Serif"/>
            </a:endParaRPr>
          </a:p>
        </p:txBody>
      </p:sp>
      <p:grpSp>
        <p:nvGrpSpPr>
          <p:cNvPr id="38" name="组合 37"/>
          <p:cNvGrpSpPr/>
          <p:nvPr/>
        </p:nvGrpSpPr>
        <p:grpSpPr>
          <a:xfrm>
            <a:off x="3523331" y="5634210"/>
            <a:ext cx="692150" cy="692150"/>
            <a:chOff x="3927867" y="5719055"/>
            <a:chExt cx="692150" cy="692150"/>
          </a:xfrm>
          <a:solidFill>
            <a:schemeClr val="bg2">
              <a:lumMod val="50000"/>
            </a:schemeClr>
          </a:solidFill>
        </p:grpSpPr>
        <p:sp>
          <p:nvSpPr>
            <p:cNvPr id="39" name="椭圆 38"/>
            <p:cNvSpPr/>
            <p:nvPr/>
          </p:nvSpPr>
          <p:spPr>
            <a:xfrm>
              <a:off x="3927867" y="5719055"/>
              <a:ext cx="692150" cy="692150"/>
            </a:xfrm>
            <a:prstGeom prst="ellipse">
              <a:avLst/>
            </a:prstGeom>
            <a:grp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Impact" pitchFamily="34" charset="0"/>
              </a:endParaRPr>
            </a:p>
          </p:txBody>
        </p:sp>
        <p:sp>
          <p:nvSpPr>
            <p:cNvPr id="44" name="椭圆 43"/>
            <p:cNvSpPr/>
            <p:nvPr/>
          </p:nvSpPr>
          <p:spPr>
            <a:xfrm>
              <a:off x="4004067" y="5795255"/>
              <a:ext cx="539750" cy="539750"/>
            </a:xfrm>
            <a:prstGeom prst="ellipse">
              <a:avLst/>
            </a:prstGeom>
            <a:grp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latin typeface="微软雅黑" pitchFamily="34" charset="-122"/>
                  <a:ea typeface="微软雅黑" pitchFamily="34" charset="-122"/>
                </a:rPr>
                <a:t>1</a:t>
              </a:r>
              <a:endParaRPr lang="zh-CN" altLang="en-US" dirty="0">
                <a:latin typeface="微软雅黑" pitchFamily="34" charset="-122"/>
                <a:ea typeface="微软雅黑" pitchFamily="34" charset="-122"/>
              </a:endParaRPr>
            </a:p>
          </p:txBody>
        </p:sp>
      </p:grpSp>
      <p:grpSp>
        <p:nvGrpSpPr>
          <p:cNvPr id="45" name="组合 44"/>
          <p:cNvGrpSpPr/>
          <p:nvPr/>
        </p:nvGrpSpPr>
        <p:grpSpPr>
          <a:xfrm>
            <a:off x="5103697" y="4182988"/>
            <a:ext cx="692150" cy="692150"/>
            <a:chOff x="5191288" y="4388838"/>
            <a:chExt cx="692150" cy="692150"/>
          </a:xfrm>
          <a:solidFill>
            <a:schemeClr val="bg2">
              <a:lumMod val="50000"/>
            </a:schemeClr>
          </a:solidFill>
        </p:grpSpPr>
        <p:sp>
          <p:nvSpPr>
            <p:cNvPr id="46" name="椭圆 45"/>
            <p:cNvSpPr/>
            <p:nvPr/>
          </p:nvSpPr>
          <p:spPr>
            <a:xfrm>
              <a:off x="5191288" y="4388838"/>
              <a:ext cx="692150" cy="692150"/>
            </a:xfrm>
            <a:prstGeom prst="ellipse">
              <a:avLst/>
            </a:prstGeom>
            <a:grpFill/>
            <a:ln w="63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Impact" pitchFamily="34" charset="0"/>
              </a:endParaRPr>
            </a:p>
          </p:txBody>
        </p:sp>
        <p:sp>
          <p:nvSpPr>
            <p:cNvPr id="47" name="椭圆 46"/>
            <p:cNvSpPr/>
            <p:nvPr/>
          </p:nvSpPr>
          <p:spPr>
            <a:xfrm>
              <a:off x="5267488" y="4465038"/>
              <a:ext cx="539750" cy="539750"/>
            </a:xfrm>
            <a:prstGeom prst="ellipse">
              <a:avLst/>
            </a:prstGeom>
            <a:grpFill/>
            <a:ln w="63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latin typeface="微软雅黑" pitchFamily="34" charset="-122"/>
                  <a:ea typeface="微软雅黑" pitchFamily="34" charset="-122"/>
                </a:rPr>
                <a:t>2</a:t>
              </a:r>
              <a:endParaRPr lang="zh-CN" altLang="en-US" dirty="0">
                <a:latin typeface="微软雅黑" pitchFamily="34" charset="-122"/>
                <a:ea typeface="微软雅黑" pitchFamily="34" charset="-122"/>
              </a:endParaRPr>
            </a:p>
          </p:txBody>
        </p:sp>
      </p:grpSp>
      <p:grpSp>
        <p:nvGrpSpPr>
          <p:cNvPr id="55" name="组合 54"/>
          <p:cNvGrpSpPr/>
          <p:nvPr/>
        </p:nvGrpSpPr>
        <p:grpSpPr>
          <a:xfrm>
            <a:off x="6400807" y="4182988"/>
            <a:ext cx="692150" cy="692150"/>
            <a:chOff x="6884827" y="4388838"/>
            <a:chExt cx="692150" cy="692150"/>
          </a:xfrm>
          <a:solidFill>
            <a:schemeClr val="bg2">
              <a:lumMod val="50000"/>
            </a:schemeClr>
          </a:solidFill>
        </p:grpSpPr>
        <p:sp>
          <p:nvSpPr>
            <p:cNvPr id="62" name="椭圆 61"/>
            <p:cNvSpPr/>
            <p:nvPr/>
          </p:nvSpPr>
          <p:spPr>
            <a:xfrm>
              <a:off x="6884827" y="4388838"/>
              <a:ext cx="692150" cy="692150"/>
            </a:xfrm>
            <a:prstGeom prst="ellipse">
              <a:avLst/>
            </a:prstGeom>
            <a:grp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Impact" pitchFamily="34" charset="0"/>
              </a:endParaRPr>
            </a:p>
          </p:txBody>
        </p:sp>
        <p:sp>
          <p:nvSpPr>
            <p:cNvPr id="63" name="椭圆 62"/>
            <p:cNvSpPr/>
            <p:nvPr/>
          </p:nvSpPr>
          <p:spPr>
            <a:xfrm>
              <a:off x="6957852" y="4465038"/>
              <a:ext cx="539750" cy="539750"/>
            </a:xfrm>
            <a:prstGeom prst="ellipse">
              <a:avLst/>
            </a:prstGeom>
            <a:grp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latin typeface="微软雅黑" pitchFamily="34" charset="-122"/>
                  <a:ea typeface="微软雅黑" pitchFamily="34" charset="-122"/>
                </a:rPr>
                <a:t>3</a:t>
              </a:r>
              <a:endParaRPr lang="zh-CN" altLang="en-US" dirty="0">
                <a:latin typeface="微软雅黑" pitchFamily="34" charset="-122"/>
                <a:ea typeface="微软雅黑" pitchFamily="34" charset="-122"/>
              </a:endParaRPr>
            </a:p>
          </p:txBody>
        </p:sp>
      </p:grpSp>
      <p:grpSp>
        <p:nvGrpSpPr>
          <p:cNvPr id="64" name="组合 63"/>
          <p:cNvGrpSpPr/>
          <p:nvPr/>
        </p:nvGrpSpPr>
        <p:grpSpPr>
          <a:xfrm>
            <a:off x="7968209" y="5642855"/>
            <a:ext cx="693737" cy="692150"/>
            <a:chOff x="8218831" y="5719055"/>
            <a:chExt cx="693737" cy="692150"/>
          </a:xfrm>
          <a:solidFill>
            <a:schemeClr val="bg2">
              <a:lumMod val="50000"/>
            </a:schemeClr>
          </a:solidFill>
        </p:grpSpPr>
        <p:sp>
          <p:nvSpPr>
            <p:cNvPr id="71" name="椭圆 70"/>
            <p:cNvSpPr/>
            <p:nvPr/>
          </p:nvSpPr>
          <p:spPr>
            <a:xfrm>
              <a:off x="8218831" y="5719055"/>
              <a:ext cx="693737" cy="692150"/>
            </a:xfrm>
            <a:prstGeom prst="ellipse">
              <a:avLst/>
            </a:prstGeom>
            <a:grp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Impact" pitchFamily="34" charset="0"/>
              </a:endParaRPr>
            </a:p>
          </p:txBody>
        </p:sp>
        <p:sp>
          <p:nvSpPr>
            <p:cNvPr id="72" name="椭圆 71"/>
            <p:cNvSpPr/>
            <p:nvPr/>
          </p:nvSpPr>
          <p:spPr>
            <a:xfrm>
              <a:off x="8295824" y="5795255"/>
              <a:ext cx="539750" cy="539750"/>
            </a:xfrm>
            <a:prstGeom prst="ellipse">
              <a:avLst/>
            </a:prstGeom>
            <a:grp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latin typeface="微软雅黑" pitchFamily="34" charset="-122"/>
                  <a:ea typeface="微软雅黑" pitchFamily="34" charset="-122"/>
                </a:rPr>
                <a:t>4</a:t>
              </a:r>
              <a:endParaRPr lang="zh-CN" altLang="en-US" dirty="0">
                <a:latin typeface="微软雅黑" pitchFamily="34" charset="-122"/>
                <a:ea typeface="微软雅黑" pitchFamily="34" charset="-122"/>
              </a:endParaRPr>
            </a:p>
          </p:txBody>
        </p:sp>
      </p:grpSp>
      <p:sp>
        <p:nvSpPr>
          <p:cNvPr id="95" name="TextBox 94"/>
          <p:cNvSpPr txBox="1"/>
          <p:nvPr/>
        </p:nvSpPr>
        <p:spPr>
          <a:xfrm flipH="1">
            <a:off x="1835817" y="1530968"/>
            <a:ext cx="1454638" cy="437043"/>
          </a:xfrm>
          <a:prstGeom prst="rect">
            <a:avLst/>
          </a:prstGeom>
          <a:noFill/>
        </p:spPr>
        <p:txBody>
          <a:bodyPr wrap="square" rtlCol="0">
            <a:spAutoFit/>
          </a:bodyPr>
          <a:lstStyle>
            <a:defPPr>
              <a:defRPr lang="en-US"/>
            </a:defPPr>
            <a:lvl1pPr lvl="0">
              <a:lnSpc>
                <a:spcPct val="80000"/>
              </a:lnSpc>
              <a:defRPr sz="4400" b="1" kern="0">
                <a:ln w="18415" cmpd="sng">
                  <a:noFill/>
                  <a:prstDash val="solid"/>
                </a:ln>
                <a:solidFill>
                  <a:srgbClr val="FFC000"/>
                </a:solidFill>
                <a:latin typeface="Agency FB" pitchFamily="34" charset="0"/>
                <a:ea typeface="微软雅黑" pitchFamily="34" charset="-122"/>
              </a:defRPr>
            </a:lvl1pPr>
          </a:lstStyle>
          <a:p>
            <a:pPr algn="ctr" defTabSz="914400">
              <a:defRPr/>
            </a:pPr>
            <a:r>
              <a:rPr lang="en-US" sz="1400" dirty="0">
                <a:solidFill>
                  <a:schemeClr val="tx1"/>
                </a:solidFill>
                <a:effectLst>
                  <a:outerShdw blurRad="38100" dist="38100" dir="2700000" algn="tl">
                    <a:srgbClr val="000000">
                      <a:alpha val="43137"/>
                    </a:srgbClr>
                  </a:outerShdw>
                </a:effectLst>
                <a:latin typeface="Liberation Serif"/>
              </a:rPr>
              <a:t>Geofence Integration</a:t>
            </a:r>
            <a:endParaRPr lang="zh-CN" altLang="en-US" sz="600" b="0" dirty="0">
              <a:solidFill>
                <a:schemeClr val="tx1"/>
              </a:solidFill>
              <a:effectLst>
                <a:outerShdw blurRad="38100" dist="38100" dir="2700000" algn="tl">
                  <a:srgbClr val="000000">
                    <a:alpha val="43137"/>
                  </a:srgbClr>
                </a:outerShdw>
              </a:effectLst>
              <a:latin typeface="Liberation Serif"/>
              <a:cs typeface="Times New Roman" pitchFamily="18" charset="0"/>
            </a:endParaRPr>
          </a:p>
        </p:txBody>
      </p:sp>
      <p:sp>
        <p:nvSpPr>
          <p:cNvPr id="96" name="TextBox 95"/>
          <p:cNvSpPr txBox="1"/>
          <p:nvPr/>
        </p:nvSpPr>
        <p:spPr>
          <a:xfrm flipH="1">
            <a:off x="4282927" y="339890"/>
            <a:ext cx="1454638" cy="387798"/>
          </a:xfrm>
          <a:prstGeom prst="rect">
            <a:avLst/>
          </a:prstGeom>
          <a:noFill/>
        </p:spPr>
        <p:txBody>
          <a:bodyPr wrap="square" rtlCol="0">
            <a:spAutoFit/>
          </a:bodyPr>
          <a:lstStyle>
            <a:defPPr>
              <a:defRPr lang="en-US"/>
            </a:defPPr>
            <a:lvl1pPr lvl="0">
              <a:lnSpc>
                <a:spcPct val="80000"/>
              </a:lnSpc>
              <a:defRPr sz="4400" b="1" kern="0">
                <a:ln w="18415" cmpd="sng">
                  <a:noFill/>
                  <a:prstDash val="solid"/>
                </a:ln>
                <a:solidFill>
                  <a:srgbClr val="FFC000"/>
                </a:solidFill>
                <a:latin typeface="Agency FB" pitchFamily="34" charset="0"/>
                <a:ea typeface="微软雅黑" pitchFamily="34" charset="-122"/>
              </a:defRPr>
            </a:lvl1pPr>
          </a:lstStyle>
          <a:p>
            <a:pPr algn="ctr" defTabSz="914400">
              <a:defRPr/>
            </a:pPr>
            <a:r>
              <a:rPr lang="en-US" sz="1200" dirty="0">
                <a:solidFill>
                  <a:schemeClr val="tx1"/>
                </a:solidFill>
                <a:effectLst>
                  <a:outerShdw blurRad="38100" dist="38100" dir="2700000" algn="tl">
                    <a:srgbClr val="000000">
                      <a:alpha val="43137"/>
                    </a:srgbClr>
                  </a:outerShdw>
                </a:effectLst>
                <a:latin typeface="Liberation Serif"/>
              </a:rPr>
              <a:t>Grid Path Planning: </a:t>
            </a:r>
            <a:endParaRPr lang="zh-CN" altLang="en-US" sz="1200" dirty="0">
              <a:solidFill>
                <a:schemeClr val="tx1"/>
              </a:solidFill>
              <a:effectLst>
                <a:outerShdw blurRad="38100" dist="38100" dir="2700000" algn="tl">
                  <a:srgbClr val="000000">
                    <a:alpha val="43137"/>
                  </a:srgbClr>
                </a:outerShdw>
              </a:effectLst>
              <a:latin typeface="Liberation Serif"/>
              <a:cs typeface="Times New Roman" pitchFamily="18" charset="0"/>
            </a:endParaRPr>
          </a:p>
        </p:txBody>
      </p:sp>
      <p:sp>
        <p:nvSpPr>
          <p:cNvPr id="97" name="TextBox 96"/>
          <p:cNvSpPr txBox="1"/>
          <p:nvPr/>
        </p:nvSpPr>
        <p:spPr>
          <a:xfrm flipH="1">
            <a:off x="6610076" y="368935"/>
            <a:ext cx="1454638" cy="387798"/>
          </a:xfrm>
          <a:prstGeom prst="rect">
            <a:avLst/>
          </a:prstGeom>
          <a:noFill/>
        </p:spPr>
        <p:txBody>
          <a:bodyPr wrap="square" rtlCol="0">
            <a:spAutoFit/>
          </a:bodyPr>
          <a:lstStyle>
            <a:defPPr>
              <a:defRPr lang="en-US"/>
            </a:defPPr>
            <a:lvl1pPr lvl="0">
              <a:lnSpc>
                <a:spcPct val="80000"/>
              </a:lnSpc>
              <a:defRPr sz="4400" b="1" kern="0">
                <a:ln w="18415" cmpd="sng">
                  <a:noFill/>
                  <a:prstDash val="solid"/>
                </a:ln>
                <a:solidFill>
                  <a:srgbClr val="FFC000"/>
                </a:solidFill>
                <a:latin typeface="Agency FB" pitchFamily="34" charset="0"/>
                <a:ea typeface="微软雅黑" pitchFamily="34" charset="-122"/>
              </a:defRPr>
            </a:lvl1pPr>
          </a:lstStyle>
          <a:p>
            <a:pPr algn="ctr" defTabSz="914400">
              <a:defRPr/>
            </a:pPr>
            <a:r>
              <a:rPr lang="en-US" sz="1200" dirty="0">
                <a:solidFill>
                  <a:schemeClr val="tx1"/>
                </a:solidFill>
                <a:effectLst>
                  <a:outerShdw blurRad="38100" dist="38100" dir="2700000" algn="tl">
                    <a:srgbClr val="000000">
                      <a:alpha val="43137"/>
                    </a:srgbClr>
                  </a:outerShdw>
                </a:effectLst>
                <a:latin typeface="Liberation Serif"/>
              </a:rPr>
              <a:t>Camera and Imaging Setup: </a:t>
            </a:r>
            <a:endParaRPr lang="zh-CN" altLang="en-US" sz="1200" dirty="0">
              <a:solidFill>
                <a:schemeClr val="tx1"/>
              </a:solidFill>
              <a:effectLst>
                <a:outerShdw blurRad="38100" dist="38100" dir="2700000" algn="tl">
                  <a:srgbClr val="000000">
                    <a:alpha val="43137"/>
                  </a:srgbClr>
                </a:outerShdw>
              </a:effectLst>
              <a:latin typeface="Liberation Serif"/>
              <a:cs typeface="Times New Roman" pitchFamily="18" charset="0"/>
            </a:endParaRPr>
          </a:p>
        </p:txBody>
      </p:sp>
      <p:sp>
        <p:nvSpPr>
          <p:cNvPr id="98" name="TextBox 97"/>
          <p:cNvSpPr txBox="1"/>
          <p:nvPr/>
        </p:nvSpPr>
        <p:spPr>
          <a:xfrm flipH="1">
            <a:off x="8532540" y="1425304"/>
            <a:ext cx="1454638" cy="387798"/>
          </a:xfrm>
          <a:prstGeom prst="rect">
            <a:avLst/>
          </a:prstGeom>
          <a:noFill/>
        </p:spPr>
        <p:txBody>
          <a:bodyPr wrap="square" rtlCol="0">
            <a:spAutoFit/>
          </a:bodyPr>
          <a:lstStyle>
            <a:defPPr>
              <a:defRPr lang="en-US"/>
            </a:defPPr>
            <a:lvl1pPr lvl="0">
              <a:lnSpc>
                <a:spcPct val="80000"/>
              </a:lnSpc>
              <a:defRPr sz="4400" b="1" kern="0">
                <a:ln w="18415" cmpd="sng">
                  <a:noFill/>
                  <a:prstDash val="solid"/>
                </a:ln>
                <a:solidFill>
                  <a:srgbClr val="FFC000"/>
                </a:solidFill>
                <a:latin typeface="Agency FB" pitchFamily="34" charset="0"/>
                <a:ea typeface="微软雅黑" pitchFamily="34" charset="-122"/>
              </a:defRPr>
            </a:lvl1pPr>
          </a:lstStyle>
          <a:p>
            <a:pPr algn="ctr" defTabSz="914400">
              <a:defRPr/>
            </a:pPr>
            <a:r>
              <a:rPr lang="en-US" sz="1200" dirty="0">
                <a:solidFill>
                  <a:schemeClr val="tx1"/>
                </a:solidFill>
                <a:effectLst>
                  <a:outerShdw blurRad="38100" dist="38100" dir="2700000" algn="tl">
                    <a:srgbClr val="000000">
                      <a:alpha val="43137"/>
                    </a:srgbClr>
                  </a:outerShdw>
                </a:effectLst>
                <a:latin typeface="Liberation Serif"/>
              </a:rPr>
              <a:t>Takeoff and Landing</a:t>
            </a:r>
            <a:endParaRPr lang="zh-CN" altLang="en-US" sz="1200" dirty="0">
              <a:solidFill>
                <a:schemeClr val="tx1"/>
              </a:solidFill>
              <a:effectLst>
                <a:outerShdw blurRad="38100" dist="38100" dir="2700000" algn="tl">
                  <a:srgbClr val="000000">
                    <a:alpha val="43137"/>
                  </a:srgbClr>
                </a:outerShdw>
              </a:effectLst>
              <a:latin typeface="Liberation Serif"/>
              <a:cs typeface="Times New Roman" pitchFamily="18" charset="0"/>
            </a:endParaRPr>
          </a:p>
        </p:txBody>
      </p:sp>
    </p:spTree>
    <p:extLst>
      <p:ext uri="{BB962C8B-B14F-4D97-AF65-F5344CB8AC3E}">
        <p14:creationId xmlns:p14="http://schemas.microsoft.com/office/powerpoint/2010/main" val="1325352954"/>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10" presetClass="entr" presetSubtype="0" fill="hold" grpId="0" nodeType="withEffect">
                                  <p:stCondLst>
                                    <p:cond delay="400"/>
                                  </p:stCondLst>
                                  <p:childTnLst>
                                    <p:set>
                                      <p:cBhvr>
                                        <p:cTn id="9" dur="1" fill="hold">
                                          <p:stCondLst>
                                            <p:cond delay="0"/>
                                          </p:stCondLst>
                                        </p:cTn>
                                        <p:tgtEl>
                                          <p:spTgt spid="77"/>
                                        </p:tgtEl>
                                        <p:attrNameLst>
                                          <p:attrName>style.visibility</p:attrName>
                                        </p:attrNameLst>
                                      </p:cBhvr>
                                      <p:to>
                                        <p:strVal val="visible"/>
                                      </p:to>
                                    </p:set>
                                    <p:animEffect transition="in" filter="fade">
                                      <p:cBhvr>
                                        <p:cTn id="10" dur="500"/>
                                        <p:tgtEl>
                                          <p:spTgt spid="77"/>
                                        </p:tgtEl>
                                      </p:cBhvr>
                                    </p:animEffect>
                                  </p:childTnLst>
                                </p:cTn>
                              </p:par>
                            </p:childTnLst>
                          </p:cTn>
                        </p:par>
                        <p:par>
                          <p:cTn id="11" fill="hold">
                            <p:stCondLst>
                              <p:cond delay="900"/>
                            </p:stCondLst>
                            <p:childTnLst>
                              <p:par>
                                <p:cTn id="12" presetID="10" presetClass="entr" presetSubtype="0" fill="hold" nodeType="afterEffect">
                                  <p:stCondLst>
                                    <p:cond delay="0"/>
                                  </p:stCondLst>
                                  <p:childTnLst>
                                    <p:set>
                                      <p:cBhvr>
                                        <p:cTn id="13" dur="1" fill="hold">
                                          <p:stCondLst>
                                            <p:cond delay="0"/>
                                          </p:stCondLst>
                                        </p:cTn>
                                        <p:tgtEl>
                                          <p:spTgt spid="38"/>
                                        </p:tgtEl>
                                        <p:attrNameLst>
                                          <p:attrName>style.visibility</p:attrName>
                                        </p:attrNameLst>
                                      </p:cBhvr>
                                      <p:to>
                                        <p:strVal val="visible"/>
                                      </p:to>
                                    </p:set>
                                    <p:animEffect transition="in" filter="fade">
                                      <p:cBhvr>
                                        <p:cTn id="14" dur="500"/>
                                        <p:tgtEl>
                                          <p:spTgt spid="38"/>
                                        </p:tgtEl>
                                      </p:cBhvr>
                                    </p:animEffect>
                                  </p:childTnLst>
                                </p:cTn>
                              </p:par>
                              <p:par>
                                <p:cTn id="15" presetID="10" presetClass="entr" presetSubtype="0" fill="hold" nodeType="withEffect">
                                  <p:stCondLst>
                                    <p:cond delay="10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500"/>
                                        <p:tgtEl>
                                          <p:spTgt spid="45"/>
                                        </p:tgtEl>
                                      </p:cBhvr>
                                    </p:animEffect>
                                  </p:childTnLst>
                                </p:cTn>
                              </p:par>
                              <p:par>
                                <p:cTn id="18" presetID="10" presetClass="entr" presetSubtype="0" fill="hold" nodeType="withEffect">
                                  <p:stCondLst>
                                    <p:cond delay="200"/>
                                  </p:stCondLst>
                                  <p:childTnLst>
                                    <p:set>
                                      <p:cBhvr>
                                        <p:cTn id="19" dur="1" fill="hold">
                                          <p:stCondLst>
                                            <p:cond delay="0"/>
                                          </p:stCondLst>
                                        </p:cTn>
                                        <p:tgtEl>
                                          <p:spTgt spid="55"/>
                                        </p:tgtEl>
                                        <p:attrNameLst>
                                          <p:attrName>style.visibility</p:attrName>
                                        </p:attrNameLst>
                                      </p:cBhvr>
                                      <p:to>
                                        <p:strVal val="visible"/>
                                      </p:to>
                                    </p:set>
                                    <p:animEffect transition="in" filter="fade">
                                      <p:cBhvr>
                                        <p:cTn id="20" dur="500"/>
                                        <p:tgtEl>
                                          <p:spTgt spid="55"/>
                                        </p:tgtEl>
                                      </p:cBhvr>
                                    </p:animEffect>
                                  </p:childTnLst>
                                </p:cTn>
                              </p:par>
                              <p:par>
                                <p:cTn id="21" presetID="10" presetClass="entr" presetSubtype="0" fill="hold" nodeType="withEffect">
                                  <p:stCondLst>
                                    <p:cond delay="300"/>
                                  </p:stCondLst>
                                  <p:childTnLst>
                                    <p:set>
                                      <p:cBhvr>
                                        <p:cTn id="22" dur="1" fill="hold">
                                          <p:stCondLst>
                                            <p:cond delay="0"/>
                                          </p:stCondLst>
                                        </p:cTn>
                                        <p:tgtEl>
                                          <p:spTgt spid="64"/>
                                        </p:tgtEl>
                                        <p:attrNameLst>
                                          <p:attrName>style.visibility</p:attrName>
                                        </p:attrNameLst>
                                      </p:cBhvr>
                                      <p:to>
                                        <p:strVal val="visible"/>
                                      </p:to>
                                    </p:set>
                                    <p:animEffect transition="in" filter="fade">
                                      <p:cBhvr>
                                        <p:cTn id="23" dur="500"/>
                                        <p:tgtEl>
                                          <p:spTgt spid="64"/>
                                        </p:tgtEl>
                                      </p:cBhvr>
                                    </p:animEffect>
                                  </p:childTnLst>
                                </p:cTn>
                              </p:par>
                            </p:childTnLst>
                          </p:cTn>
                        </p:par>
                        <p:par>
                          <p:cTn id="24" fill="hold">
                            <p:stCondLst>
                              <p:cond delay="1700"/>
                            </p:stCondLst>
                            <p:childTnLst>
                              <p:par>
                                <p:cTn id="25" presetID="22" presetClass="entr" presetSubtype="4" fill="hold" grpId="0" nodeType="afterEffect">
                                  <p:stCondLst>
                                    <p:cond delay="0"/>
                                  </p:stCondLst>
                                  <p:childTnLst>
                                    <p:set>
                                      <p:cBhvr>
                                        <p:cTn id="26" dur="1" fill="hold">
                                          <p:stCondLst>
                                            <p:cond delay="0"/>
                                          </p:stCondLst>
                                        </p:cTn>
                                        <p:tgtEl>
                                          <p:spTgt spid="76"/>
                                        </p:tgtEl>
                                        <p:attrNameLst>
                                          <p:attrName>style.visibility</p:attrName>
                                        </p:attrNameLst>
                                      </p:cBhvr>
                                      <p:to>
                                        <p:strVal val="visible"/>
                                      </p:to>
                                    </p:set>
                                    <p:animEffect transition="in" filter="wipe(down)">
                                      <p:cBhvr>
                                        <p:cTn id="27" dur="500"/>
                                        <p:tgtEl>
                                          <p:spTgt spid="76"/>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74"/>
                                        </p:tgtEl>
                                        <p:attrNameLst>
                                          <p:attrName>style.visibility</p:attrName>
                                        </p:attrNameLst>
                                      </p:cBhvr>
                                      <p:to>
                                        <p:strVal val="visible"/>
                                      </p:to>
                                    </p:set>
                                    <p:animEffect transition="in" filter="wipe(down)">
                                      <p:cBhvr>
                                        <p:cTn id="30" dur="500"/>
                                        <p:tgtEl>
                                          <p:spTgt spid="74"/>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75"/>
                                        </p:tgtEl>
                                        <p:attrNameLst>
                                          <p:attrName>style.visibility</p:attrName>
                                        </p:attrNameLst>
                                      </p:cBhvr>
                                      <p:to>
                                        <p:strVal val="visible"/>
                                      </p:to>
                                    </p:set>
                                    <p:animEffect transition="in" filter="wipe(down)">
                                      <p:cBhvr>
                                        <p:cTn id="33" dur="500"/>
                                        <p:tgtEl>
                                          <p:spTgt spid="75"/>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73"/>
                                        </p:tgtEl>
                                        <p:attrNameLst>
                                          <p:attrName>style.visibility</p:attrName>
                                        </p:attrNameLst>
                                      </p:cBhvr>
                                      <p:to>
                                        <p:strVal val="visible"/>
                                      </p:to>
                                    </p:set>
                                    <p:animEffect transition="in" filter="wipe(down)">
                                      <p:cBhvr>
                                        <p:cTn id="36" dur="500"/>
                                        <p:tgtEl>
                                          <p:spTgt spid="73"/>
                                        </p:tgtEl>
                                      </p:cBhvr>
                                    </p:animEffect>
                                  </p:childTnLst>
                                </p:cTn>
                              </p:par>
                            </p:childTnLst>
                          </p:cTn>
                        </p:par>
                        <p:par>
                          <p:cTn id="37" fill="hold">
                            <p:stCondLst>
                              <p:cond delay="2200"/>
                            </p:stCondLst>
                            <p:childTnLst>
                              <p:par>
                                <p:cTn id="38" presetID="10" presetClass="entr" presetSubtype="0" fill="hold" grpId="0" nodeType="afterEffect">
                                  <p:stCondLst>
                                    <p:cond delay="0"/>
                                  </p:stCondLst>
                                  <p:childTnLst>
                                    <p:set>
                                      <p:cBhvr>
                                        <p:cTn id="39" dur="1" fill="hold">
                                          <p:stCondLst>
                                            <p:cond delay="0"/>
                                          </p:stCondLst>
                                        </p:cTn>
                                        <p:tgtEl>
                                          <p:spTgt spid="95"/>
                                        </p:tgtEl>
                                        <p:attrNameLst>
                                          <p:attrName>style.visibility</p:attrName>
                                        </p:attrNameLst>
                                      </p:cBhvr>
                                      <p:to>
                                        <p:strVal val="visible"/>
                                      </p:to>
                                    </p:set>
                                    <p:animEffect transition="in" filter="fade">
                                      <p:cBhvr>
                                        <p:cTn id="40" dur="500"/>
                                        <p:tgtEl>
                                          <p:spTgt spid="9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96"/>
                                        </p:tgtEl>
                                        <p:attrNameLst>
                                          <p:attrName>style.visibility</p:attrName>
                                        </p:attrNameLst>
                                      </p:cBhvr>
                                      <p:to>
                                        <p:strVal val="visible"/>
                                      </p:to>
                                    </p:set>
                                    <p:animEffect transition="in" filter="fade">
                                      <p:cBhvr>
                                        <p:cTn id="43" dur="500"/>
                                        <p:tgtEl>
                                          <p:spTgt spid="9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97"/>
                                        </p:tgtEl>
                                        <p:attrNameLst>
                                          <p:attrName>style.visibility</p:attrName>
                                        </p:attrNameLst>
                                      </p:cBhvr>
                                      <p:to>
                                        <p:strVal val="visible"/>
                                      </p:to>
                                    </p:set>
                                    <p:animEffect transition="in" filter="fade">
                                      <p:cBhvr>
                                        <p:cTn id="46" dur="500"/>
                                        <p:tgtEl>
                                          <p:spTgt spid="9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98"/>
                                        </p:tgtEl>
                                        <p:attrNameLst>
                                          <p:attrName>style.visibility</p:attrName>
                                        </p:attrNameLst>
                                      </p:cBhvr>
                                      <p:to>
                                        <p:strVal val="visible"/>
                                      </p:to>
                                    </p:set>
                                    <p:animEffect transition="in" filter="fade">
                                      <p:cBhvr>
                                        <p:cTn id="49" dur="500"/>
                                        <p:tgtEl>
                                          <p:spTgt spid="98"/>
                                        </p:tgtEl>
                                      </p:cBhvr>
                                    </p:animEffect>
                                  </p:childTnLst>
                                </p:cTn>
                              </p:par>
                            </p:childTnLst>
                          </p:cTn>
                        </p:par>
                        <p:par>
                          <p:cTn id="50" fill="hold">
                            <p:stCondLst>
                              <p:cond delay="2700"/>
                            </p:stCondLst>
                            <p:childTnLst>
                              <p:par>
                                <p:cTn id="51" presetID="6" presetClass="entr" presetSubtype="32" fill="hold" grpId="0" nodeType="afterEffect">
                                  <p:stCondLst>
                                    <p:cond delay="0"/>
                                  </p:stCondLst>
                                  <p:childTnLst>
                                    <p:set>
                                      <p:cBhvr>
                                        <p:cTn id="52" dur="1" fill="hold">
                                          <p:stCondLst>
                                            <p:cond delay="0"/>
                                          </p:stCondLst>
                                        </p:cTn>
                                        <p:tgtEl>
                                          <p:spTgt spid="35"/>
                                        </p:tgtEl>
                                        <p:attrNameLst>
                                          <p:attrName>style.visibility</p:attrName>
                                        </p:attrNameLst>
                                      </p:cBhvr>
                                      <p:to>
                                        <p:strVal val="visible"/>
                                      </p:to>
                                    </p:set>
                                    <p:animEffect transition="in" filter="circle(out)">
                                      <p:cBhvr>
                                        <p:cTn id="53" dur="500"/>
                                        <p:tgtEl>
                                          <p:spTgt spid="35"/>
                                        </p:tgtEl>
                                      </p:cBhvr>
                                    </p:animEffect>
                                  </p:childTnLst>
                                </p:cTn>
                              </p:par>
                              <p:par>
                                <p:cTn id="54" presetID="6" presetClass="entr" presetSubtype="32" fill="hold" grpId="0" nodeType="withEffect">
                                  <p:stCondLst>
                                    <p:cond delay="0"/>
                                  </p:stCondLst>
                                  <p:childTnLst>
                                    <p:set>
                                      <p:cBhvr>
                                        <p:cTn id="55" dur="1" fill="hold">
                                          <p:stCondLst>
                                            <p:cond delay="0"/>
                                          </p:stCondLst>
                                        </p:cTn>
                                        <p:tgtEl>
                                          <p:spTgt spid="36"/>
                                        </p:tgtEl>
                                        <p:attrNameLst>
                                          <p:attrName>style.visibility</p:attrName>
                                        </p:attrNameLst>
                                      </p:cBhvr>
                                      <p:to>
                                        <p:strVal val="visible"/>
                                      </p:to>
                                    </p:set>
                                    <p:animEffect transition="in" filter="circle(out)">
                                      <p:cBhvr>
                                        <p:cTn id="56" dur="500"/>
                                        <p:tgtEl>
                                          <p:spTgt spid="36"/>
                                        </p:tgtEl>
                                      </p:cBhvr>
                                    </p:animEffect>
                                  </p:childTnLst>
                                </p:cTn>
                              </p:par>
                              <p:par>
                                <p:cTn id="57" presetID="6" presetClass="entr" presetSubtype="32" fill="hold" grpId="0" nodeType="withEffect">
                                  <p:stCondLst>
                                    <p:cond delay="0"/>
                                  </p:stCondLst>
                                  <p:childTnLst>
                                    <p:set>
                                      <p:cBhvr>
                                        <p:cTn id="58" dur="1" fill="hold">
                                          <p:stCondLst>
                                            <p:cond delay="0"/>
                                          </p:stCondLst>
                                        </p:cTn>
                                        <p:tgtEl>
                                          <p:spTgt spid="37"/>
                                        </p:tgtEl>
                                        <p:attrNameLst>
                                          <p:attrName>style.visibility</p:attrName>
                                        </p:attrNameLst>
                                      </p:cBhvr>
                                      <p:to>
                                        <p:strVal val="visible"/>
                                      </p:to>
                                    </p:set>
                                    <p:animEffect transition="in" filter="circle(out)">
                                      <p:cBhvr>
                                        <p:cTn id="59" dur="500"/>
                                        <p:tgtEl>
                                          <p:spTgt spid="37"/>
                                        </p:tgtEl>
                                      </p:cBhvr>
                                    </p:animEffect>
                                  </p:childTnLst>
                                </p:cTn>
                              </p:par>
                              <p:par>
                                <p:cTn id="60" presetID="6" presetClass="entr" presetSubtype="32" fill="hold" grpId="0" nodeType="withEffect">
                                  <p:stCondLst>
                                    <p:cond delay="0"/>
                                  </p:stCondLst>
                                  <p:childTnLst>
                                    <p:set>
                                      <p:cBhvr>
                                        <p:cTn id="61" dur="1" fill="hold">
                                          <p:stCondLst>
                                            <p:cond delay="0"/>
                                          </p:stCondLst>
                                        </p:cTn>
                                        <p:tgtEl>
                                          <p:spTgt spid="34"/>
                                        </p:tgtEl>
                                        <p:attrNameLst>
                                          <p:attrName>style.visibility</p:attrName>
                                        </p:attrNameLst>
                                      </p:cBhvr>
                                      <p:to>
                                        <p:strVal val="visible"/>
                                      </p:to>
                                    </p:set>
                                    <p:animEffect transition="in" filter="circle(out)">
                                      <p:cBhvr>
                                        <p:cTn id="62"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4" grpId="0" animBg="1"/>
      <p:bldP spid="35" grpId="0" animBg="1"/>
      <p:bldP spid="36" grpId="0" animBg="1"/>
      <p:bldP spid="37" grpId="0" animBg="1"/>
      <p:bldP spid="73" grpId="0" animBg="1"/>
      <p:bldP spid="74" grpId="0" animBg="1"/>
      <p:bldP spid="75" grpId="0" animBg="1"/>
      <p:bldP spid="76" grpId="0" animBg="1"/>
      <p:bldP spid="77" grpId="0"/>
      <p:bldP spid="95" grpId="0"/>
      <p:bldP spid="96" grpId="0"/>
      <p:bldP spid="97" grpId="0"/>
      <p:bldP spid="9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0D6C4-BADD-4C3C-95B1-67E9423C45F6}"/>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5A703973-91E7-7E77-D69D-D6F2CE691CDC}"/>
              </a:ext>
            </a:extLst>
          </p:cNvPr>
          <p:cNvPicPr>
            <a:picLocks noChangeAspect="1"/>
          </p:cNvPicPr>
          <p:nvPr/>
        </p:nvPicPr>
        <p:blipFill>
          <a:blip r:embed="rId3">
            <a:clrChange>
              <a:clrFrom>
                <a:srgbClr val="071002"/>
              </a:clrFrom>
              <a:clrTo>
                <a:srgbClr val="071002">
                  <a:alpha val="0"/>
                </a:srgbClr>
              </a:clrTo>
            </a:clrChange>
            <a:extLst>
              <a:ext uri="{BEBA8EAE-BF5A-486C-A8C5-ECC9F3942E4B}">
                <a14:imgProps xmlns:a14="http://schemas.microsoft.com/office/drawing/2010/main">
                  <a14:imgLayer r:embed="rId4">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sp>
        <p:nvSpPr>
          <p:cNvPr id="82" name="Rectangle 81">
            <a:extLst>
              <a:ext uri="{FF2B5EF4-FFF2-40B4-BE49-F238E27FC236}">
                <a16:creationId xmlns:a16="http://schemas.microsoft.com/office/drawing/2014/main" id="{BB34D9E0-60D5-7951-9778-D326E48C25C9}"/>
              </a:ext>
            </a:extLst>
          </p:cNvPr>
          <p:cNvSpPr/>
          <p:nvPr/>
        </p:nvSpPr>
        <p:spPr>
          <a:xfrm>
            <a:off x="0" y="401452"/>
            <a:ext cx="12513501" cy="741600"/>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700"/>
              </a:spcAft>
            </a:pPr>
            <a:r>
              <a:rPr lang="en-US" sz="3600" b="1" dirty="0">
                <a:latin typeface="Times New Roman" panose="02020603050405020304" pitchFamily="18" charset="0"/>
                <a:cs typeface="Times New Roman" panose="02020603050405020304" pitchFamily="18" charset="0"/>
              </a:rPr>
              <a:t> AUTONOMY AND DEPLOYEMENT</a:t>
            </a:r>
          </a:p>
        </p:txBody>
      </p:sp>
      <p:pic>
        <p:nvPicPr>
          <p:cNvPr id="4" name="Picture 3">
            <a:extLst>
              <a:ext uri="{FF2B5EF4-FFF2-40B4-BE49-F238E27FC236}">
                <a16:creationId xmlns:a16="http://schemas.microsoft.com/office/drawing/2014/main" id="{4838C5A9-3918-7D44-442B-E6CBB69932E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84494" y="1623292"/>
            <a:ext cx="7129006" cy="4010066"/>
          </a:xfrm>
          <a:prstGeom prst="rect">
            <a:avLst/>
          </a:prstGeom>
        </p:spPr>
      </p:pic>
      <p:sp>
        <p:nvSpPr>
          <p:cNvPr id="9" name="Rectangle 3">
            <a:extLst>
              <a:ext uri="{FF2B5EF4-FFF2-40B4-BE49-F238E27FC236}">
                <a16:creationId xmlns:a16="http://schemas.microsoft.com/office/drawing/2014/main" id="{74019506-294C-450A-B311-C5FD6D0C1D27}"/>
              </a:ext>
            </a:extLst>
          </p:cNvPr>
          <p:cNvSpPr>
            <a:spLocks noChangeArrowheads="1"/>
          </p:cNvSpPr>
          <p:nvPr/>
        </p:nvSpPr>
        <p:spPr bwMode="auto">
          <a:xfrm rot="10800000" flipV="1">
            <a:off x="308276" y="1451358"/>
            <a:ext cx="4767943"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Liberation Serif"/>
              </a:rPr>
              <a:t>Mission Planner is used to create autonomous missions for both scanning and delivery drones.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Liberation Serif"/>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Liberation Serif"/>
              </a:rPr>
              <a:t>Grid-based waypoints are defined for area scanning, while target-specific waypoints are used for payload delivery.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Liberation Serif"/>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Liberation Serif"/>
              </a:rPr>
              <a:t>The planned mission is uploaded to the Pixhawk flight controller, and the drone operates in </a:t>
            </a:r>
            <a:r>
              <a:rPr kumimoji="0" lang="en-US" altLang="en-US" b="1" i="0" u="none" strike="noStrike" cap="none" normalizeH="0" baseline="0" dirty="0">
                <a:ln>
                  <a:noFill/>
                </a:ln>
                <a:solidFill>
                  <a:schemeClr val="tx1"/>
                </a:solidFill>
                <a:effectLst/>
                <a:latin typeface="Liberation Serif"/>
              </a:rPr>
              <a:t>AUTO mode</a:t>
            </a:r>
            <a:r>
              <a:rPr kumimoji="0" lang="en-US" altLang="en-US" b="0" i="0" u="none" strike="noStrike" cap="none" normalizeH="0" baseline="0" dirty="0">
                <a:ln>
                  <a:noFill/>
                </a:ln>
                <a:solidFill>
                  <a:schemeClr val="tx1"/>
                </a:solidFill>
                <a:effectLst/>
                <a:latin typeface="Liberation Serif"/>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Liberation Serif"/>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Liberation Serif"/>
              </a:rPr>
              <a:t>Mission Planner enables real-time monitoring of position, altitude, and mission progress.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Liberation Serif"/>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Liberation Serif"/>
              </a:rPr>
              <a:t>Safety features such as mode switching and </a:t>
            </a:r>
            <a:r>
              <a:rPr kumimoji="0" lang="en-US" altLang="en-US" b="1" i="0" u="none" strike="noStrike" cap="none" normalizeH="0" baseline="0" dirty="0">
                <a:ln>
                  <a:noFill/>
                </a:ln>
                <a:solidFill>
                  <a:schemeClr val="tx1"/>
                </a:solidFill>
                <a:effectLst/>
                <a:latin typeface="Liberation Serif"/>
              </a:rPr>
              <a:t>Return-to-Launch (RTL)</a:t>
            </a:r>
            <a:r>
              <a:rPr kumimoji="0" lang="en-US" altLang="en-US" b="0" i="0" u="none" strike="noStrike" cap="none" normalizeH="0" baseline="0" dirty="0">
                <a:ln>
                  <a:noFill/>
                </a:ln>
                <a:solidFill>
                  <a:schemeClr val="tx1"/>
                </a:solidFill>
                <a:effectLst/>
                <a:latin typeface="Liberation Serif"/>
              </a:rPr>
              <a:t> ensure safe deployment and recovery.</a:t>
            </a:r>
          </a:p>
        </p:txBody>
      </p:sp>
    </p:spTree>
    <p:custDataLst>
      <p:tags r:id="rId1"/>
    </p:custDataLst>
    <p:extLst>
      <p:ext uri="{BB962C8B-B14F-4D97-AF65-F5344CB8AC3E}">
        <p14:creationId xmlns:p14="http://schemas.microsoft.com/office/powerpoint/2010/main" val="895505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98E10-69F3-84D1-F38D-D4BC5ECF5562}"/>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72ECCC75-7C41-75A8-77DC-5E0C93C57538}"/>
              </a:ext>
            </a:extLst>
          </p:cNvPr>
          <p:cNvPicPr>
            <a:picLocks noChangeAspect="1"/>
          </p:cNvPicPr>
          <p:nvPr/>
        </p:nvPicPr>
        <p:blipFill>
          <a:blip r:embed="rId3">
            <a:clrChange>
              <a:clrFrom>
                <a:srgbClr val="071002"/>
              </a:clrFrom>
              <a:clrTo>
                <a:srgbClr val="071002">
                  <a:alpha val="0"/>
                </a:srgbClr>
              </a:clrTo>
            </a:clrChange>
            <a:extLst>
              <a:ext uri="{BEBA8EAE-BF5A-486C-A8C5-ECC9F3942E4B}">
                <a14:imgProps xmlns:a14="http://schemas.microsoft.com/office/drawing/2010/main">
                  <a14:imgLayer r:embed="rId4">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sp>
        <p:nvSpPr>
          <p:cNvPr id="10" name="Rectangle: Rounded Corners 9">
            <a:extLst>
              <a:ext uri="{FF2B5EF4-FFF2-40B4-BE49-F238E27FC236}">
                <a16:creationId xmlns:a16="http://schemas.microsoft.com/office/drawing/2014/main" id="{9834A9A5-7FEE-3BFA-07A7-9D0F0B3E2B2B}"/>
              </a:ext>
            </a:extLst>
          </p:cNvPr>
          <p:cNvSpPr/>
          <p:nvPr/>
        </p:nvSpPr>
        <p:spPr>
          <a:xfrm>
            <a:off x="213360" y="1691639"/>
            <a:ext cx="11582401" cy="4398445"/>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8CDABD6F-CD4B-A42A-E0C9-8BD8F57DA836}"/>
              </a:ext>
            </a:extLst>
          </p:cNvPr>
          <p:cNvSpPr/>
          <p:nvPr/>
        </p:nvSpPr>
        <p:spPr>
          <a:xfrm>
            <a:off x="-1" y="401452"/>
            <a:ext cx="9611833" cy="741600"/>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700"/>
              </a:spcAft>
            </a:pPr>
            <a:r>
              <a:rPr lang="en-US" sz="4400" b="1" dirty="0">
                <a:latin typeface="Times New Roman" panose="02020603050405020304" pitchFamily="18" charset="0"/>
                <a:cs typeface="Times New Roman" panose="02020603050405020304" pitchFamily="18" charset="0"/>
              </a:rPr>
              <a:t>   AUTOMATIC IDENTIFICATION:</a:t>
            </a:r>
          </a:p>
        </p:txBody>
      </p:sp>
      <p:cxnSp>
        <p:nvCxnSpPr>
          <p:cNvPr id="29" name="直接连接符 42">
            <a:extLst>
              <a:ext uri="{FF2B5EF4-FFF2-40B4-BE49-F238E27FC236}">
                <a16:creationId xmlns:a16="http://schemas.microsoft.com/office/drawing/2014/main" id="{42835795-9219-66DF-D54F-12A91DE46FF2}"/>
              </a:ext>
            </a:extLst>
          </p:cNvPr>
          <p:cNvCxnSpPr>
            <a:cxnSpLocks/>
          </p:cNvCxnSpPr>
          <p:nvPr/>
        </p:nvCxnSpPr>
        <p:spPr>
          <a:xfrm>
            <a:off x="2233353" y="2698023"/>
            <a:ext cx="1532632" cy="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825BEDB8-68A1-A5C3-4F4B-FD9C6CF26596}"/>
              </a:ext>
            </a:extLst>
          </p:cNvPr>
          <p:cNvSpPr txBox="1"/>
          <p:nvPr/>
        </p:nvSpPr>
        <p:spPr>
          <a:xfrm>
            <a:off x="4588841" y="2475207"/>
            <a:ext cx="6312202" cy="523220"/>
          </a:xfrm>
          <a:prstGeom prst="rect">
            <a:avLst/>
          </a:prstGeom>
          <a:noFill/>
        </p:spPr>
        <p:txBody>
          <a:bodyPr wrap="square" rtlCol="0">
            <a:spAutoFit/>
          </a:bodyPr>
          <a:lstStyle/>
          <a:p>
            <a:r>
              <a:rPr lang="en-US" sz="1400" dirty="0">
                <a:latin typeface="Liberation Serif"/>
              </a:rPr>
              <a:t>The scanning drone flies autonomously using grid-based waypoints and automatically detects humans using onboard vision processing.</a:t>
            </a:r>
            <a:endParaRPr lang="en-US" sz="1400" spc="-10" dirty="0">
              <a:latin typeface="Liberation Serif"/>
              <a:ea typeface="Arial" panose="020B0604020202020204" pitchFamily="34" charset="0"/>
              <a:cs typeface="Arial MT"/>
            </a:endParaRPr>
          </a:p>
        </p:txBody>
      </p:sp>
      <p:sp>
        <p:nvSpPr>
          <p:cNvPr id="31" name="TextBox 30">
            <a:extLst>
              <a:ext uri="{FF2B5EF4-FFF2-40B4-BE49-F238E27FC236}">
                <a16:creationId xmlns:a16="http://schemas.microsoft.com/office/drawing/2014/main" id="{0C5A7F38-8676-62AE-A0FE-549FBC81B009}"/>
              </a:ext>
            </a:extLst>
          </p:cNvPr>
          <p:cNvSpPr txBox="1"/>
          <p:nvPr/>
        </p:nvSpPr>
        <p:spPr>
          <a:xfrm>
            <a:off x="3907060" y="2505601"/>
            <a:ext cx="540000" cy="562630"/>
          </a:xfrm>
          <a:prstGeom prst="ellipse">
            <a:avLst/>
          </a:prstGeom>
          <a:solidFill>
            <a:schemeClr val="bg2">
              <a:lumMod val="50000"/>
            </a:schemeClr>
          </a:solidFill>
        </p:spPr>
        <p:txBody>
          <a:bodyPr wrap="square" rtlCol="0">
            <a:spAutoFit/>
          </a:bodyPr>
          <a:lstStyle/>
          <a:p>
            <a:pPr algn="ctr"/>
            <a:r>
              <a:rPr lang="en-US" altLang="zh-CN" sz="2000" dirty="0">
                <a:solidFill>
                  <a:srgbClr val="53D2FF"/>
                </a:solidFill>
                <a:latin typeface="微软雅黑" pitchFamily="34" charset="-122"/>
                <a:ea typeface="微软雅黑" pitchFamily="34" charset="-122"/>
              </a:rPr>
              <a:t>1.</a:t>
            </a:r>
            <a:endParaRPr lang="zh-CN" altLang="en-US" sz="2000" dirty="0">
              <a:solidFill>
                <a:srgbClr val="53D2FF"/>
              </a:solidFill>
              <a:latin typeface="微软雅黑" pitchFamily="34" charset="-122"/>
              <a:ea typeface="微软雅黑" pitchFamily="34" charset="-122"/>
            </a:endParaRPr>
          </a:p>
        </p:txBody>
      </p:sp>
      <p:cxnSp>
        <p:nvCxnSpPr>
          <p:cNvPr id="33" name="直接连接符 47">
            <a:extLst>
              <a:ext uri="{FF2B5EF4-FFF2-40B4-BE49-F238E27FC236}">
                <a16:creationId xmlns:a16="http://schemas.microsoft.com/office/drawing/2014/main" id="{526A07C6-BC7E-E20E-3280-B4595024897D}"/>
              </a:ext>
            </a:extLst>
          </p:cNvPr>
          <p:cNvCxnSpPr>
            <a:cxnSpLocks/>
          </p:cNvCxnSpPr>
          <p:nvPr/>
        </p:nvCxnSpPr>
        <p:spPr>
          <a:xfrm>
            <a:off x="2295939" y="3370648"/>
            <a:ext cx="1534550" cy="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FB124B6B-BD02-F0D8-B855-9337E270590E}"/>
              </a:ext>
            </a:extLst>
          </p:cNvPr>
          <p:cNvSpPr txBox="1"/>
          <p:nvPr/>
        </p:nvSpPr>
        <p:spPr>
          <a:xfrm>
            <a:off x="4588841" y="3321063"/>
            <a:ext cx="6849951" cy="523220"/>
          </a:xfrm>
          <a:prstGeom prst="rect">
            <a:avLst/>
          </a:prstGeom>
          <a:noFill/>
        </p:spPr>
        <p:txBody>
          <a:bodyPr wrap="square" rtlCol="0">
            <a:spAutoFit/>
          </a:bodyPr>
          <a:lstStyle/>
          <a:p>
            <a:pPr lvl="0"/>
            <a:r>
              <a:rPr lang="en-US" sz="1400" dirty="0">
                <a:latin typeface="Liberation Serif"/>
              </a:rPr>
              <a:t>Once a human is detected, the system automatically records the drone’s GPS coordinates (latitude, longitude, altitude, timestamp) and saves the location as a waypoint.</a:t>
            </a:r>
            <a:endParaRPr lang="en-IN" sz="1400" dirty="0">
              <a:latin typeface="Liberation Serif"/>
            </a:endParaRPr>
          </a:p>
        </p:txBody>
      </p:sp>
      <p:sp>
        <p:nvSpPr>
          <p:cNvPr id="35" name="TextBox 34">
            <a:extLst>
              <a:ext uri="{FF2B5EF4-FFF2-40B4-BE49-F238E27FC236}">
                <a16:creationId xmlns:a16="http://schemas.microsoft.com/office/drawing/2014/main" id="{52C3B205-134A-4D36-C327-6144C2EE59A1}"/>
              </a:ext>
            </a:extLst>
          </p:cNvPr>
          <p:cNvSpPr txBox="1"/>
          <p:nvPr/>
        </p:nvSpPr>
        <p:spPr>
          <a:xfrm>
            <a:off x="3907060" y="3212230"/>
            <a:ext cx="540000" cy="562630"/>
          </a:xfrm>
          <a:prstGeom prst="ellipse">
            <a:avLst/>
          </a:prstGeom>
          <a:solidFill>
            <a:schemeClr val="bg2">
              <a:lumMod val="50000"/>
            </a:schemeClr>
          </a:solidFill>
        </p:spPr>
        <p:txBody>
          <a:bodyPr wrap="square" rtlCol="0">
            <a:spAutoFit/>
          </a:bodyPr>
          <a:lstStyle/>
          <a:p>
            <a:pPr algn="ctr"/>
            <a:r>
              <a:rPr lang="en-IN" altLang="zh-CN" sz="2000" dirty="0">
                <a:solidFill>
                  <a:srgbClr val="53D2FF"/>
                </a:solidFill>
                <a:latin typeface="微软雅黑" pitchFamily="34" charset="-122"/>
                <a:ea typeface="微软雅黑" pitchFamily="34" charset="-122"/>
              </a:rPr>
              <a:t>2.</a:t>
            </a:r>
            <a:endParaRPr lang="zh-CN" altLang="en-US" sz="2000" dirty="0">
              <a:solidFill>
                <a:srgbClr val="53D2FF"/>
              </a:solidFill>
              <a:latin typeface="微软雅黑" pitchFamily="34" charset="-122"/>
              <a:ea typeface="微软雅黑" pitchFamily="34" charset="-122"/>
            </a:endParaRPr>
          </a:p>
        </p:txBody>
      </p:sp>
      <p:cxnSp>
        <p:nvCxnSpPr>
          <p:cNvPr id="36" name="直接连接符 56">
            <a:extLst>
              <a:ext uri="{FF2B5EF4-FFF2-40B4-BE49-F238E27FC236}">
                <a16:creationId xmlns:a16="http://schemas.microsoft.com/office/drawing/2014/main" id="{B4AFB3BF-E5EF-122F-13B7-19216FB2A22D}"/>
              </a:ext>
            </a:extLst>
          </p:cNvPr>
          <p:cNvCxnSpPr>
            <a:cxnSpLocks/>
          </p:cNvCxnSpPr>
          <p:nvPr/>
        </p:nvCxnSpPr>
        <p:spPr>
          <a:xfrm>
            <a:off x="2295939" y="4094579"/>
            <a:ext cx="1534550" cy="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6C5B095D-A7FF-B4AC-08FA-AC187F26B0FD}"/>
              </a:ext>
            </a:extLst>
          </p:cNvPr>
          <p:cNvSpPr txBox="1"/>
          <p:nvPr/>
        </p:nvSpPr>
        <p:spPr>
          <a:xfrm>
            <a:off x="4588841" y="4029167"/>
            <a:ext cx="6203020" cy="523220"/>
          </a:xfrm>
          <a:prstGeom prst="rect">
            <a:avLst/>
          </a:prstGeom>
          <a:noFill/>
        </p:spPr>
        <p:txBody>
          <a:bodyPr wrap="square" rtlCol="0">
            <a:spAutoFit/>
          </a:bodyPr>
          <a:lstStyle/>
          <a:p>
            <a:pPr lvl="0"/>
            <a:r>
              <a:rPr lang="en-US" sz="1400" dirty="0">
                <a:latin typeface="Liberation Serif"/>
              </a:rPr>
              <a:t>The detected waypoints are automatically uploaded to the cloud and made available to the delivery drone without manual coordinate entry.</a:t>
            </a:r>
            <a:endParaRPr lang="en-IN" sz="1400" dirty="0">
              <a:latin typeface="Liberation Serif"/>
            </a:endParaRPr>
          </a:p>
        </p:txBody>
      </p:sp>
      <p:sp>
        <p:nvSpPr>
          <p:cNvPr id="38" name="TextBox 37">
            <a:extLst>
              <a:ext uri="{FF2B5EF4-FFF2-40B4-BE49-F238E27FC236}">
                <a16:creationId xmlns:a16="http://schemas.microsoft.com/office/drawing/2014/main" id="{3B640E5F-04FF-7B9D-A0AE-F3C0910F3E2F}"/>
              </a:ext>
            </a:extLst>
          </p:cNvPr>
          <p:cNvSpPr txBox="1"/>
          <p:nvPr/>
        </p:nvSpPr>
        <p:spPr>
          <a:xfrm>
            <a:off x="3907060" y="3936161"/>
            <a:ext cx="540000" cy="562630"/>
          </a:xfrm>
          <a:prstGeom prst="ellipse">
            <a:avLst/>
          </a:prstGeom>
          <a:solidFill>
            <a:schemeClr val="bg2">
              <a:lumMod val="50000"/>
            </a:schemeClr>
          </a:solidFill>
        </p:spPr>
        <p:txBody>
          <a:bodyPr wrap="square" rtlCol="0">
            <a:spAutoFit/>
          </a:bodyPr>
          <a:lstStyle/>
          <a:p>
            <a:pPr algn="ctr"/>
            <a:r>
              <a:rPr lang="en-US" altLang="zh-CN" sz="2000" dirty="0">
                <a:solidFill>
                  <a:srgbClr val="53D2FF"/>
                </a:solidFill>
                <a:latin typeface="微软雅黑" pitchFamily="34" charset="-122"/>
                <a:ea typeface="微软雅黑" pitchFamily="34" charset="-122"/>
              </a:rPr>
              <a:t>3.</a:t>
            </a:r>
            <a:endParaRPr lang="zh-CN" altLang="en-US" sz="2000" dirty="0">
              <a:solidFill>
                <a:srgbClr val="53D2FF"/>
              </a:solidFill>
              <a:latin typeface="微软雅黑" pitchFamily="34" charset="-122"/>
              <a:ea typeface="微软雅黑" pitchFamily="34" charset="-122"/>
            </a:endParaRPr>
          </a:p>
        </p:txBody>
      </p:sp>
      <p:cxnSp>
        <p:nvCxnSpPr>
          <p:cNvPr id="40" name="直接连接符 66">
            <a:extLst>
              <a:ext uri="{FF2B5EF4-FFF2-40B4-BE49-F238E27FC236}">
                <a16:creationId xmlns:a16="http://schemas.microsoft.com/office/drawing/2014/main" id="{3557F2DB-6105-B1CA-AD10-075BAA76CD8A}"/>
              </a:ext>
            </a:extLst>
          </p:cNvPr>
          <p:cNvCxnSpPr>
            <a:cxnSpLocks/>
          </p:cNvCxnSpPr>
          <p:nvPr/>
        </p:nvCxnSpPr>
        <p:spPr>
          <a:xfrm>
            <a:off x="3316995" y="4853775"/>
            <a:ext cx="513494" cy="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EE038326-B848-6ED3-CC2B-3ED5E6172D55}"/>
              </a:ext>
            </a:extLst>
          </p:cNvPr>
          <p:cNvSpPr txBox="1"/>
          <p:nvPr/>
        </p:nvSpPr>
        <p:spPr>
          <a:xfrm>
            <a:off x="4626138" y="4743089"/>
            <a:ext cx="6203020" cy="904222"/>
          </a:xfrm>
          <a:prstGeom prst="rect">
            <a:avLst/>
          </a:prstGeom>
          <a:noFill/>
        </p:spPr>
        <p:txBody>
          <a:bodyPr wrap="square" rtlCol="0">
            <a:spAutoFit/>
          </a:bodyPr>
          <a:lstStyle/>
          <a:p>
            <a:pPr>
              <a:lnSpc>
                <a:spcPct val="130000"/>
              </a:lnSpc>
            </a:pPr>
            <a:r>
              <a:rPr lang="en-US" sz="1400" dirty="0">
                <a:latin typeface="Liberation Serif"/>
              </a:rPr>
              <a:t>The delivery drone retrieves the waypoints, navigates autonomously to each location, releases one payload per waypoint, and returns to launch after completing the mission.</a:t>
            </a:r>
            <a:endParaRPr lang="zh-CN" altLang="en-US" sz="1400" dirty="0">
              <a:solidFill>
                <a:srgbClr val="00B0F0"/>
              </a:solidFill>
              <a:latin typeface="Liberation Serif"/>
              <a:ea typeface="微软雅黑" pitchFamily="34" charset="-122"/>
            </a:endParaRPr>
          </a:p>
        </p:txBody>
      </p:sp>
      <p:sp>
        <p:nvSpPr>
          <p:cNvPr id="42" name="TextBox 41">
            <a:extLst>
              <a:ext uri="{FF2B5EF4-FFF2-40B4-BE49-F238E27FC236}">
                <a16:creationId xmlns:a16="http://schemas.microsoft.com/office/drawing/2014/main" id="{C537E931-7C94-7912-2F96-7AF0A989053C}"/>
              </a:ext>
            </a:extLst>
          </p:cNvPr>
          <p:cNvSpPr txBox="1"/>
          <p:nvPr/>
        </p:nvSpPr>
        <p:spPr>
          <a:xfrm>
            <a:off x="3907060" y="4653720"/>
            <a:ext cx="540000" cy="562630"/>
          </a:xfrm>
          <a:prstGeom prst="ellipse">
            <a:avLst/>
          </a:prstGeom>
          <a:solidFill>
            <a:schemeClr val="bg2">
              <a:lumMod val="50000"/>
            </a:schemeClr>
          </a:solidFill>
        </p:spPr>
        <p:txBody>
          <a:bodyPr wrap="square" rtlCol="0">
            <a:spAutoFit/>
          </a:bodyPr>
          <a:lstStyle/>
          <a:p>
            <a:pPr algn="ctr"/>
            <a:r>
              <a:rPr lang="en-IN" altLang="zh-CN" sz="2000" dirty="0">
                <a:solidFill>
                  <a:srgbClr val="53D2FF"/>
                </a:solidFill>
                <a:latin typeface="微软雅黑" pitchFamily="34" charset="-122"/>
                <a:ea typeface="微软雅黑" pitchFamily="34" charset="-122"/>
              </a:rPr>
              <a:t>4.</a:t>
            </a:r>
            <a:endParaRPr lang="zh-CN" altLang="en-US" sz="2000" dirty="0">
              <a:solidFill>
                <a:srgbClr val="53D2FF"/>
              </a:solidFill>
              <a:latin typeface="微软雅黑" pitchFamily="34" charset="-122"/>
              <a:ea typeface="微软雅黑" pitchFamily="34" charset="-122"/>
            </a:endParaRPr>
          </a:p>
        </p:txBody>
      </p:sp>
      <p:pic>
        <p:nvPicPr>
          <p:cNvPr id="2" name="Picture 1">
            <a:extLst>
              <a:ext uri="{FF2B5EF4-FFF2-40B4-BE49-F238E27FC236}">
                <a16:creationId xmlns:a16="http://schemas.microsoft.com/office/drawing/2014/main" id="{04A8D497-ECF0-2B3A-94A4-AE4B77206486}"/>
              </a:ext>
            </a:extLst>
          </p:cNvPr>
          <p:cNvPicPr>
            <a:picLocks noChangeAspect="1"/>
          </p:cNvPicPr>
          <p:nvPr/>
        </p:nvPicPr>
        <p:blipFill>
          <a:blip r:embed="rId5">
            <a:extLst>
              <a:ext uri="{28A0092B-C50C-407E-A947-70E740481C1C}">
                <a14:useLocalDpi xmlns:a14="http://schemas.microsoft.com/office/drawing/2010/main" val="0"/>
              </a:ext>
            </a:extLst>
          </a:blip>
          <a:srcRect l="50765" t="40428" r="34382" b="21224"/>
          <a:stretch>
            <a:fillRect/>
          </a:stretch>
        </p:blipFill>
        <p:spPr>
          <a:xfrm>
            <a:off x="835464" y="2345369"/>
            <a:ext cx="2339750" cy="2870981"/>
          </a:xfrm>
          <a:prstGeom prst="rect">
            <a:avLst/>
          </a:prstGeom>
        </p:spPr>
      </p:pic>
    </p:spTree>
    <p:custDataLst>
      <p:tags r:id="rId1"/>
    </p:custDataLst>
    <p:extLst>
      <p:ext uri="{BB962C8B-B14F-4D97-AF65-F5344CB8AC3E}">
        <p14:creationId xmlns:p14="http://schemas.microsoft.com/office/powerpoint/2010/main" val="297716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wipe(left)">
                                      <p:cBhvr>
                                        <p:cTn id="11" dur="200"/>
                                        <p:tgtEl>
                                          <p:spTgt spid="29"/>
                                        </p:tgtEl>
                                      </p:cBhvr>
                                    </p:animEffect>
                                  </p:childTnLst>
                                </p:cTn>
                              </p:par>
                            </p:childTnLst>
                          </p:cTn>
                        </p:par>
                        <p:par>
                          <p:cTn id="12" fill="hold">
                            <p:stCondLst>
                              <p:cond delay="700"/>
                            </p:stCondLst>
                            <p:childTnLst>
                              <p:par>
                                <p:cTn id="13" presetID="10" presetClass="entr" presetSubtype="0" fill="hold" grpId="0" nodeType="afterEffect">
                                  <p:stCondLst>
                                    <p:cond delay="0"/>
                                  </p:stCondLst>
                                  <p:iterate type="lt">
                                    <p:tmPct val="10000"/>
                                  </p:iterate>
                                  <p:childTnLst>
                                    <p:set>
                                      <p:cBhvr>
                                        <p:cTn id="14" dur="1" fill="hold">
                                          <p:stCondLst>
                                            <p:cond delay="0"/>
                                          </p:stCondLst>
                                        </p:cTn>
                                        <p:tgtEl>
                                          <p:spTgt spid="31"/>
                                        </p:tgtEl>
                                        <p:attrNameLst>
                                          <p:attrName>style.visibility</p:attrName>
                                        </p:attrNameLst>
                                      </p:cBhvr>
                                      <p:to>
                                        <p:strVal val="visible"/>
                                      </p:to>
                                    </p:set>
                                    <p:animEffect transition="in" filter="fade">
                                      <p:cBhvr>
                                        <p:cTn id="15" dur="100"/>
                                        <p:tgtEl>
                                          <p:spTgt spid="31"/>
                                        </p:tgtEl>
                                      </p:cBhvr>
                                    </p:animEffect>
                                  </p:childTnLst>
                                </p:cTn>
                              </p:par>
                            </p:childTnLst>
                          </p:cTn>
                        </p:par>
                        <p:par>
                          <p:cTn id="16" fill="hold">
                            <p:stCondLst>
                              <p:cond delay="810"/>
                            </p:stCondLst>
                            <p:childTnLst>
                              <p:par>
                                <p:cTn id="17" presetID="22" presetClass="entr" presetSubtype="8" fill="hold" grpId="0" nodeType="afterEffect">
                                  <p:stCondLst>
                                    <p:cond delay="0"/>
                                  </p:stCondLst>
                                  <p:iterate type="lt">
                                    <p:tmPct val="10000"/>
                                  </p:iterate>
                                  <p:childTnLst>
                                    <p:set>
                                      <p:cBhvr>
                                        <p:cTn id="18" dur="1" fill="hold">
                                          <p:stCondLst>
                                            <p:cond delay="0"/>
                                          </p:stCondLst>
                                        </p:cTn>
                                        <p:tgtEl>
                                          <p:spTgt spid="30"/>
                                        </p:tgtEl>
                                        <p:attrNameLst>
                                          <p:attrName>style.visibility</p:attrName>
                                        </p:attrNameLst>
                                      </p:cBhvr>
                                      <p:to>
                                        <p:strVal val="visible"/>
                                      </p:to>
                                    </p:set>
                                    <p:animEffect transition="in" filter="wipe(left)">
                                      <p:cBhvr>
                                        <p:cTn id="19" dur="100"/>
                                        <p:tgtEl>
                                          <p:spTgt spid="30"/>
                                        </p:tgtEl>
                                      </p:cBhvr>
                                    </p:animEffect>
                                  </p:childTnLst>
                                </p:cTn>
                              </p:par>
                            </p:childTnLst>
                          </p:cTn>
                        </p:par>
                        <p:par>
                          <p:cTn id="20" fill="hold">
                            <p:stCondLst>
                              <p:cond delay="2050"/>
                            </p:stCondLst>
                            <p:childTnLst>
                              <p:par>
                                <p:cTn id="21" presetID="22" presetClass="entr" presetSubtype="8" fill="hold" nodeType="after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wipe(left)">
                                      <p:cBhvr>
                                        <p:cTn id="23" dur="200"/>
                                        <p:tgtEl>
                                          <p:spTgt spid="33"/>
                                        </p:tgtEl>
                                      </p:cBhvr>
                                    </p:animEffect>
                                  </p:childTnLst>
                                </p:cTn>
                              </p:par>
                            </p:childTnLst>
                          </p:cTn>
                        </p:par>
                        <p:par>
                          <p:cTn id="24" fill="hold">
                            <p:stCondLst>
                              <p:cond delay="2250"/>
                            </p:stCondLst>
                            <p:childTnLst>
                              <p:par>
                                <p:cTn id="25" presetID="10" presetClass="entr" presetSubtype="0" fill="hold" grpId="0" nodeType="afterEffect">
                                  <p:stCondLst>
                                    <p:cond delay="0"/>
                                  </p:stCondLst>
                                  <p:iterate type="lt">
                                    <p:tmPct val="10000"/>
                                  </p:iterate>
                                  <p:childTnLst>
                                    <p:set>
                                      <p:cBhvr>
                                        <p:cTn id="26" dur="1" fill="hold">
                                          <p:stCondLst>
                                            <p:cond delay="0"/>
                                          </p:stCondLst>
                                        </p:cTn>
                                        <p:tgtEl>
                                          <p:spTgt spid="35"/>
                                        </p:tgtEl>
                                        <p:attrNameLst>
                                          <p:attrName>style.visibility</p:attrName>
                                        </p:attrNameLst>
                                      </p:cBhvr>
                                      <p:to>
                                        <p:strVal val="visible"/>
                                      </p:to>
                                    </p:set>
                                    <p:animEffect transition="in" filter="fade">
                                      <p:cBhvr>
                                        <p:cTn id="27" dur="100"/>
                                        <p:tgtEl>
                                          <p:spTgt spid="35"/>
                                        </p:tgtEl>
                                      </p:cBhvr>
                                    </p:animEffect>
                                  </p:childTnLst>
                                </p:cTn>
                              </p:par>
                            </p:childTnLst>
                          </p:cTn>
                        </p:par>
                        <p:par>
                          <p:cTn id="28" fill="hold">
                            <p:stCondLst>
                              <p:cond delay="2360"/>
                            </p:stCondLst>
                            <p:childTnLst>
                              <p:par>
                                <p:cTn id="29" presetID="10" presetClass="entr" presetSubtype="0" fill="hold" grpId="0" nodeType="afterEffect">
                                  <p:stCondLst>
                                    <p:cond delay="0"/>
                                  </p:stCondLst>
                                  <p:iterate type="lt">
                                    <p:tmPct val="10000"/>
                                  </p:iterate>
                                  <p:childTnLst>
                                    <p:set>
                                      <p:cBhvr>
                                        <p:cTn id="30" dur="1" fill="hold">
                                          <p:stCondLst>
                                            <p:cond delay="0"/>
                                          </p:stCondLst>
                                        </p:cTn>
                                        <p:tgtEl>
                                          <p:spTgt spid="34"/>
                                        </p:tgtEl>
                                        <p:attrNameLst>
                                          <p:attrName>style.visibility</p:attrName>
                                        </p:attrNameLst>
                                      </p:cBhvr>
                                      <p:to>
                                        <p:strVal val="visible"/>
                                      </p:to>
                                    </p:set>
                                    <p:animEffect transition="in" filter="fade">
                                      <p:cBhvr>
                                        <p:cTn id="31" dur="100"/>
                                        <p:tgtEl>
                                          <p:spTgt spid="34"/>
                                        </p:tgtEl>
                                      </p:cBhvr>
                                    </p:animEffect>
                                  </p:childTnLst>
                                </p:cTn>
                              </p:par>
                              <p:par>
                                <p:cTn id="32" presetID="22" presetClass="entr" presetSubtype="8" fill="hold" nodeType="withEffect">
                                  <p:stCondLst>
                                    <p:cond delay="0"/>
                                  </p:stCondLst>
                                  <p:childTnLst>
                                    <p:set>
                                      <p:cBhvr>
                                        <p:cTn id="33" dur="1" fill="hold">
                                          <p:stCondLst>
                                            <p:cond delay="0"/>
                                          </p:stCondLst>
                                        </p:cTn>
                                        <p:tgtEl>
                                          <p:spTgt spid="36"/>
                                        </p:tgtEl>
                                        <p:attrNameLst>
                                          <p:attrName>style.visibility</p:attrName>
                                        </p:attrNameLst>
                                      </p:cBhvr>
                                      <p:to>
                                        <p:strVal val="visible"/>
                                      </p:to>
                                    </p:set>
                                    <p:animEffect transition="in" filter="wipe(left)">
                                      <p:cBhvr>
                                        <p:cTn id="34" dur="200"/>
                                        <p:tgtEl>
                                          <p:spTgt spid="36"/>
                                        </p:tgtEl>
                                      </p:cBhvr>
                                    </p:animEffect>
                                  </p:childTnLst>
                                </p:cTn>
                              </p:par>
                            </p:childTnLst>
                          </p:cTn>
                        </p:par>
                        <p:par>
                          <p:cTn id="35" fill="hold">
                            <p:stCondLst>
                              <p:cond delay="3890"/>
                            </p:stCondLst>
                            <p:childTnLst>
                              <p:par>
                                <p:cTn id="36" presetID="10" presetClass="entr" presetSubtype="0" fill="hold" grpId="0" nodeType="afterEffect">
                                  <p:stCondLst>
                                    <p:cond delay="0"/>
                                  </p:stCondLst>
                                  <p:iterate type="lt">
                                    <p:tmPct val="10000"/>
                                  </p:iterate>
                                  <p:childTnLst>
                                    <p:set>
                                      <p:cBhvr>
                                        <p:cTn id="37" dur="1" fill="hold">
                                          <p:stCondLst>
                                            <p:cond delay="0"/>
                                          </p:stCondLst>
                                        </p:cTn>
                                        <p:tgtEl>
                                          <p:spTgt spid="38"/>
                                        </p:tgtEl>
                                        <p:attrNameLst>
                                          <p:attrName>style.visibility</p:attrName>
                                        </p:attrNameLst>
                                      </p:cBhvr>
                                      <p:to>
                                        <p:strVal val="visible"/>
                                      </p:to>
                                    </p:set>
                                    <p:animEffect transition="in" filter="fade">
                                      <p:cBhvr>
                                        <p:cTn id="38" dur="100"/>
                                        <p:tgtEl>
                                          <p:spTgt spid="38"/>
                                        </p:tgtEl>
                                      </p:cBhvr>
                                    </p:animEffect>
                                  </p:childTnLst>
                                </p:cTn>
                              </p:par>
                            </p:childTnLst>
                          </p:cTn>
                        </p:par>
                        <p:par>
                          <p:cTn id="39" fill="hold">
                            <p:stCondLst>
                              <p:cond delay="4000"/>
                            </p:stCondLst>
                            <p:childTnLst>
                              <p:par>
                                <p:cTn id="40" presetID="10" presetClass="entr" presetSubtype="0" fill="hold" grpId="0" nodeType="afterEffect">
                                  <p:stCondLst>
                                    <p:cond delay="0"/>
                                  </p:stCondLst>
                                  <p:iterate type="lt">
                                    <p:tmPct val="10000"/>
                                  </p:iterate>
                                  <p:childTnLst>
                                    <p:set>
                                      <p:cBhvr>
                                        <p:cTn id="41" dur="1" fill="hold">
                                          <p:stCondLst>
                                            <p:cond delay="0"/>
                                          </p:stCondLst>
                                        </p:cTn>
                                        <p:tgtEl>
                                          <p:spTgt spid="37"/>
                                        </p:tgtEl>
                                        <p:attrNameLst>
                                          <p:attrName>style.visibility</p:attrName>
                                        </p:attrNameLst>
                                      </p:cBhvr>
                                      <p:to>
                                        <p:strVal val="visible"/>
                                      </p:to>
                                    </p:set>
                                    <p:animEffect transition="in" filter="fade">
                                      <p:cBhvr>
                                        <p:cTn id="42" dur="100"/>
                                        <p:tgtEl>
                                          <p:spTgt spid="37"/>
                                        </p:tgtEl>
                                      </p:cBhvr>
                                    </p:animEffect>
                                  </p:childTnLst>
                                </p:cTn>
                              </p:par>
                            </p:childTnLst>
                          </p:cTn>
                        </p:par>
                        <p:par>
                          <p:cTn id="43" fill="hold">
                            <p:stCondLst>
                              <p:cond delay="5260"/>
                            </p:stCondLst>
                            <p:childTnLst>
                              <p:par>
                                <p:cTn id="44" presetID="22" presetClass="entr" presetSubtype="8" fill="hold" nodeType="afterEffect">
                                  <p:stCondLst>
                                    <p:cond delay="0"/>
                                  </p:stCondLst>
                                  <p:childTnLst>
                                    <p:set>
                                      <p:cBhvr>
                                        <p:cTn id="45" dur="1" fill="hold">
                                          <p:stCondLst>
                                            <p:cond delay="0"/>
                                          </p:stCondLst>
                                        </p:cTn>
                                        <p:tgtEl>
                                          <p:spTgt spid="40"/>
                                        </p:tgtEl>
                                        <p:attrNameLst>
                                          <p:attrName>style.visibility</p:attrName>
                                        </p:attrNameLst>
                                      </p:cBhvr>
                                      <p:to>
                                        <p:strVal val="visible"/>
                                      </p:to>
                                    </p:set>
                                    <p:animEffect transition="in" filter="wipe(left)">
                                      <p:cBhvr>
                                        <p:cTn id="46" dur="200"/>
                                        <p:tgtEl>
                                          <p:spTgt spid="40"/>
                                        </p:tgtEl>
                                      </p:cBhvr>
                                    </p:animEffect>
                                  </p:childTnLst>
                                </p:cTn>
                              </p:par>
                            </p:childTnLst>
                          </p:cTn>
                        </p:par>
                        <p:par>
                          <p:cTn id="47" fill="hold">
                            <p:stCondLst>
                              <p:cond delay="5460"/>
                            </p:stCondLst>
                            <p:childTnLst>
                              <p:par>
                                <p:cTn id="48" presetID="10" presetClass="entr" presetSubtype="0" fill="hold" grpId="0" nodeType="afterEffect">
                                  <p:stCondLst>
                                    <p:cond delay="0"/>
                                  </p:stCondLst>
                                  <p:iterate type="lt">
                                    <p:tmPct val="10000"/>
                                  </p:iterate>
                                  <p:childTnLst>
                                    <p:set>
                                      <p:cBhvr>
                                        <p:cTn id="49" dur="1" fill="hold">
                                          <p:stCondLst>
                                            <p:cond delay="0"/>
                                          </p:stCondLst>
                                        </p:cTn>
                                        <p:tgtEl>
                                          <p:spTgt spid="42"/>
                                        </p:tgtEl>
                                        <p:attrNameLst>
                                          <p:attrName>style.visibility</p:attrName>
                                        </p:attrNameLst>
                                      </p:cBhvr>
                                      <p:to>
                                        <p:strVal val="visible"/>
                                      </p:to>
                                    </p:set>
                                    <p:animEffect transition="in" filter="fade">
                                      <p:cBhvr>
                                        <p:cTn id="50" dur="100"/>
                                        <p:tgtEl>
                                          <p:spTgt spid="42"/>
                                        </p:tgtEl>
                                      </p:cBhvr>
                                    </p:animEffect>
                                  </p:childTnLst>
                                </p:cTn>
                              </p:par>
                            </p:childTnLst>
                          </p:cTn>
                        </p:par>
                        <p:par>
                          <p:cTn id="51" fill="hold">
                            <p:stCondLst>
                              <p:cond delay="5570"/>
                            </p:stCondLst>
                            <p:childTnLst>
                              <p:par>
                                <p:cTn id="52" presetID="10" presetClass="entr" presetSubtype="0" fill="hold" grpId="0" nodeType="afterEffect">
                                  <p:stCondLst>
                                    <p:cond delay="0"/>
                                  </p:stCondLst>
                                  <p:iterate type="lt">
                                    <p:tmPct val="10000"/>
                                  </p:iterate>
                                  <p:childTnLst>
                                    <p:set>
                                      <p:cBhvr>
                                        <p:cTn id="53" dur="1" fill="hold">
                                          <p:stCondLst>
                                            <p:cond delay="0"/>
                                          </p:stCondLst>
                                        </p:cTn>
                                        <p:tgtEl>
                                          <p:spTgt spid="41"/>
                                        </p:tgtEl>
                                        <p:attrNameLst>
                                          <p:attrName>style.visibility</p:attrName>
                                        </p:attrNameLst>
                                      </p:cBhvr>
                                      <p:to>
                                        <p:strVal val="visible"/>
                                      </p:to>
                                    </p:set>
                                    <p:animEffect transition="in" filter="fade">
                                      <p:cBhvr>
                                        <p:cTn id="54" dur="1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30" grpId="0"/>
      <p:bldP spid="31" grpId="0" animBg="1"/>
      <p:bldP spid="34" grpId="0"/>
      <p:bldP spid="35" grpId="0" animBg="1"/>
      <p:bldP spid="37" grpId="0"/>
      <p:bldP spid="38" grpId="0" animBg="1"/>
      <p:bldP spid="41" grpId="0"/>
      <p:bldP spid="42"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41CFA-808F-51C0-2279-B1F72E59502A}"/>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F6D987AC-3F9F-2A4F-590D-0C26F3DEFA1F}"/>
              </a:ext>
            </a:extLst>
          </p:cNvPr>
          <p:cNvPicPr>
            <a:picLocks noChangeAspect="1"/>
          </p:cNvPicPr>
          <p:nvPr/>
        </p:nvPicPr>
        <p:blipFill>
          <a:blip r:embed="rId3">
            <a:clrChange>
              <a:clrFrom>
                <a:srgbClr val="071002"/>
              </a:clrFrom>
              <a:clrTo>
                <a:srgbClr val="071002">
                  <a:alpha val="0"/>
                </a:srgbClr>
              </a:clrTo>
            </a:clrChange>
            <a:extLst>
              <a:ext uri="{BEBA8EAE-BF5A-486C-A8C5-ECC9F3942E4B}">
                <a14:imgProps xmlns:a14="http://schemas.microsoft.com/office/drawing/2010/main">
                  <a14:imgLayer r:embed="rId4">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pic>
        <p:nvPicPr>
          <p:cNvPr id="77" name="Picture 76">
            <a:extLst>
              <a:ext uri="{FF2B5EF4-FFF2-40B4-BE49-F238E27FC236}">
                <a16:creationId xmlns:a16="http://schemas.microsoft.com/office/drawing/2014/main" id="{7A18E211-0486-CB5D-966D-3A0EA27CEA8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06700" y="2620851"/>
            <a:ext cx="2650673" cy="2432490"/>
          </a:xfrm>
          <a:prstGeom prst="rect">
            <a:avLst/>
          </a:prstGeom>
        </p:spPr>
      </p:pic>
      <p:pic>
        <p:nvPicPr>
          <p:cNvPr id="79" name="Picture 78">
            <a:extLst>
              <a:ext uri="{FF2B5EF4-FFF2-40B4-BE49-F238E27FC236}">
                <a16:creationId xmlns:a16="http://schemas.microsoft.com/office/drawing/2014/main" id="{BD843D8C-560B-B4D6-3795-30F52CE1870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79872" y="2620851"/>
            <a:ext cx="4793421" cy="2953815"/>
          </a:xfrm>
          <a:prstGeom prst="rect">
            <a:avLst/>
          </a:prstGeom>
        </p:spPr>
      </p:pic>
      <p:sp>
        <p:nvSpPr>
          <p:cNvPr id="82" name="Rectangle 81">
            <a:extLst>
              <a:ext uri="{FF2B5EF4-FFF2-40B4-BE49-F238E27FC236}">
                <a16:creationId xmlns:a16="http://schemas.microsoft.com/office/drawing/2014/main" id="{0ACD78CA-4CF6-DD95-CA06-C6E6E469F8EA}"/>
              </a:ext>
            </a:extLst>
          </p:cNvPr>
          <p:cNvSpPr/>
          <p:nvPr/>
        </p:nvSpPr>
        <p:spPr>
          <a:xfrm>
            <a:off x="0" y="401452"/>
            <a:ext cx="12513501" cy="741600"/>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700"/>
              </a:spcAft>
            </a:pPr>
            <a:r>
              <a:rPr lang="en-US" sz="3600" b="1" dirty="0">
                <a:latin typeface="Times New Roman" panose="02020603050405020304" pitchFamily="18" charset="0"/>
                <a:cs typeface="Times New Roman" panose="02020603050405020304" pitchFamily="18" charset="0"/>
              </a:rPr>
              <a:t> WAYPOINT EXECUTION PROCESS</a:t>
            </a:r>
          </a:p>
        </p:txBody>
      </p:sp>
      <p:sp>
        <p:nvSpPr>
          <p:cNvPr id="83" name="Rectangle 82">
            <a:extLst>
              <a:ext uri="{FF2B5EF4-FFF2-40B4-BE49-F238E27FC236}">
                <a16:creationId xmlns:a16="http://schemas.microsoft.com/office/drawing/2014/main" id="{3302A569-8C9B-0BC2-D781-DF70C0AC24D0}"/>
              </a:ext>
            </a:extLst>
          </p:cNvPr>
          <p:cNvSpPr/>
          <p:nvPr/>
        </p:nvSpPr>
        <p:spPr>
          <a:xfrm>
            <a:off x="0" y="1628375"/>
            <a:ext cx="3729344" cy="507153"/>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700"/>
              </a:spcAft>
            </a:pPr>
            <a:r>
              <a:rPr lang="en-US" b="1" dirty="0">
                <a:latin typeface="Times New Roman" panose="02020603050405020304" pitchFamily="18" charset="0"/>
                <a:cs typeface="Times New Roman" panose="02020603050405020304" pitchFamily="18" charset="0"/>
              </a:rPr>
              <a:t>   EXTRACTING  LOCATIONS:</a:t>
            </a:r>
          </a:p>
        </p:txBody>
      </p:sp>
      <p:sp>
        <p:nvSpPr>
          <p:cNvPr id="84" name="Rectangle 83">
            <a:extLst>
              <a:ext uri="{FF2B5EF4-FFF2-40B4-BE49-F238E27FC236}">
                <a16:creationId xmlns:a16="http://schemas.microsoft.com/office/drawing/2014/main" id="{40E6457B-B51E-1795-51E5-749636786579}"/>
              </a:ext>
            </a:extLst>
          </p:cNvPr>
          <p:cNvSpPr/>
          <p:nvPr/>
        </p:nvSpPr>
        <p:spPr>
          <a:xfrm>
            <a:off x="6379871" y="1628375"/>
            <a:ext cx="4285357" cy="507153"/>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700"/>
              </a:spcAft>
            </a:pPr>
            <a:r>
              <a:rPr lang="en-US" b="1" dirty="0">
                <a:latin typeface="Times New Roman" panose="02020603050405020304" pitchFamily="18" charset="0"/>
                <a:cs typeface="Times New Roman" panose="02020603050405020304" pitchFamily="18" charset="0"/>
              </a:rPr>
              <a:t>   SAVING WAYPOINTS TO CLOUD</a:t>
            </a:r>
          </a:p>
        </p:txBody>
      </p:sp>
    </p:spTree>
    <p:custDataLst>
      <p:tags r:id="rId1"/>
    </p:custDataLst>
    <p:extLst>
      <p:ext uri="{BB962C8B-B14F-4D97-AF65-F5344CB8AC3E}">
        <p14:creationId xmlns:p14="http://schemas.microsoft.com/office/powerpoint/2010/main" val="2069804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A8CB7-2C1A-E457-AB51-20C3E9567762}"/>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682E9BE9-2E72-977C-8B0E-AA238131108F}"/>
              </a:ext>
            </a:extLst>
          </p:cNvPr>
          <p:cNvPicPr>
            <a:picLocks noChangeAspect="1"/>
          </p:cNvPicPr>
          <p:nvPr/>
        </p:nvPicPr>
        <p:blipFill>
          <a:blip r:embed="rId3">
            <a:clrChange>
              <a:clrFrom>
                <a:srgbClr val="071002"/>
              </a:clrFrom>
              <a:clrTo>
                <a:srgbClr val="071002">
                  <a:alpha val="0"/>
                </a:srgbClr>
              </a:clrTo>
            </a:clrChange>
            <a:extLst>
              <a:ext uri="{BEBA8EAE-BF5A-486C-A8C5-ECC9F3942E4B}">
                <a14:imgProps xmlns:a14="http://schemas.microsoft.com/office/drawing/2010/main">
                  <a14:imgLayer r:embed="rId4">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pic>
        <p:nvPicPr>
          <p:cNvPr id="75" name="Picture 74">
            <a:extLst>
              <a:ext uri="{FF2B5EF4-FFF2-40B4-BE49-F238E27FC236}">
                <a16:creationId xmlns:a16="http://schemas.microsoft.com/office/drawing/2014/main" id="{9EF8B5C9-16CB-8443-FD13-1D59DDD5AB7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56750" y="2536035"/>
            <a:ext cx="3526774" cy="3255631"/>
          </a:xfrm>
          <a:prstGeom prst="rect">
            <a:avLst/>
          </a:prstGeom>
        </p:spPr>
      </p:pic>
      <p:pic>
        <p:nvPicPr>
          <p:cNvPr id="81" name="Picture 80">
            <a:extLst>
              <a:ext uri="{FF2B5EF4-FFF2-40B4-BE49-F238E27FC236}">
                <a16:creationId xmlns:a16="http://schemas.microsoft.com/office/drawing/2014/main" id="{D4A39C19-D93D-4BE6-B85B-7D802D04634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34021" y="2373506"/>
            <a:ext cx="3914533" cy="4191778"/>
          </a:xfrm>
          <a:prstGeom prst="rect">
            <a:avLst/>
          </a:prstGeom>
        </p:spPr>
      </p:pic>
      <p:sp>
        <p:nvSpPr>
          <p:cNvPr id="82" name="Rectangle 81">
            <a:extLst>
              <a:ext uri="{FF2B5EF4-FFF2-40B4-BE49-F238E27FC236}">
                <a16:creationId xmlns:a16="http://schemas.microsoft.com/office/drawing/2014/main" id="{5DE5AEDC-91BF-D61C-C1A0-00A887B549E1}"/>
              </a:ext>
            </a:extLst>
          </p:cNvPr>
          <p:cNvSpPr/>
          <p:nvPr/>
        </p:nvSpPr>
        <p:spPr>
          <a:xfrm>
            <a:off x="0" y="401452"/>
            <a:ext cx="12513501" cy="741600"/>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700"/>
              </a:spcAft>
            </a:pPr>
            <a:r>
              <a:rPr lang="en-US" sz="3600" b="1" dirty="0">
                <a:latin typeface="Times New Roman" panose="02020603050405020304" pitchFamily="18" charset="0"/>
                <a:cs typeface="Times New Roman" panose="02020603050405020304" pitchFamily="18" charset="0"/>
              </a:rPr>
              <a:t> WAYPOINT EXECUTION PROCESS</a:t>
            </a:r>
          </a:p>
        </p:txBody>
      </p:sp>
      <p:sp>
        <p:nvSpPr>
          <p:cNvPr id="83" name="Rectangle 82">
            <a:extLst>
              <a:ext uri="{FF2B5EF4-FFF2-40B4-BE49-F238E27FC236}">
                <a16:creationId xmlns:a16="http://schemas.microsoft.com/office/drawing/2014/main" id="{77AFA7E6-DEB1-ABA6-F67F-AC3FB2BD5189}"/>
              </a:ext>
            </a:extLst>
          </p:cNvPr>
          <p:cNvSpPr/>
          <p:nvPr/>
        </p:nvSpPr>
        <p:spPr>
          <a:xfrm>
            <a:off x="-1" y="1628375"/>
            <a:ext cx="4769069" cy="507153"/>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700"/>
              </a:spcAft>
            </a:pPr>
            <a:r>
              <a:rPr lang="en-US" b="1" dirty="0">
                <a:latin typeface="Times New Roman" panose="02020603050405020304" pitchFamily="18" charset="0"/>
                <a:cs typeface="Times New Roman" panose="02020603050405020304" pitchFamily="18" charset="0"/>
              </a:rPr>
              <a:t>   SENDING DATA  TO DELIERY DRONE:</a:t>
            </a:r>
          </a:p>
        </p:txBody>
      </p:sp>
      <p:sp>
        <p:nvSpPr>
          <p:cNvPr id="2" name="Rectangle 1">
            <a:extLst>
              <a:ext uri="{FF2B5EF4-FFF2-40B4-BE49-F238E27FC236}">
                <a16:creationId xmlns:a16="http://schemas.microsoft.com/office/drawing/2014/main" id="{B0B4528B-773F-C680-AAF7-EC725D632416}"/>
              </a:ext>
            </a:extLst>
          </p:cNvPr>
          <p:cNvSpPr/>
          <p:nvPr/>
        </p:nvSpPr>
        <p:spPr>
          <a:xfrm>
            <a:off x="6096000" y="1636956"/>
            <a:ext cx="4769069" cy="507153"/>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700"/>
              </a:spcAft>
            </a:pPr>
            <a:r>
              <a:rPr lang="en-US" b="1" dirty="0">
                <a:latin typeface="Times New Roman" panose="02020603050405020304" pitchFamily="18" charset="0"/>
                <a:cs typeface="Times New Roman" panose="02020603050405020304" pitchFamily="18" charset="0"/>
              </a:rPr>
              <a:t>COMPLETING THE MISSION:</a:t>
            </a:r>
          </a:p>
        </p:txBody>
      </p:sp>
    </p:spTree>
    <p:custDataLst>
      <p:tags r:id="rId1"/>
    </p:custDataLst>
    <p:extLst>
      <p:ext uri="{BB962C8B-B14F-4D97-AF65-F5344CB8AC3E}">
        <p14:creationId xmlns:p14="http://schemas.microsoft.com/office/powerpoint/2010/main" val="1849808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1E1E0-D4C6-359E-4992-AE2C6023046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72212C4-0313-7FD6-75B5-FDBE6F75F808}"/>
              </a:ext>
            </a:extLst>
          </p:cNvPr>
          <p:cNvPicPr>
            <a:picLocks noChangeAspect="1"/>
          </p:cNvPicPr>
          <p:nvPr/>
        </p:nvPicPr>
        <p:blipFill>
          <a:blip r:embed="rId2">
            <a:clrChange>
              <a:clrFrom>
                <a:srgbClr val="071002"/>
              </a:clrFrom>
              <a:clrTo>
                <a:srgbClr val="071002">
                  <a:alpha val="0"/>
                </a:srgbClr>
              </a:clrTo>
            </a:clrChange>
            <a:extLst>
              <a:ext uri="{BEBA8EAE-BF5A-486C-A8C5-ECC9F3942E4B}">
                <a14:imgProps xmlns:a14="http://schemas.microsoft.com/office/drawing/2010/main">
                  <a14:imgLayer r:embed="rId3">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sp>
        <p:nvSpPr>
          <p:cNvPr id="4" name="Rectangle 3">
            <a:extLst>
              <a:ext uri="{FF2B5EF4-FFF2-40B4-BE49-F238E27FC236}">
                <a16:creationId xmlns:a16="http://schemas.microsoft.com/office/drawing/2014/main" id="{8259A64B-9125-EBA1-E4C6-900C3D2D1DB7}"/>
              </a:ext>
            </a:extLst>
          </p:cNvPr>
          <p:cNvSpPr/>
          <p:nvPr/>
        </p:nvSpPr>
        <p:spPr>
          <a:xfrm>
            <a:off x="-1021080" y="6338274"/>
            <a:ext cx="14234160" cy="6004560"/>
          </a:xfrm>
          <a:prstGeom prst="rect">
            <a:avLst/>
          </a:prstGeom>
          <a:gradFill>
            <a:gsLst>
              <a:gs pos="0">
                <a:schemeClr val="bg1">
                  <a:lumMod val="95000"/>
                  <a:lumOff val="5000"/>
                  <a:alpha val="0"/>
                </a:schemeClr>
              </a:gs>
              <a:gs pos="77000">
                <a:schemeClr val="tx2">
                  <a:lumMod val="10000"/>
                </a:schemeClr>
              </a:gs>
            </a:gsLst>
            <a:lin ang="612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872B850D-0873-47CD-BC4C-A92D62080BFD}"/>
              </a:ext>
            </a:extLst>
          </p:cNvPr>
          <p:cNvSpPr/>
          <p:nvPr/>
        </p:nvSpPr>
        <p:spPr>
          <a:xfrm>
            <a:off x="901139" y="1367360"/>
            <a:ext cx="10644553" cy="2860431"/>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78C0B984-F2FB-EF0B-ACDF-B477349A5F8F}"/>
              </a:ext>
            </a:extLst>
          </p:cNvPr>
          <p:cNvSpPr txBox="1"/>
          <p:nvPr/>
        </p:nvSpPr>
        <p:spPr>
          <a:xfrm>
            <a:off x="1278034" y="2197410"/>
            <a:ext cx="10320998" cy="1200329"/>
          </a:xfrm>
          <a:prstGeom prst="rect">
            <a:avLst/>
          </a:prstGeom>
          <a:noFill/>
        </p:spPr>
        <p:txBody>
          <a:bodyPr wrap="square" rtlCol="0">
            <a:spAutoFit/>
          </a:bodyPr>
          <a:lstStyle/>
          <a:p>
            <a:r>
              <a:rPr lang="en-IN" sz="7200" dirty="0"/>
              <a:t>SUBSYSTEM SELECTION</a:t>
            </a:r>
          </a:p>
        </p:txBody>
      </p:sp>
    </p:spTree>
    <p:extLst>
      <p:ext uri="{BB962C8B-B14F-4D97-AF65-F5344CB8AC3E}">
        <p14:creationId xmlns:p14="http://schemas.microsoft.com/office/powerpoint/2010/main" val="759812775"/>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CE0FC-9D46-77D8-CE8B-09B72C586C84}"/>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5A2322E4-52DE-2927-029E-D4BAC9B21F3A}"/>
              </a:ext>
            </a:extLst>
          </p:cNvPr>
          <p:cNvPicPr>
            <a:picLocks noChangeAspect="1"/>
          </p:cNvPicPr>
          <p:nvPr/>
        </p:nvPicPr>
        <p:blipFill>
          <a:blip r:embed="rId3">
            <a:clrChange>
              <a:clrFrom>
                <a:srgbClr val="071002"/>
              </a:clrFrom>
              <a:clrTo>
                <a:srgbClr val="071002">
                  <a:alpha val="0"/>
                </a:srgbClr>
              </a:clrTo>
            </a:clrChange>
            <a:extLst>
              <a:ext uri="{BEBA8EAE-BF5A-486C-A8C5-ECC9F3942E4B}">
                <a14:imgProps xmlns:a14="http://schemas.microsoft.com/office/drawing/2010/main">
                  <a14:imgLayer r:embed="rId4">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sp>
        <p:nvSpPr>
          <p:cNvPr id="82" name="Rectangle 81">
            <a:extLst>
              <a:ext uri="{FF2B5EF4-FFF2-40B4-BE49-F238E27FC236}">
                <a16:creationId xmlns:a16="http://schemas.microsoft.com/office/drawing/2014/main" id="{A66AF957-C225-A5DF-C4BF-A009ED207E92}"/>
              </a:ext>
            </a:extLst>
          </p:cNvPr>
          <p:cNvSpPr/>
          <p:nvPr/>
        </p:nvSpPr>
        <p:spPr>
          <a:xfrm>
            <a:off x="0" y="401452"/>
            <a:ext cx="12513501" cy="741600"/>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700"/>
              </a:spcAft>
            </a:pPr>
            <a:r>
              <a:rPr lang="en-IN" sz="3600" b="1" dirty="0">
                <a:latin typeface="Liberation Serif"/>
              </a:rPr>
              <a:t>CONTROL &amp; COMMUNICATION SYSTEM</a:t>
            </a:r>
            <a:endParaRPr lang="en-US" sz="3600" b="1" dirty="0">
              <a:latin typeface="Liberation Serif"/>
              <a:cs typeface="Times New Roman" panose="02020603050405020304" pitchFamily="18" charset="0"/>
            </a:endParaRPr>
          </a:p>
        </p:txBody>
      </p:sp>
      <p:sp>
        <p:nvSpPr>
          <p:cNvPr id="3" name="Rectangle: Rounded Corners 2">
            <a:extLst>
              <a:ext uri="{FF2B5EF4-FFF2-40B4-BE49-F238E27FC236}">
                <a16:creationId xmlns:a16="http://schemas.microsoft.com/office/drawing/2014/main" id="{104209D7-38F1-63F7-9A33-B759D373BD6A}"/>
              </a:ext>
            </a:extLst>
          </p:cNvPr>
          <p:cNvSpPr/>
          <p:nvPr/>
        </p:nvSpPr>
        <p:spPr>
          <a:xfrm>
            <a:off x="688940" y="1198210"/>
            <a:ext cx="10950191" cy="5580456"/>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aphicFrame>
        <p:nvGraphicFramePr>
          <p:cNvPr id="2" name="Table 1">
            <a:extLst>
              <a:ext uri="{FF2B5EF4-FFF2-40B4-BE49-F238E27FC236}">
                <a16:creationId xmlns:a16="http://schemas.microsoft.com/office/drawing/2014/main" id="{8746C3F9-DD16-F6BE-5123-482399A71FF5}"/>
              </a:ext>
            </a:extLst>
          </p:cNvPr>
          <p:cNvGraphicFramePr>
            <a:graphicFrameLocks noGrp="1"/>
          </p:cNvGraphicFramePr>
          <p:nvPr>
            <p:extLst>
              <p:ext uri="{D42A27DB-BD31-4B8C-83A1-F6EECF244321}">
                <p14:modId xmlns:p14="http://schemas.microsoft.com/office/powerpoint/2010/main" val="1180832298"/>
              </p:ext>
            </p:extLst>
          </p:nvPr>
        </p:nvGraphicFramePr>
        <p:xfrm>
          <a:off x="1338943" y="1371455"/>
          <a:ext cx="9650187" cy="5233967"/>
        </p:xfrm>
        <a:graphic>
          <a:graphicData uri="http://schemas.openxmlformats.org/drawingml/2006/table">
            <a:tbl>
              <a:tblPr>
                <a:tableStyleId>{5940675A-B579-460E-94D1-54222C63F5DA}</a:tableStyleId>
              </a:tblPr>
              <a:tblGrid>
                <a:gridCol w="2412547">
                  <a:extLst>
                    <a:ext uri="{9D8B030D-6E8A-4147-A177-3AD203B41FA5}">
                      <a16:colId xmlns:a16="http://schemas.microsoft.com/office/drawing/2014/main" val="2816080391"/>
                    </a:ext>
                  </a:extLst>
                </a:gridCol>
                <a:gridCol w="2412547">
                  <a:extLst>
                    <a:ext uri="{9D8B030D-6E8A-4147-A177-3AD203B41FA5}">
                      <a16:colId xmlns:a16="http://schemas.microsoft.com/office/drawing/2014/main" val="373069157"/>
                    </a:ext>
                  </a:extLst>
                </a:gridCol>
                <a:gridCol w="2130348">
                  <a:extLst>
                    <a:ext uri="{9D8B030D-6E8A-4147-A177-3AD203B41FA5}">
                      <a16:colId xmlns:a16="http://schemas.microsoft.com/office/drawing/2014/main" val="158671549"/>
                    </a:ext>
                  </a:extLst>
                </a:gridCol>
                <a:gridCol w="2694745">
                  <a:extLst>
                    <a:ext uri="{9D8B030D-6E8A-4147-A177-3AD203B41FA5}">
                      <a16:colId xmlns:a16="http://schemas.microsoft.com/office/drawing/2014/main" val="588283154"/>
                    </a:ext>
                  </a:extLst>
                </a:gridCol>
              </a:tblGrid>
              <a:tr h="197595">
                <a:tc>
                  <a:txBody>
                    <a:bodyPr/>
                    <a:lstStyle/>
                    <a:p>
                      <a:pPr>
                        <a:buNone/>
                      </a:pPr>
                      <a:r>
                        <a:rPr lang="en-IN" sz="1200"/>
                        <a:t>Subsystem</a:t>
                      </a:r>
                    </a:p>
                  </a:txBody>
                  <a:tcPr marL="34426" marR="34426" marT="17213" marB="17213" anchor="ctr"/>
                </a:tc>
                <a:tc>
                  <a:txBody>
                    <a:bodyPr/>
                    <a:lstStyle/>
                    <a:p>
                      <a:pPr>
                        <a:buNone/>
                      </a:pPr>
                      <a:r>
                        <a:rPr lang="en-IN" sz="1200"/>
                        <a:t>Delivery Drone</a:t>
                      </a:r>
                    </a:p>
                  </a:txBody>
                  <a:tcPr marL="34426" marR="34426" marT="17213" marB="17213" anchor="ctr"/>
                </a:tc>
                <a:tc>
                  <a:txBody>
                    <a:bodyPr/>
                    <a:lstStyle/>
                    <a:p>
                      <a:pPr>
                        <a:buNone/>
                      </a:pPr>
                      <a:r>
                        <a:rPr lang="en-IN" sz="1200"/>
                        <a:t>Scanning Drone</a:t>
                      </a:r>
                    </a:p>
                  </a:txBody>
                  <a:tcPr marL="34426" marR="34426" marT="17213" marB="17213" anchor="ctr"/>
                </a:tc>
                <a:tc>
                  <a:txBody>
                    <a:bodyPr/>
                    <a:lstStyle/>
                    <a:p>
                      <a:pPr>
                        <a:buNone/>
                      </a:pPr>
                      <a:r>
                        <a:rPr lang="en-IN" sz="1200"/>
                        <a:t>Purpose</a:t>
                      </a:r>
                    </a:p>
                  </a:txBody>
                  <a:tcPr marL="34426" marR="34426" marT="17213" marB="17213" anchor="ctr"/>
                </a:tc>
                <a:extLst>
                  <a:ext uri="{0D108BD9-81ED-4DB2-BD59-A6C34878D82A}">
                    <a16:rowId xmlns:a16="http://schemas.microsoft.com/office/drawing/2014/main" val="799499282"/>
                  </a:ext>
                </a:extLst>
              </a:tr>
              <a:tr h="795143">
                <a:tc>
                  <a:txBody>
                    <a:bodyPr/>
                    <a:lstStyle/>
                    <a:p>
                      <a:pPr>
                        <a:buNone/>
                      </a:pPr>
                      <a:r>
                        <a:rPr lang="en-IN" sz="1200" b="1"/>
                        <a:t>Transmitter (GCS Input)</a:t>
                      </a:r>
                      <a:endParaRPr lang="en-IN" sz="1200"/>
                    </a:p>
                  </a:txBody>
                  <a:tcPr marL="34426" marR="34426" marT="17213" marB="17213" anchor="ctr"/>
                </a:tc>
                <a:tc>
                  <a:txBody>
                    <a:bodyPr/>
                    <a:lstStyle/>
                    <a:p>
                      <a:pPr>
                        <a:buNone/>
                      </a:pPr>
                      <a:r>
                        <a:rPr lang="en-US" sz="1200"/>
                        <a:t>Radiomaster T10• 2.4 GHz FHSS• 10 Channels• Long operating time</a:t>
                      </a:r>
                    </a:p>
                  </a:txBody>
                  <a:tcPr marL="34426" marR="34426" marT="17213" marB="17213" anchor="ctr"/>
                </a:tc>
                <a:tc>
                  <a:txBody>
                    <a:bodyPr/>
                    <a:lstStyle/>
                    <a:p>
                      <a:pPr>
                        <a:buNone/>
                      </a:pPr>
                      <a:r>
                        <a:rPr lang="en-US" sz="1200"/>
                        <a:t>Skydroid T12• 2.4 GHz• Up to 12 Channels• Integrated GCS display</a:t>
                      </a:r>
                    </a:p>
                  </a:txBody>
                  <a:tcPr marL="34426" marR="34426" marT="17213" marB="17213" anchor="ctr"/>
                </a:tc>
                <a:tc>
                  <a:txBody>
                    <a:bodyPr/>
                    <a:lstStyle/>
                    <a:p>
                      <a:pPr>
                        <a:buNone/>
                      </a:pPr>
                      <a:r>
                        <a:rPr lang="en-US" sz="1200"/>
                        <a:t>Manual control, mode switching, safety override</a:t>
                      </a:r>
                    </a:p>
                  </a:txBody>
                  <a:tcPr marL="34426" marR="34426" marT="17213" marB="17213" anchor="ctr"/>
                </a:tc>
                <a:extLst>
                  <a:ext uri="{0D108BD9-81ED-4DB2-BD59-A6C34878D82A}">
                    <a16:rowId xmlns:a16="http://schemas.microsoft.com/office/drawing/2014/main" val="844334941"/>
                  </a:ext>
                </a:extLst>
              </a:tr>
              <a:tr h="645756">
                <a:tc>
                  <a:txBody>
                    <a:bodyPr/>
                    <a:lstStyle/>
                    <a:p>
                      <a:pPr>
                        <a:buNone/>
                      </a:pPr>
                      <a:r>
                        <a:rPr lang="en-IN" sz="1200" b="1"/>
                        <a:t>Receiver</a:t>
                      </a:r>
                      <a:endParaRPr lang="en-IN" sz="1200"/>
                    </a:p>
                  </a:txBody>
                  <a:tcPr marL="34426" marR="34426" marT="17213" marB="17213" anchor="ctr"/>
                </a:tc>
                <a:tc>
                  <a:txBody>
                    <a:bodyPr/>
                    <a:lstStyle/>
                    <a:p>
                      <a:pPr>
                        <a:buNone/>
                      </a:pPr>
                      <a:r>
                        <a:rPr lang="en-US" sz="1200"/>
                        <a:t>Radiomaster Receiver• 2.4 GHz• Telemetry support</a:t>
                      </a:r>
                    </a:p>
                  </a:txBody>
                  <a:tcPr marL="34426" marR="34426" marT="17213" marB="17213" anchor="ctr"/>
                </a:tc>
                <a:tc>
                  <a:txBody>
                    <a:bodyPr/>
                    <a:lstStyle/>
                    <a:p>
                      <a:pPr>
                        <a:buNone/>
                      </a:pPr>
                      <a:r>
                        <a:rPr lang="en-US" sz="1200"/>
                        <a:t>Skydroid Receiver• 2.4 GHz• Telemetry support</a:t>
                      </a:r>
                    </a:p>
                  </a:txBody>
                  <a:tcPr marL="34426" marR="34426" marT="17213" marB="17213" anchor="ctr"/>
                </a:tc>
                <a:tc>
                  <a:txBody>
                    <a:bodyPr/>
                    <a:lstStyle/>
                    <a:p>
                      <a:pPr>
                        <a:buNone/>
                      </a:pPr>
                      <a:r>
                        <a:rPr lang="en-US" sz="1200"/>
                        <a:t>Receives control commands from GCS</a:t>
                      </a:r>
                    </a:p>
                  </a:txBody>
                  <a:tcPr marL="34426" marR="34426" marT="17213" marB="17213" anchor="ctr"/>
                </a:tc>
                <a:extLst>
                  <a:ext uri="{0D108BD9-81ED-4DB2-BD59-A6C34878D82A}">
                    <a16:rowId xmlns:a16="http://schemas.microsoft.com/office/drawing/2014/main" val="859497735"/>
                  </a:ext>
                </a:extLst>
              </a:tr>
              <a:tr h="795143">
                <a:tc>
                  <a:txBody>
                    <a:bodyPr/>
                    <a:lstStyle/>
                    <a:p>
                      <a:pPr>
                        <a:buNone/>
                      </a:pPr>
                      <a:r>
                        <a:rPr lang="en-IN" sz="1200" b="1"/>
                        <a:t>Flight Controller</a:t>
                      </a:r>
                      <a:endParaRPr lang="en-IN" sz="1200"/>
                    </a:p>
                  </a:txBody>
                  <a:tcPr marL="34426" marR="34426" marT="17213" marB="17213" anchor="ctr"/>
                </a:tc>
                <a:tc>
                  <a:txBody>
                    <a:bodyPr/>
                    <a:lstStyle/>
                    <a:p>
                      <a:pPr>
                        <a:buNone/>
                      </a:pPr>
                      <a:r>
                        <a:rPr lang="en-IN" sz="1200"/>
                        <a:t>Pixhawk Cube Orange Plus• Redundant sensors• ArduPilot/PX4</a:t>
                      </a:r>
                    </a:p>
                  </a:txBody>
                  <a:tcPr marL="34426" marR="34426" marT="17213" marB="17213" anchor="ctr"/>
                </a:tc>
                <a:tc>
                  <a:txBody>
                    <a:bodyPr/>
                    <a:lstStyle/>
                    <a:p>
                      <a:pPr>
                        <a:buNone/>
                      </a:pPr>
                      <a:r>
                        <a:rPr lang="en-US" sz="1200"/>
                        <a:t>Pixhawk Cube Orange / +• Redundant sensors• ArduPilot/PX4</a:t>
                      </a:r>
                    </a:p>
                  </a:txBody>
                  <a:tcPr marL="34426" marR="34426" marT="17213" marB="17213" anchor="ctr"/>
                </a:tc>
                <a:tc>
                  <a:txBody>
                    <a:bodyPr/>
                    <a:lstStyle/>
                    <a:p>
                      <a:pPr>
                        <a:buNone/>
                      </a:pPr>
                      <a:r>
                        <a:rPr lang="en-IN" sz="1200" dirty="0"/>
                        <a:t>Stabilization, navigation, autonomy</a:t>
                      </a:r>
                    </a:p>
                  </a:txBody>
                  <a:tcPr marL="34426" marR="34426" marT="17213" marB="17213" anchor="ctr"/>
                </a:tc>
                <a:extLst>
                  <a:ext uri="{0D108BD9-81ED-4DB2-BD59-A6C34878D82A}">
                    <a16:rowId xmlns:a16="http://schemas.microsoft.com/office/drawing/2014/main" val="1416960956"/>
                  </a:ext>
                </a:extLst>
              </a:tr>
              <a:tr h="645756">
                <a:tc>
                  <a:txBody>
                    <a:bodyPr/>
                    <a:lstStyle/>
                    <a:p>
                      <a:pPr>
                        <a:buNone/>
                      </a:pPr>
                      <a:r>
                        <a:rPr lang="en-IN" sz="1200" b="1"/>
                        <a:t>GPS Module</a:t>
                      </a:r>
                      <a:endParaRPr lang="en-IN" sz="1200"/>
                    </a:p>
                  </a:txBody>
                  <a:tcPr marL="34426" marR="34426" marT="17213" marB="17213" anchor="ctr"/>
                </a:tc>
                <a:tc>
                  <a:txBody>
                    <a:bodyPr/>
                    <a:lstStyle/>
                    <a:p>
                      <a:pPr>
                        <a:buNone/>
                      </a:pPr>
                      <a:r>
                        <a:rPr lang="en-US" sz="1200"/>
                        <a:t>CUAV Here 3+ CAN GNSS• RTK enabled• cm-level accuracy</a:t>
                      </a:r>
                    </a:p>
                  </a:txBody>
                  <a:tcPr marL="34426" marR="34426" marT="17213" marB="17213" anchor="ctr"/>
                </a:tc>
                <a:tc>
                  <a:txBody>
                    <a:bodyPr/>
                    <a:lstStyle/>
                    <a:p>
                      <a:pPr>
                        <a:buNone/>
                      </a:pPr>
                      <a:r>
                        <a:rPr lang="en-IN" sz="1200"/>
                        <a:t>CUAV Neo 3 GNSS• Multi-constellation• High sensitivity</a:t>
                      </a:r>
                    </a:p>
                  </a:txBody>
                  <a:tcPr marL="34426" marR="34426" marT="17213" marB="17213" anchor="ctr"/>
                </a:tc>
                <a:tc>
                  <a:txBody>
                    <a:bodyPr/>
                    <a:lstStyle/>
                    <a:p>
                      <a:pPr>
                        <a:buNone/>
                      </a:pPr>
                      <a:r>
                        <a:rPr lang="en-IN" sz="1200"/>
                        <a:t>Positioning, waypoint navigation, RTL</a:t>
                      </a:r>
                    </a:p>
                  </a:txBody>
                  <a:tcPr marL="34426" marR="34426" marT="17213" marB="17213" anchor="ctr"/>
                </a:tc>
                <a:extLst>
                  <a:ext uri="{0D108BD9-81ED-4DB2-BD59-A6C34878D82A}">
                    <a16:rowId xmlns:a16="http://schemas.microsoft.com/office/drawing/2014/main" val="3337904827"/>
                  </a:ext>
                </a:extLst>
              </a:tr>
              <a:tr h="645756">
                <a:tc>
                  <a:txBody>
                    <a:bodyPr/>
                    <a:lstStyle/>
                    <a:p>
                      <a:pPr>
                        <a:buNone/>
                      </a:pPr>
                      <a:r>
                        <a:rPr lang="en-IN" sz="1200" b="1"/>
                        <a:t>Companion Computer</a:t>
                      </a:r>
                      <a:endParaRPr lang="en-IN" sz="1200"/>
                    </a:p>
                  </a:txBody>
                  <a:tcPr marL="34426" marR="34426" marT="17213" marB="17213" anchor="ctr"/>
                </a:tc>
                <a:tc>
                  <a:txBody>
                    <a:bodyPr/>
                    <a:lstStyle/>
                    <a:p>
                      <a:pPr>
                        <a:buNone/>
                      </a:pPr>
                      <a:r>
                        <a:rPr lang="en-US" sz="1200"/>
                        <a:t>Raspberry Pi 5 (4/8 GB)• Mission logic• Payload control</a:t>
                      </a:r>
                    </a:p>
                  </a:txBody>
                  <a:tcPr marL="34426" marR="34426" marT="17213" marB="17213" anchor="ctr"/>
                </a:tc>
                <a:tc>
                  <a:txBody>
                    <a:bodyPr/>
                    <a:lstStyle/>
                    <a:p>
                      <a:pPr>
                        <a:buNone/>
                      </a:pPr>
                      <a:r>
                        <a:rPr lang="en-US" sz="1200"/>
                        <a:t>Raspberry Pi 5 (8 GB)• Vision processing• Target detection</a:t>
                      </a:r>
                    </a:p>
                  </a:txBody>
                  <a:tcPr marL="34426" marR="34426" marT="17213" marB="17213" anchor="ctr"/>
                </a:tc>
                <a:tc>
                  <a:txBody>
                    <a:bodyPr/>
                    <a:lstStyle/>
                    <a:p>
                      <a:pPr>
                        <a:buNone/>
                      </a:pPr>
                      <a:r>
                        <a:rPr lang="en-IN" sz="1200" dirty="0"/>
                        <a:t>High-level processing &amp; autonomy</a:t>
                      </a:r>
                    </a:p>
                  </a:txBody>
                  <a:tcPr marL="34426" marR="34426" marT="17213" marB="17213" anchor="ctr"/>
                </a:tc>
                <a:extLst>
                  <a:ext uri="{0D108BD9-81ED-4DB2-BD59-A6C34878D82A}">
                    <a16:rowId xmlns:a16="http://schemas.microsoft.com/office/drawing/2014/main" val="2654019808"/>
                  </a:ext>
                </a:extLst>
              </a:tr>
              <a:tr h="496369">
                <a:tc>
                  <a:txBody>
                    <a:bodyPr/>
                    <a:lstStyle/>
                    <a:p>
                      <a:pPr>
                        <a:buNone/>
                      </a:pPr>
                      <a:r>
                        <a:rPr lang="en-IN" sz="1200" b="1"/>
                        <a:t>Video System</a:t>
                      </a:r>
                      <a:endParaRPr lang="en-IN" sz="1200"/>
                    </a:p>
                  </a:txBody>
                  <a:tcPr marL="34426" marR="34426" marT="17213" marB="17213" anchor="ctr"/>
                </a:tc>
                <a:tc>
                  <a:txBody>
                    <a:bodyPr/>
                    <a:lstStyle/>
                    <a:p>
                      <a:pPr>
                        <a:buNone/>
                      </a:pPr>
                      <a:r>
                        <a:rPr lang="en-IN" sz="1200"/>
                        <a:t>FPV Cam + VTX (5.8 GHz)</a:t>
                      </a:r>
                    </a:p>
                  </a:txBody>
                  <a:tcPr marL="34426" marR="34426" marT="17213" marB="17213" anchor="ctr"/>
                </a:tc>
                <a:tc>
                  <a:txBody>
                    <a:bodyPr/>
                    <a:lstStyle/>
                    <a:p>
                      <a:pPr>
                        <a:buNone/>
                      </a:pPr>
                      <a:r>
                        <a:rPr lang="en-IN" sz="1200"/>
                        <a:t>FPV Cam + VTX (5.8 GHz)</a:t>
                      </a:r>
                    </a:p>
                  </a:txBody>
                  <a:tcPr marL="34426" marR="34426" marT="17213" marB="17213" anchor="ctr"/>
                </a:tc>
                <a:tc>
                  <a:txBody>
                    <a:bodyPr/>
                    <a:lstStyle/>
                    <a:p>
                      <a:pPr>
                        <a:buNone/>
                      </a:pPr>
                      <a:r>
                        <a:rPr lang="en-US" sz="1200"/>
                        <a:t>Live video feedback to operator</a:t>
                      </a:r>
                    </a:p>
                  </a:txBody>
                  <a:tcPr marL="34426" marR="34426" marT="17213" marB="17213" anchor="ctr"/>
                </a:tc>
                <a:extLst>
                  <a:ext uri="{0D108BD9-81ED-4DB2-BD59-A6C34878D82A}">
                    <a16:rowId xmlns:a16="http://schemas.microsoft.com/office/drawing/2014/main" val="1129623411"/>
                  </a:ext>
                </a:extLst>
              </a:tr>
              <a:tr h="346982">
                <a:tc>
                  <a:txBody>
                    <a:bodyPr/>
                    <a:lstStyle/>
                    <a:p>
                      <a:pPr>
                        <a:buNone/>
                      </a:pPr>
                      <a:r>
                        <a:rPr lang="en-IN" sz="1200" b="1"/>
                        <a:t>Power Monitoring</a:t>
                      </a:r>
                      <a:endParaRPr lang="en-IN" sz="1200"/>
                    </a:p>
                  </a:txBody>
                  <a:tcPr marL="34426" marR="34426" marT="17213" marB="17213" anchor="ctr"/>
                </a:tc>
                <a:tc>
                  <a:txBody>
                    <a:bodyPr/>
                    <a:lstStyle/>
                    <a:p>
                      <a:pPr>
                        <a:buNone/>
                      </a:pPr>
                      <a:r>
                        <a:rPr lang="en-IN" sz="1200"/>
                        <a:t>Holybro PM06 V2</a:t>
                      </a:r>
                    </a:p>
                  </a:txBody>
                  <a:tcPr marL="34426" marR="34426" marT="17213" marB="17213" anchor="ctr"/>
                </a:tc>
                <a:tc>
                  <a:txBody>
                    <a:bodyPr/>
                    <a:lstStyle/>
                    <a:p>
                      <a:pPr>
                        <a:buNone/>
                      </a:pPr>
                      <a:r>
                        <a:rPr lang="en-IN" sz="1200"/>
                        <a:t>Holybro PM06 V2</a:t>
                      </a:r>
                    </a:p>
                  </a:txBody>
                  <a:tcPr marL="34426" marR="34426" marT="17213" marB="17213" anchor="ctr"/>
                </a:tc>
                <a:tc>
                  <a:txBody>
                    <a:bodyPr/>
                    <a:lstStyle/>
                    <a:p>
                      <a:pPr>
                        <a:buNone/>
                      </a:pPr>
                      <a:r>
                        <a:rPr lang="en-IN" sz="1200"/>
                        <a:t>Voltage &amp; current sensing</a:t>
                      </a:r>
                    </a:p>
                  </a:txBody>
                  <a:tcPr marL="34426" marR="34426" marT="17213" marB="17213" anchor="ctr"/>
                </a:tc>
                <a:extLst>
                  <a:ext uri="{0D108BD9-81ED-4DB2-BD59-A6C34878D82A}">
                    <a16:rowId xmlns:a16="http://schemas.microsoft.com/office/drawing/2014/main" val="1065563980"/>
                  </a:ext>
                </a:extLst>
              </a:tr>
              <a:tr h="645756">
                <a:tc>
                  <a:txBody>
                    <a:bodyPr/>
                    <a:lstStyle/>
                    <a:p>
                      <a:pPr>
                        <a:buNone/>
                      </a:pPr>
                      <a:r>
                        <a:rPr lang="en-IN" sz="1200" b="1"/>
                        <a:t>Communication Protocol</a:t>
                      </a:r>
                      <a:endParaRPr lang="en-IN" sz="1200"/>
                    </a:p>
                  </a:txBody>
                  <a:tcPr marL="34426" marR="34426" marT="17213" marB="17213" anchor="ctr"/>
                </a:tc>
                <a:tc>
                  <a:txBody>
                    <a:bodyPr/>
                    <a:lstStyle/>
                    <a:p>
                      <a:pPr>
                        <a:buNone/>
                      </a:pPr>
                      <a:r>
                        <a:rPr lang="en-IN" sz="1200"/>
                        <a:t>MAVLink (internal)</a:t>
                      </a:r>
                    </a:p>
                  </a:txBody>
                  <a:tcPr marL="34426" marR="34426" marT="17213" marB="17213" anchor="ctr"/>
                </a:tc>
                <a:tc>
                  <a:txBody>
                    <a:bodyPr/>
                    <a:lstStyle/>
                    <a:p>
                      <a:pPr>
                        <a:buNone/>
                      </a:pPr>
                      <a:r>
                        <a:rPr lang="en-IN" sz="1200"/>
                        <a:t>MAVLink (internal)</a:t>
                      </a:r>
                    </a:p>
                  </a:txBody>
                  <a:tcPr marL="34426" marR="34426" marT="17213" marB="17213" anchor="ctr"/>
                </a:tc>
                <a:tc>
                  <a:txBody>
                    <a:bodyPr/>
                    <a:lstStyle/>
                    <a:p>
                      <a:pPr>
                        <a:buNone/>
                      </a:pPr>
                      <a:r>
                        <a:rPr lang="en-IN" sz="1200" dirty="0"/>
                        <a:t>FC ↔ Companion ↔ GCS communication</a:t>
                      </a:r>
                    </a:p>
                  </a:txBody>
                  <a:tcPr marL="34426" marR="34426" marT="17213" marB="17213" anchor="ctr"/>
                </a:tc>
                <a:extLst>
                  <a:ext uri="{0D108BD9-81ED-4DB2-BD59-A6C34878D82A}">
                    <a16:rowId xmlns:a16="http://schemas.microsoft.com/office/drawing/2014/main" val="2288196965"/>
                  </a:ext>
                </a:extLst>
              </a:tr>
            </a:tbl>
          </a:graphicData>
        </a:graphic>
      </p:graphicFrame>
    </p:spTree>
    <p:custDataLst>
      <p:tags r:id="rId1"/>
    </p:custDataLst>
    <p:extLst>
      <p:ext uri="{BB962C8B-B14F-4D97-AF65-F5344CB8AC3E}">
        <p14:creationId xmlns:p14="http://schemas.microsoft.com/office/powerpoint/2010/main" val="612472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F670E-65F5-5FF9-1C2F-8841E14C774C}"/>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C8AD0927-DB17-320F-5A39-A8782D3B4A8D}"/>
              </a:ext>
            </a:extLst>
          </p:cNvPr>
          <p:cNvPicPr>
            <a:picLocks noChangeAspect="1"/>
          </p:cNvPicPr>
          <p:nvPr/>
        </p:nvPicPr>
        <p:blipFill>
          <a:blip r:embed="rId3">
            <a:clrChange>
              <a:clrFrom>
                <a:srgbClr val="071002"/>
              </a:clrFrom>
              <a:clrTo>
                <a:srgbClr val="071002">
                  <a:alpha val="0"/>
                </a:srgbClr>
              </a:clrTo>
            </a:clrChange>
            <a:extLst>
              <a:ext uri="{BEBA8EAE-BF5A-486C-A8C5-ECC9F3942E4B}">
                <a14:imgProps xmlns:a14="http://schemas.microsoft.com/office/drawing/2010/main">
                  <a14:imgLayer r:embed="rId4">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sp>
        <p:nvSpPr>
          <p:cNvPr id="82" name="Rectangle 81">
            <a:extLst>
              <a:ext uri="{FF2B5EF4-FFF2-40B4-BE49-F238E27FC236}">
                <a16:creationId xmlns:a16="http://schemas.microsoft.com/office/drawing/2014/main" id="{E5D059C9-D292-1D1B-88DC-2EDFB859A98C}"/>
              </a:ext>
            </a:extLst>
          </p:cNvPr>
          <p:cNvSpPr/>
          <p:nvPr/>
        </p:nvSpPr>
        <p:spPr>
          <a:xfrm>
            <a:off x="0" y="401452"/>
            <a:ext cx="12513501" cy="741600"/>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700"/>
              </a:spcAft>
            </a:pPr>
            <a:r>
              <a:rPr lang="en-US" sz="3600" b="1" dirty="0">
                <a:latin typeface="Times New Roman" panose="02020603050405020304" pitchFamily="18" charset="0"/>
                <a:cs typeface="Times New Roman" panose="02020603050405020304" pitchFamily="18" charset="0"/>
              </a:rPr>
              <a:t> MULTIDRONE OPERATION</a:t>
            </a:r>
          </a:p>
        </p:txBody>
      </p:sp>
      <p:pic>
        <p:nvPicPr>
          <p:cNvPr id="4" name="Picture 3">
            <a:extLst>
              <a:ext uri="{FF2B5EF4-FFF2-40B4-BE49-F238E27FC236}">
                <a16:creationId xmlns:a16="http://schemas.microsoft.com/office/drawing/2014/main" id="{047C9A42-84CA-6E67-100A-1961D464DB01}"/>
              </a:ext>
            </a:extLst>
          </p:cNvPr>
          <p:cNvPicPr>
            <a:picLocks noChangeAspect="1"/>
          </p:cNvPicPr>
          <p:nvPr/>
        </p:nvPicPr>
        <p:blipFill>
          <a:blip r:embed="rId5"/>
          <a:stretch>
            <a:fillRect/>
          </a:stretch>
        </p:blipFill>
        <p:spPr>
          <a:xfrm>
            <a:off x="1889047" y="1713500"/>
            <a:ext cx="7281329" cy="4180340"/>
          </a:xfrm>
          <a:prstGeom prst="rect">
            <a:avLst/>
          </a:prstGeom>
        </p:spPr>
      </p:pic>
    </p:spTree>
    <p:custDataLst>
      <p:tags r:id="rId1"/>
    </p:custDataLst>
    <p:extLst>
      <p:ext uri="{BB962C8B-B14F-4D97-AF65-F5344CB8AC3E}">
        <p14:creationId xmlns:p14="http://schemas.microsoft.com/office/powerpoint/2010/main" val="29127004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8D35B-3379-02E9-D091-798EE5CC35D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E58627F-2F71-D291-C2BC-324C08321854}"/>
              </a:ext>
            </a:extLst>
          </p:cNvPr>
          <p:cNvPicPr>
            <a:picLocks noChangeAspect="1"/>
          </p:cNvPicPr>
          <p:nvPr/>
        </p:nvPicPr>
        <p:blipFill>
          <a:blip r:embed="rId2">
            <a:clrChange>
              <a:clrFrom>
                <a:srgbClr val="071002"/>
              </a:clrFrom>
              <a:clrTo>
                <a:srgbClr val="071002">
                  <a:alpha val="0"/>
                </a:srgbClr>
              </a:clrTo>
            </a:clrChange>
            <a:extLst>
              <a:ext uri="{BEBA8EAE-BF5A-486C-A8C5-ECC9F3942E4B}">
                <a14:imgProps xmlns:a14="http://schemas.microsoft.com/office/drawing/2010/main">
                  <a14:imgLayer r:embed="rId3">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sp>
        <p:nvSpPr>
          <p:cNvPr id="5" name="Rectangle 4">
            <a:extLst>
              <a:ext uri="{FF2B5EF4-FFF2-40B4-BE49-F238E27FC236}">
                <a16:creationId xmlns:a16="http://schemas.microsoft.com/office/drawing/2014/main" id="{FEB23994-EE3E-B895-38EF-B4FC64F7DAD5}"/>
              </a:ext>
            </a:extLst>
          </p:cNvPr>
          <p:cNvSpPr/>
          <p:nvPr/>
        </p:nvSpPr>
        <p:spPr>
          <a:xfrm>
            <a:off x="773723" y="1367360"/>
            <a:ext cx="10644553" cy="2860431"/>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746257DA-1A71-92BC-36A8-67AE7B992A24}"/>
              </a:ext>
            </a:extLst>
          </p:cNvPr>
          <p:cNvSpPr txBox="1"/>
          <p:nvPr/>
        </p:nvSpPr>
        <p:spPr>
          <a:xfrm>
            <a:off x="1049903" y="1643413"/>
            <a:ext cx="10368373" cy="2308324"/>
          </a:xfrm>
          <a:prstGeom prst="rect">
            <a:avLst/>
          </a:prstGeom>
          <a:noFill/>
        </p:spPr>
        <p:txBody>
          <a:bodyPr wrap="square" rtlCol="0">
            <a:spAutoFit/>
          </a:bodyPr>
          <a:lstStyle/>
          <a:p>
            <a:r>
              <a:rPr lang="en-IN" sz="7200" dirty="0"/>
              <a:t>PAYLOAD DROPPING MECHANISM</a:t>
            </a:r>
          </a:p>
        </p:txBody>
      </p:sp>
    </p:spTree>
    <p:extLst>
      <p:ext uri="{BB962C8B-B14F-4D97-AF65-F5344CB8AC3E}">
        <p14:creationId xmlns:p14="http://schemas.microsoft.com/office/powerpoint/2010/main" val="42571494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19748-58D9-5826-938F-D1C29AD93281}"/>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5A09F10E-1A1A-BB47-2998-43406989A9F1}"/>
              </a:ext>
            </a:extLst>
          </p:cNvPr>
          <p:cNvPicPr>
            <a:picLocks noChangeAspect="1"/>
          </p:cNvPicPr>
          <p:nvPr/>
        </p:nvPicPr>
        <p:blipFill>
          <a:blip r:embed="rId3">
            <a:clrChange>
              <a:clrFrom>
                <a:srgbClr val="071002"/>
              </a:clrFrom>
              <a:clrTo>
                <a:srgbClr val="071002">
                  <a:alpha val="0"/>
                </a:srgbClr>
              </a:clrTo>
            </a:clrChange>
            <a:extLst>
              <a:ext uri="{BEBA8EAE-BF5A-486C-A8C5-ECC9F3942E4B}">
                <a14:imgProps xmlns:a14="http://schemas.microsoft.com/office/drawing/2010/main">
                  <a14:imgLayer r:embed="rId4">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sp>
        <p:nvSpPr>
          <p:cNvPr id="4" name="Rectangle 3">
            <a:extLst>
              <a:ext uri="{FF2B5EF4-FFF2-40B4-BE49-F238E27FC236}">
                <a16:creationId xmlns:a16="http://schemas.microsoft.com/office/drawing/2014/main" id="{1A5829FC-5B31-3EA7-A4A2-41A26D1907CD}"/>
              </a:ext>
            </a:extLst>
          </p:cNvPr>
          <p:cNvSpPr/>
          <p:nvPr/>
        </p:nvSpPr>
        <p:spPr>
          <a:xfrm>
            <a:off x="0" y="401452"/>
            <a:ext cx="5909187" cy="741600"/>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700"/>
              </a:spcAft>
            </a:pPr>
            <a:r>
              <a:rPr lang="en-US" sz="4400" b="1" dirty="0">
                <a:latin typeface="Times New Roman" panose="02020603050405020304" pitchFamily="18" charset="0"/>
                <a:cs typeface="Times New Roman" panose="02020603050405020304" pitchFamily="18" charset="0"/>
              </a:rPr>
              <a:t> PAYLOAD CAD:</a:t>
            </a:r>
          </a:p>
        </p:txBody>
      </p:sp>
      <p:grpSp>
        <p:nvGrpSpPr>
          <p:cNvPr id="10" name="Group 9">
            <a:extLst>
              <a:ext uri="{FF2B5EF4-FFF2-40B4-BE49-F238E27FC236}">
                <a16:creationId xmlns:a16="http://schemas.microsoft.com/office/drawing/2014/main" id="{E402C55C-9FB7-804C-531A-B2EFE22A827B}"/>
              </a:ext>
            </a:extLst>
          </p:cNvPr>
          <p:cNvGrpSpPr/>
          <p:nvPr/>
        </p:nvGrpSpPr>
        <p:grpSpPr>
          <a:xfrm>
            <a:off x="693378" y="1677225"/>
            <a:ext cx="10066303" cy="4779323"/>
            <a:chOff x="693378" y="1677225"/>
            <a:chExt cx="10066303" cy="4779323"/>
          </a:xfrm>
        </p:grpSpPr>
        <p:sp>
          <p:nvSpPr>
            <p:cNvPr id="6" name="Rectangle: Rounded Corners 5">
              <a:extLst>
                <a:ext uri="{FF2B5EF4-FFF2-40B4-BE49-F238E27FC236}">
                  <a16:creationId xmlns:a16="http://schemas.microsoft.com/office/drawing/2014/main" id="{6F55A5EF-F0B8-6957-D30E-295359AC8317}"/>
                </a:ext>
              </a:extLst>
            </p:cNvPr>
            <p:cNvSpPr/>
            <p:nvPr/>
          </p:nvSpPr>
          <p:spPr>
            <a:xfrm>
              <a:off x="6799681" y="1677225"/>
              <a:ext cx="3960000" cy="2160000"/>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8" name="Image 45">
              <a:extLst>
                <a:ext uri="{FF2B5EF4-FFF2-40B4-BE49-F238E27FC236}">
                  <a16:creationId xmlns:a16="http://schemas.microsoft.com/office/drawing/2014/main" id="{09316FB6-3ADF-8FF8-9641-B7872526FCC7}"/>
                </a:ext>
              </a:extLst>
            </p:cNvPr>
            <p:cNvPicPr/>
            <p:nvPr/>
          </p:nvPicPr>
          <p:blipFill>
            <a:blip r:embed="rId5" cstate="print"/>
            <a:stretch>
              <a:fillRect/>
            </a:stretch>
          </p:blipFill>
          <p:spPr>
            <a:xfrm>
              <a:off x="1313657" y="1705460"/>
              <a:ext cx="2895760" cy="2162587"/>
            </a:xfrm>
            <a:prstGeom prst="rect">
              <a:avLst/>
            </a:prstGeom>
          </p:spPr>
        </p:pic>
        <p:sp>
          <p:nvSpPr>
            <p:cNvPr id="16" name="Rectangle: Rounded Corners 15">
              <a:extLst>
                <a:ext uri="{FF2B5EF4-FFF2-40B4-BE49-F238E27FC236}">
                  <a16:creationId xmlns:a16="http://schemas.microsoft.com/office/drawing/2014/main" id="{ED8350E2-5717-4A3A-6EEF-F4717D7B6343}"/>
                </a:ext>
              </a:extLst>
            </p:cNvPr>
            <p:cNvSpPr/>
            <p:nvPr/>
          </p:nvSpPr>
          <p:spPr>
            <a:xfrm>
              <a:off x="693378" y="4296548"/>
              <a:ext cx="3960000" cy="2160000"/>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Rectangle: Rounded Corners 16">
              <a:extLst>
                <a:ext uri="{FF2B5EF4-FFF2-40B4-BE49-F238E27FC236}">
                  <a16:creationId xmlns:a16="http://schemas.microsoft.com/office/drawing/2014/main" id="{CE7095C8-5AF0-B2FE-A365-0066145E93A6}"/>
                </a:ext>
              </a:extLst>
            </p:cNvPr>
            <p:cNvSpPr/>
            <p:nvPr/>
          </p:nvSpPr>
          <p:spPr>
            <a:xfrm>
              <a:off x="693378" y="1677225"/>
              <a:ext cx="3960000" cy="2160000"/>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0" name="Rectangle: Rounded Corners 19">
              <a:extLst>
                <a:ext uri="{FF2B5EF4-FFF2-40B4-BE49-F238E27FC236}">
                  <a16:creationId xmlns:a16="http://schemas.microsoft.com/office/drawing/2014/main" id="{CBF9CF0C-9F93-FA9D-04DB-07324FD40783}"/>
                </a:ext>
              </a:extLst>
            </p:cNvPr>
            <p:cNvSpPr/>
            <p:nvPr/>
          </p:nvSpPr>
          <p:spPr>
            <a:xfrm>
              <a:off x="6799681" y="4296548"/>
              <a:ext cx="3960000" cy="2160000"/>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11" name="TextBox 10">
            <a:extLst>
              <a:ext uri="{FF2B5EF4-FFF2-40B4-BE49-F238E27FC236}">
                <a16:creationId xmlns:a16="http://schemas.microsoft.com/office/drawing/2014/main" id="{AB5FC0FD-A2EE-ED62-45D7-A236802DC98B}"/>
              </a:ext>
            </a:extLst>
          </p:cNvPr>
          <p:cNvSpPr txBox="1"/>
          <p:nvPr/>
        </p:nvSpPr>
        <p:spPr>
          <a:xfrm>
            <a:off x="6894674" y="6456548"/>
            <a:ext cx="2265685" cy="369332"/>
          </a:xfrm>
          <a:prstGeom prst="rect">
            <a:avLst/>
          </a:prstGeom>
          <a:noFill/>
        </p:spPr>
        <p:txBody>
          <a:bodyPr wrap="square" rtlCol="0">
            <a:spAutoFit/>
          </a:bodyPr>
          <a:lstStyle/>
          <a:p>
            <a:r>
              <a:rPr lang="en-IN" dirty="0"/>
              <a:t>ANGLE VIEW</a:t>
            </a:r>
          </a:p>
        </p:txBody>
      </p:sp>
      <p:sp>
        <p:nvSpPr>
          <p:cNvPr id="14" name="TextBox 13">
            <a:extLst>
              <a:ext uri="{FF2B5EF4-FFF2-40B4-BE49-F238E27FC236}">
                <a16:creationId xmlns:a16="http://schemas.microsoft.com/office/drawing/2014/main" id="{FB95ACAB-7535-C244-1971-DE51D5E7003D}"/>
              </a:ext>
            </a:extLst>
          </p:cNvPr>
          <p:cNvSpPr txBox="1"/>
          <p:nvPr/>
        </p:nvSpPr>
        <p:spPr>
          <a:xfrm>
            <a:off x="977931" y="3815848"/>
            <a:ext cx="2265685" cy="369332"/>
          </a:xfrm>
          <a:prstGeom prst="rect">
            <a:avLst/>
          </a:prstGeom>
          <a:noFill/>
        </p:spPr>
        <p:txBody>
          <a:bodyPr wrap="square" rtlCol="0">
            <a:spAutoFit/>
          </a:bodyPr>
          <a:lstStyle/>
          <a:p>
            <a:r>
              <a:rPr lang="en-IN" dirty="0"/>
              <a:t>FRONT VIEW</a:t>
            </a:r>
          </a:p>
        </p:txBody>
      </p:sp>
      <p:sp>
        <p:nvSpPr>
          <p:cNvPr id="15" name="TextBox 14">
            <a:extLst>
              <a:ext uri="{FF2B5EF4-FFF2-40B4-BE49-F238E27FC236}">
                <a16:creationId xmlns:a16="http://schemas.microsoft.com/office/drawing/2014/main" id="{9EB3859A-06C3-3924-8828-0F7969922263}"/>
              </a:ext>
            </a:extLst>
          </p:cNvPr>
          <p:cNvSpPr txBox="1"/>
          <p:nvPr/>
        </p:nvSpPr>
        <p:spPr>
          <a:xfrm>
            <a:off x="874941" y="6444858"/>
            <a:ext cx="2265685" cy="369332"/>
          </a:xfrm>
          <a:prstGeom prst="rect">
            <a:avLst/>
          </a:prstGeom>
          <a:noFill/>
        </p:spPr>
        <p:txBody>
          <a:bodyPr wrap="square" rtlCol="0">
            <a:spAutoFit/>
          </a:bodyPr>
          <a:lstStyle/>
          <a:p>
            <a:r>
              <a:rPr lang="en-IN" dirty="0"/>
              <a:t>TOP VIEW</a:t>
            </a:r>
          </a:p>
        </p:txBody>
      </p:sp>
      <p:sp>
        <p:nvSpPr>
          <p:cNvPr id="23" name="TextBox 22">
            <a:extLst>
              <a:ext uri="{FF2B5EF4-FFF2-40B4-BE49-F238E27FC236}">
                <a16:creationId xmlns:a16="http://schemas.microsoft.com/office/drawing/2014/main" id="{9678CB00-684B-5F9E-B2B7-D91D8D4FF7BA}"/>
              </a:ext>
            </a:extLst>
          </p:cNvPr>
          <p:cNvSpPr txBox="1"/>
          <p:nvPr/>
        </p:nvSpPr>
        <p:spPr>
          <a:xfrm>
            <a:off x="6883399" y="3850048"/>
            <a:ext cx="2265685" cy="369332"/>
          </a:xfrm>
          <a:prstGeom prst="rect">
            <a:avLst/>
          </a:prstGeom>
          <a:noFill/>
        </p:spPr>
        <p:txBody>
          <a:bodyPr wrap="square" rtlCol="0">
            <a:spAutoFit/>
          </a:bodyPr>
          <a:lstStyle/>
          <a:p>
            <a:r>
              <a:rPr lang="en-IN" dirty="0"/>
              <a:t>SIDE VIEW</a:t>
            </a:r>
          </a:p>
        </p:txBody>
      </p:sp>
    </p:spTree>
    <p:custDataLst>
      <p:tags r:id="rId1"/>
    </p:custDataLst>
    <p:extLst>
      <p:ext uri="{BB962C8B-B14F-4D97-AF65-F5344CB8AC3E}">
        <p14:creationId xmlns:p14="http://schemas.microsoft.com/office/powerpoint/2010/main" val="4159650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down)">
                                      <p:cBhvr>
                                        <p:cTn id="10" dur="500"/>
                                        <p:tgtEl>
                                          <p:spTgt spid="11"/>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wipe(down)">
                                      <p:cBhvr>
                                        <p:cTn id="13" dur="500"/>
                                        <p:tgtEl>
                                          <p:spTgt spid="14"/>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down)">
                                      <p:cBhvr>
                                        <p:cTn id="16" dur="500"/>
                                        <p:tgtEl>
                                          <p:spTgt spid="15"/>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wipe(down)">
                                      <p:cBhvr>
                                        <p:cTn id="1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P spid="15" grpId="0"/>
      <p:bldP spid="2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4E8E9-B601-DD92-0E1E-47F7CAE4776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FD77321-4D45-2A99-0A19-B04EDDFADB0F}"/>
              </a:ext>
            </a:extLst>
          </p:cNvPr>
          <p:cNvPicPr>
            <a:picLocks noChangeAspect="1"/>
          </p:cNvPicPr>
          <p:nvPr/>
        </p:nvPicPr>
        <p:blipFill>
          <a:blip r:embed="rId2">
            <a:clrChange>
              <a:clrFrom>
                <a:srgbClr val="071002"/>
              </a:clrFrom>
              <a:clrTo>
                <a:srgbClr val="071002">
                  <a:alpha val="0"/>
                </a:srgbClr>
              </a:clrTo>
            </a:clrChange>
            <a:extLst>
              <a:ext uri="{BEBA8EAE-BF5A-486C-A8C5-ECC9F3942E4B}">
                <a14:imgProps xmlns:a14="http://schemas.microsoft.com/office/drawing/2010/main">
                  <a14:imgLayer r:embed="rId3">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sp>
        <p:nvSpPr>
          <p:cNvPr id="5" name="Rectangle 4">
            <a:extLst>
              <a:ext uri="{FF2B5EF4-FFF2-40B4-BE49-F238E27FC236}">
                <a16:creationId xmlns:a16="http://schemas.microsoft.com/office/drawing/2014/main" id="{9D53B7F8-EC3D-B4E0-FF56-1C1C50566632}"/>
              </a:ext>
            </a:extLst>
          </p:cNvPr>
          <p:cNvSpPr/>
          <p:nvPr/>
        </p:nvSpPr>
        <p:spPr>
          <a:xfrm>
            <a:off x="773723" y="1367360"/>
            <a:ext cx="10644553" cy="2860431"/>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F4ED0F0E-4B21-2F15-96F2-768C2454D8BC}"/>
              </a:ext>
            </a:extLst>
          </p:cNvPr>
          <p:cNvSpPr txBox="1"/>
          <p:nvPr/>
        </p:nvSpPr>
        <p:spPr>
          <a:xfrm>
            <a:off x="1049903" y="1643413"/>
            <a:ext cx="10368373" cy="2308324"/>
          </a:xfrm>
          <a:prstGeom prst="rect">
            <a:avLst/>
          </a:prstGeom>
          <a:noFill/>
        </p:spPr>
        <p:txBody>
          <a:bodyPr wrap="square" rtlCol="0">
            <a:spAutoFit/>
          </a:bodyPr>
          <a:lstStyle/>
          <a:p>
            <a:r>
              <a:rPr lang="en-IN" sz="7200" dirty="0"/>
              <a:t>FAILSAFE AND SAFETY</a:t>
            </a:r>
          </a:p>
          <a:p>
            <a:r>
              <a:rPr lang="en-IN" sz="7200" dirty="0"/>
              <a:t>FEATURES</a:t>
            </a:r>
          </a:p>
        </p:txBody>
      </p:sp>
    </p:spTree>
    <p:extLst>
      <p:ext uri="{BB962C8B-B14F-4D97-AF65-F5344CB8AC3E}">
        <p14:creationId xmlns:p14="http://schemas.microsoft.com/office/powerpoint/2010/main" val="4294836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155EB-4A7D-D1DB-200E-6FB7D45E1877}"/>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D7541D5-C678-E152-6703-84043B2B1F04}"/>
              </a:ext>
            </a:extLst>
          </p:cNvPr>
          <p:cNvPicPr>
            <a:picLocks noChangeAspect="1"/>
          </p:cNvPicPr>
          <p:nvPr/>
        </p:nvPicPr>
        <p:blipFill>
          <a:blip r:embed="rId3">
            <a:clrChange>
              <a:clrFrom>
                <a:srgbClr val="071002"/>
              </a:clrFrom>
              <a:clrTo>
                <a:srgbClr val="071002">
                  <a:alpha val="0"/>
                </a:srgbClr>
              </a:clrTo>
            </a:clrChange>
            <a:extLst>
              <a:ext uri="{BEBA8EAE-BF5A-486C-A8C5-ECC9F3942E4B}">
                <a14:imgProps xmlns:a14="http://schemas.microsoft.com/office/drawing/2010/main">
                  <a14:imgLayer r:embed="rId4">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sp>
        <p:nvSpPr>
          <p:cNvPr id="5" name="Rectangle: Rounded Corners 4">
            <a:extLst>
              <a:ext uri="{FF2B5EF4-FFF2-40B4-BE49-F238E27FC236}">
                <a16:creationId xmlns:a16="http://schemas.microsoft.com/office/drawing/2014/main" id="{0A18F374-A916-6EFD-A0B3-D0205F039A68}"/>
              </a:ext>
            </a:extLst>
          </p:cNvPr>
          <p:cNvSpPr/>
          <p:nvPr/>
        </p:nvSpPr>
        <p:spPr>
          <a:xfrm>
            <a:off x="874308" y="1325245"/>
            <a:ext cx="5048510" cy="5283374"/>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TextBox 5">
            <a:extLst>
              <a:ext uri="{FF2B5EF4-FFF2-40B4-BE49-F238E27FC236}">
                <a16:creationId xmlns:a16="http://schemas.microsoft.com/office/drawing/2014/main" id="{E444B26D-BDD7-5141-F72E-1BE801E9EAC9}"/>
              </a:ext>
            </a:extLst>
          </p:cNvPr>
          <p:cNvSpPr txBox="1"/>
          <p:nvPr/>
        </p:nvSpPr>
        <p:spPr>
          <a:xfrm>
            <a:off x="0" y="249381"/>
            <a:ext cx="10361810" cy="830997"/>
          </a:xfrm>
          <a:prstGeom prst="rect">
            <a:avLst/>
          </a:prstGeom>
          <a:solidFill>
            <a:schemeClr val="bg2">
              <a:lumMod val="75000"/>
            </a:schemeClr>
          </a:solidFill>
        </p:spPr>
        <p:txBody>
          <a:bodyPr wrap="square" rtlCol="0">
            <a:spAutoFit/>
          </a:bodyPr>
          <a:lstStyle/>
          <a:p>
            <a:r>
              <a:rPr lang="en-IN" sz="4800" dirty="0"/>
              <a:t>FAILSAFE AND SAFETY FEATURES</a:t>
            </a:r>
          </a:p>
        </p:txBody>
      </p:sp>
      <p:sp>
        <p:nvSpPr>
          <p:cNvPr id="3" name="Rectangle: Rounded Corners 2">
            <a:extLst>
              <a:ext uri="{FF2B5EF4-FFF2-40B4-BE49-F238E27FC236}">
                <a16:creationId xmlns:a16="http://schemas.microsoft.com/office/drawing/2014/main" id="{6DF9629C-177D-163C-E9CF-4B4CE15FA281}"/>
              </a:ext>
            </a:extLst>
          </p:cNvPr>
          <p:cNvSpPr/>
          <p:nvPr/>
        </p:nvSpPr>
        <p:spPr>
          <a:xfrm>
            <a:off x="6797126" y="1325245"/>
            <a:ext cx="5048510" cy="5283374"/>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If the </a:t>
            </a:r>
            <a:r>
              <a:rPr lang="en-US" b="1" dirty="0"/>
              <a:t>radio link between transmitter and receiver is lost</a:t>
            </a:r>
            <a:r>
              <a:rPr lang="en-US" dirty="0"/>
              <a:t>, the Pixhawk detects signal failure.</a:t>
            </a:r>
          </a:p>
          <a:p>
            <a:endParaRPr lang="en-US" dirty="0"/>
          </a:p>
          <a:p>
            <a:r>
              <a:rPr lang="en-US" dirty="0"/>
              <a:t>Upon signal loss, the flight controller automatically executes a </a:t>
            </a:r>
            <a:r>
              <a:rPr lang="en-US" b="1" dirty="0"/>
              <a:t>predefined failsafe action</a:t>
            </a:r>
            <a:r>
              <a:rPr lang="en-US" dirty="0"/>
              <a:t> such as </a:t>
            </a:r>
            <a:r>
              <a:rPr lang="en-US" b="1" dirty="0"/>
              <a:t>Return-to-Launch (RTL)</a:t>
            </a:r>
            <a:r>
              <a:rPr lang="en-US" dirty="0"/>
              <a:t> or </a:t>
            </a:r>
            <a:r>
              <a:rPr lang="en-US" b="1" dirty="0"/>
              <a:t>landing</a:t>
            </a:r>
            <a:r>
              <a:rPr lang="en-US" dirty="0"/>
              <a:t>.</a:t>
            </a:r>
          </a:p>
        </p:txBody>
      </p:sp>
      <p:sp>
        <p:nvSpPr>
          <p:cNvPr id="7" name="TextBox 6">
            <a:extLst>
              <a:ext uri="{FF2B5EF4-FFF2-40B4-BE49-F238E27FC236}">
                <a16:creationId xmlns:a16="http://schemas.microsoft.com/office/drawing/2014/main" id="{AD19AC51-377A-88A6-4958-8639804FD79C}"/>
              </a:ext>
            </a:extLst>
          </p:cNvPr>
          <p:cNvSpPr txBox="1"/>
          <p:nvPr/>
        </p:nvSpPr>
        <p:spPr>
          <a:xfrm>
            <a:off x="1443902" y="2418191"/>
            <a:ext cx="3737003" cy="3970318"/>
          </a:xfrm>
          <a:prstGeom prst="rect">
            <a:avLst/>
          </a:prstGeom>
          <a:noFill/>
        </p:spPr>
        <p:txBody>
          <a:bodyPr wrap="square">
            <a:spAutoFit/>
          </a:bodyPr>
          <a:lstStyle/>
          <a:p>
            <a:pPr>
              <a:buFont typeface="Arial" panose="020B0604020202020204" pitchFamily="34" charset="0"/>
              <a:buChar char="•"/>
            </a:pPr>
            <a:r>
              <a:rPr lang="en-US" dirty="0"/>
              <a:t>The </a:t>
            </a:r>
            <a:r>
              <a:rPr lang="en-US" b="1" dirty="0" err="1"/>
              <a:t>Holybro</a:t>
            </a:r>
            <a:r>
              <a:rPr lang="en-US" b="1" dirty="0"/>
              <a:t> PM06 V2 power module</a:t>
            </a:r>
            <a:r>
              <a:rPr lang="en-US" dirty="0"/>
              <a:t> is connected between the </a:t>
            </a:r>
            <a:r>
              <a:rPr lang="en-US" b="1" dirty="0"/>
              <a:t>battery and Pixhawk flight controller</a:t>
            </a:r>
            <a:r>
              <a:rPr lang="en-US" dirty="0"/>
              <a:t>.</a:t>
            </a:r>
          </a:p>
          <a:p>
            <a:pPr>
              <a:buFont typeface="Arial" panose="020B0604020202020204" pitchFamily="34" charset="0"/>
              <a:buChar char="•"/>
            </a:pPr>
            <a:endParaRPr lang="en-US" dirty="0"/>
          </a:p>
          <a:p>
            <a:pPr>
              <a:buFont typeface="Arial" panose="020B0604020202020204" pitchFamily="34" charset="0"/>
              <a:buChar char="•"/>
            </a:pPr>
            <a:r>
              <a:rPr lang="en-US" dirty="0"/>
              <a:t>It continuously measures </a:t>
            </a:r>
            <a:r>
              <a:rPr lang="en-US" b="1" dirty="0"/>
              <a:t>battery voltage and current</a:t>
            </a:r>
            <a:r>
              <a:rPr lang="en-US" dirty="0"/>
              <a:t> and sends this data to the Pixhawk.</a:t>
            </a:r>
          </a:p>
          <a:p>
            <a:pPr>
              <a:buFont typeface="Arial" panose="020B0604020202020204" pitchFamily="34" charset="0"/>
              <a:buChar char="•"/>
            </a:pPr>
            <a:endParaRPr lang="en-US" dirty="0"/>
          </a:p>
          <a:p>
            <a:pPr>
              <a:buFont typeface="Arial" panose="020B0604020202020204" pitchFamily="34" charset="0"/>
              <a:buChar char="•"/>
            </a:pPr>
            <a:r>
              <a:rPr lang="en-US" dirty="0"/>
              <a:t>When voltage drops below the set threshold, the </a:t>
            </a:r>
            <a:r>
              <a:rPr lang="en-US" b="1" dirty="0"/>
              <a:t>Pixhawk triggers low-battery failsafe</a:t>
            </a:r>
            <a:r>
              <a:rPr lang="en-US" dirty="0"/>
              <a:t> such as </a:t>
            </a:r>
            <a:r>
              <a:rPr lang="en-US" b="1" dirty="0"/>
              <a:t>RTL or auto-land</a:t>
            </a:r>
            <a:r>
              <a:rPr lang="en-US" dirty="0"/>
              <a:t>.</a:t>
            </a:r>
          </a:p>
        </p:txBody>
      </p:sp>
      <p:sp>
        <p:nvSpPr>
          <p:cNvPr id="9" name="TextBox 8">
            <a:extLst>
              <a:ext uri="{FF2B5EF4-FFF2-40B4-BE49-F238E27FC236}">
                <a16:creationId xmlns:a16="http://schemas.microsoft.com/office/drawing/2014/main" id="{2D13D345-3D65-AD25-201B-EA4A78C1D659}"/>
              </a:ext>
            </a:extLst>
          </p:cNvPr>
          <p:cNvSpPr txBox="1"/>
          <p:nvPr/>
        </p:nvSpPr>
        <p:spPr>
          <a:xfrm>
            <a:off x="1293668" y="1803992"/>
            <a:ext cx="4629150" cy="400110"/>
          </a:xfrm>
          <a:prstGeom prst="rect">
            <a:avLst/>
          </a:prstGeom>
          <a:noFill/>
        </p:spPr>
        <p:txBody>
          <a:bodyPr wrap="square">
            <a:spAutoFit/>
          </a:bodyPr>
          <a:lstStyle/>
          <a:p>
            <a:r>
              <a:rPr lang="en-US" sz="2000" b="1" dirty="0">
                <a:latin typeface="Liberation Serif"/>
                <a:cs typeface="Leelawadee" panose="020B0502040204020203" pitchFamily="34" charset="-34"/>
              </a:rPr>
              <a:t>Battery Failsafe (Power Module–Based)</a:t>
            </a:r>
            <a:endParaRPr lang="en-IN" sz="2000" b="1" dirty="0">
              <a:latin typeface="Liberation Serif"/>
              <a:cs typeface="Leelawadee" panose="020B0502040204020203" pitchFamily="34" charset="-34"/>
            </a:endParaRPr>
          </a:p>
        </p:txBody>
      </p:sp>
      <p:sp>
        <p:nvSpPr>
          <p:cNvPr id="10" name="TextBox 9">
            <a:extLst>
              <a:ext uri="{FF2B5EF4-FFF2-40B4-BE49-F238E27FC236}">
                <a16:creationId xmlns:a16="http://schemas.microsoft.com/office/drawing/2014/main" id="{D3F95BEF-A4CA-79F4-4565-03241476B32D}"/>
              </a:ext>
            </a:extLst>
          </p:cNvPr>
          <p:cNvSpPr txBox="1"/>
          <p:nvPr/>
        </p:nvSpPr>
        <p:spPr>
          <a:xfrm>
            <a:off x="7006806" y="1910146"/>
            <a:ext cx="4629150" cy="400110"/>
          </a:xfrm>
          <a:prstGeom prst="rect">
            <a:avLst/>
          </a:prstGeom>
          <a:noFill/>
        </p:spPr>
        <p:txBody>
          <a:bodyPr wrap="square">
            <a:spAutoFit/>
          </a:bodyPr>
          <a:lstStyle/>
          <a:p>
            <a:r>
              <a:rPr lang="en-IN" sz="2000" b="1" dirty="0">
                <a:latin typeface="Liberation Serif"/>
              </a:rPr>
              <a:t>Radio Failsafe (Communication Loss)</a:t>
            </a:r>
            <a:endParaRPr lang="en-IN" sz="2000" b="1" dirty="0">
              <a:latin typeface="Liberation Serif"/>
              <a:cs typeface="Leelawadee" panose="020B0502040204020203" pitchFamily="34" charset="-34"/>
            </a:endParaRPr>
          </a:p>
        </p:txBody>
      </p:sp>
    </p:spTree>
    <p:extLst>
      <p:ext uri="{BB962C8B-B14F-4D97-AF65-F5344CB8AC3E}">
        <p14:creationId xmlns:p14="http://schemas.microsoft.com/office/powerpoint/2010/main" val="7912120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0BB05-EF3E-2561-3517-191312E3B2D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6D5D214D-418C-0073-09A2-FD2EFF49FD50}"/>
              </a:ext>
            </a:extLst>
          </p:cNvPr>
          <p:cNvPicPr>
            <a:picLocks noChangeAspect="1"/>
          </p:cNvPicPr>
          <p:nvPr/>
        </p:nvPicPr>
        <p:blipFill>
          <a:blip r:embed="rId2">
            <a:clrChange>
              <a:clrFrom>
                <a:srgbClr val="071002"/>
              </a:clrFrom>
              <a:clrTo>
                <a:srgbClr val="071002">
                  <a:alpha val="0"/>
                </a:srgbClr>
              </a:clrTo>
            </a:clrChange>
            <a:extLst>
              <a:ext uri="{BEBA8EAE-BF5A-486C-A8C5-ECC9F3942E4B}">
                <a14:imgProps xmlns:a14="http://schemas.microsoft.com/office/drawing/2010/main">
                  <a14:imgLayer r:embed="rId3">
                    <a14:imgEffect>
                      <a14:artisticBlur/>
                    </a14:imgEffect>
                    <a14:imgEffect>
                      <a14:sharpenSoften amount="-9000"/>
                    </a14:imgEffect>
                    <a14:imgEffect>
                      <a14:brightnessContrast bright="-48000" contrast="-3000"/>
                    </a14:imgEffect>
                  </a14:imgLayer>
                </a14:imgProps>
              </a:ext>
              <a:ext uri="{28A0092B-C50C-407E-A947-70E740481C1C}">
                <a14:useLocalDpi xmlns:a14="http://schemas.microsoft.com/office/drawing/2010/main" val="0"/>
              </a:ext>
            </a:extLst>
          </a:blip>
          <a:stretch>
            <a:fillRect/>
          </a:stretch>
        </p:blipFill>
        <p:spPr>
          <a:xfrm>
            <a:off x="0" y="-5305109"/>
            <a:ext cx="13106400" cy="17475200"/>
          </a:xfrm>
          <a:prstGeom prst="rect">
            <a:avLst/>
          </a:prstGeom>
        </p:spPr>
      </p:pic>
      <p:sp>
        <p:nvSpPr>
          <p:cNvPr id="4" name="Rectangle 3">
            <a:extLst>
              <a:ext uri="{FF2B5EF4-FFF2-40B4-BE49-F238E27FC236}">
                <a16:creationId xmlns:a16="http://schemas.microsoft.com/office/drawing/2014/main" id="{48E2DB51-663D-C306-028F-3C23C90EB60F}"/>
              </a:ext>
            </a:extLst>
          </p:cNvPr>
          <p:cNvSpPr/>
          <p:nvPr/>
        </p:nvSpPr>
        <p:spPr>
          <a:xfrm>
            <a:off x="-1021080" y="6338274"/>
            <a:ext cx="14234160" cy="6004560"/>
          </a:xfrm>
          <a:prstGeom prst="rect">
            <a:avLst/>
          </a:prstGeom>
          <a:gradFill>
            <a:gsLst>
              <a:gs pos="0">
                <a:schemeClr val="bg1">
                  <a:lumMod val="95000"/>
                  <a:lumOff val="5000"/>
                  <a:alpha val="0"/>
                </a:schemeClr>
              </a:gs>
              <a:gs pos="77000">
                <a:schemeClr val="tx2">
                  <a:lumMod val="10000"/>
                </a:schemeClr>
              </a:gs>
            </a:gsLst>
            <a:lin ang="612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7" name="Group 6">
            <a:extLst>
              <a:ext uri="{FF2B5EF4-FFF2-40B4-BE49-F238E27FC236}">
                <a16:creationId xmlns:a16="http://schemas.microsoft.com/office/drawing/2014/main" id="{986E0F77-F4BC-FA79-3C09-64F521389E02}"/>
              </a:ext>
            </a:extLst>
          </p:cNvPr>
          <p:cNvGrpSpPr/>
          <p:nvPr/>
        </p:nvGrpSpPr>
        <p:grpSpPr>
          <a:xfrm>
            <a:off x="773723" y="1178020"/>
            <a:ext cx="10644553" cy="3049771"/>
            <a:chOff x="773723" y="1178020"/>
            <a:chExt cx="10644553" cy="3049771"/>
          </a:xfrm>
        </p:grpSpPr>
        <p:sp>
          <p:nvSpPr>
            <p:cNvPr id="5" name="Rectangle 4">
              <a:extLst>
                <a:ext uri="{FF2B5EF4-FFF2-40B4-BE49-F238E27FC236}">
                  <a16:creationId xmlns:a16="http://schemas.microsoft.com/office/drawing/2014/main" id="{5E35A9BC-E24D-BCB1-B9BB-06DF9A3FAE2F}"/>
                </a:ext>
              </a:extLst>
            </p:cNvPr>
            <p:cNvSpPr/>
            <p:nvPr/>
          </p:nvSpPr>
          <p:spPr>
            <a:xfrm>
              <a:off x="773723" y="1367360"/>
              <a:ext cx="10644553" cy="2860431"/>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16B642E3-4946-DCD5-1BC1-9CAECCE038FB}"/>
                </a:ext>
              </a:extLst>
            </p:cNvPr>
            <p:cNvSpPr txBox="1"/>
            <p:nvPr/>
          </p:nvSpPr>
          <p:spPr>
            <a:xfrm>
              <a:off x="1588413" y="1178020"/>
              <a:ext cx="9015171" cy="2970044"/>
            </a:xfrm>
            <a:prstGeom prst="rect">
              <a:avLst/>
            </a:prstGeom>
            <a:noFill/>
          </p:spPr>
          <p:txBody>
            <a:bodyPr wrap="square" rtlCol="0">
              <a:spAutoFit/>
            </a:bodyPr>
            <a:lstStyle/>
            <a:p>
              <a:pPr algn="ctr"/>
              <a:r>
                <a:rPr lang="en-IN" sz="11500" dirty="0"/>
                <a:t>	</a:t>
              </a:r>
              <a:r>
                <a:rPr lang="en-IN" sz="6600" dirty="0"/>
                <a:t>THANK YOU</a:t>
              </a:r>
            </a:p>
            <a:p>
              <a:pPr algn="ctr"/>
              <a:r>
                <a:rPr lang="en-IN" sz="6600" dirty="0"/>
                <a:t>JAI HIND</a:t>
              </a:r>
            </a:p>
          </p:txBody>
        </p:sp>
      </p:grpSp>
    </p:spTree>
    <p:extLst>
      <p:ext uri="{BB962C8B-B14F-4D97-AF65-F5344CB8AC3E}">
        <p14:creationId xmlns:p14="http://schemas.microsoft.com/office/powerpoint/2010/main" val="11742870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0.6"/>
</p:tagLst>
</file>

<file path=ppt/tags/tag2.xml><?xml version="1.0" encoding="utf-8"?>
<p:tagLst xmlns:a="http://schemas.openxmlformats.org/drawingml/2006/main" xmlns:r="http://schemas.openxmlformats.org/officeDocument/2006/relationships" xmlns:p="http://schemas.openxmlformats.org/presentationml/2006/main">
  <p:tag name="TIMING" val="|1.6|0.8|0.9"/>
</p:tagLst>
</file>

<file path=ppt/tags/tag3.xml><?xml version="1.0" encoding="utf-8"?>
<p:tagLst xmlns:a="http://schemas.openxmlformats.org/drawingml/2006/main" xmlns:r="http://schemas.openxmlformats.org/officeDocument/2006/relationships" xmlns:p="http://schemas.openxmlformats.org/presentationml/2006/main">
  <p:tag name="TIMING" val="|1.6|0.8|0.9"/>
</p:tagLst>
</file>

<file path=ppt/tags/tag4.xml><?xml version="1.0" encoding="utf-8"?>
<p:tagLst xmlns:a="http://schemas.openxmlformats.org/drawingml/2006/main" xmlns:r="http://schemas.openxmlformats.org/officeDocument/2006/relationships" xmlns:p="http://schemas.openxmlformats.org/presentationml/2006/main">
  <p:tag name="TIMING" val="|1.6|0.8|0.9"/>
</p:tagLst>
</file>

<file path=ppt/tags/tag5.xml><?xml version="1.0" encoding="utf-8"?>
<p:tagLst xmlns:a="http://schemas.openxmlformats.org/drawingml/2006/main" xmlns:r="http://schemas.openxmlformats.org/officeDocument/2006/relationships" xmlns:p="http://schemas.openxmlformats.org/presentationml/2006/main">
  <p:tag name="TIMING" val="|0.6"/>
</p:tagLst>
</file>

<file path=ppt/tags/tag6.xml><?xml version="1.0" encoding="utf-8"?>
<p:tagLst xmlns:a="http://schemas.openxmlformats.org/drawingml/2006/main" xmlns:r="http://schemas.openxmlformats.org/officeDocument/2006/relationships" xmlns:p="http://schemas.openxmlformats.org/presentationml/2006/main">
  <p:tag name="TIMING" val="|1.6|0.8|0.9"/>
</p:tagLst>
</file>

<file path=ppt/tags/tag7.xml><?xml version="1.0" encoding="utf-8"?>
<p:tagLst xmlns:a="http://schemas.openxmlformats.org/drawingml/2006/main" xmlns:r="http://schemas.openxmlformats.org/officeDocument/2006/relationships" xmlns:p="http://schemas.openxmlformats.org/presentationml/2006/main">
  <p:tag name="TIMING" val="|1.6|0.8|0.9"/>
</p:tagLst>
</file>

<file path=ppt/tags/tag8.xml><?xml version="1.0" encoding="utf-8"?>
<p:tagLst xmlns:a="http://schemas.openxmlformats.org/drawingml/2006/main" xmlns:r="http://schemas.openxmlformats.org/officeDocument/2006/relationships" xmlns:p="http://schemas.openxmlformats.org/presentationml/2006/main">
  <p:tag name="TIMING" val="|1.6|0.8|0.9"/>
</p:tagLst>
</file>

<file path=ppt/tags/tag9.xml><?xml version="1.0" encoding="utf-8"?>
<p:tagLst xmlns:a="http://schemas.openxmlformats.org/drawingml/2006/main" xmlns:r="http://schemas.openxmlformats.org/officeDocument/2006/relationships" xmlns:p="http://schemas.openxmlformats.org/presentationml/2006/main">
  <p:tag name="TIMING" val="|0.6"/>
</p:tagLst>
</file>

<file path=ppt/tags/tag10.xml><?xml version="1.0" encoding="utf-8"?>
<p:tagLst xmlns:a="http://schemas.openxmlformats.org/drawingml/2006/main" xmlns:r="http://schemas.openxmlformats.org/officeDocument/2006/relationships" xmlns:p="http://schemas.openxmlformats.org/presentationml/2006/main">
  <p:tag name="TIMING" val="|0.6"/>
</p:tagLst>
</file>

<file path=ppt/tags/tag11.xml><?xml version="1.0" encoding="utf-8"?>
<p:tagLst xmlns:a="http://schemas.openxmlformats.org/drawingml/2006/main" xmlns:r="http://schemas.openxmlformats.org/officeDocument/2006/relationships" xmlns:p="http://schemas.openxmlformats.org/presentationml/2006/main">
  <p:tag name="TIMING" val="|0.6"/>
</p:tagLst>
</file>

<file path=ppt/tags/tag12.xml><?xml version="1.0" encoding="utf-8"?>
<p:tagLst xmlns:a="http://schemas.openxmlformats.org/drawingml/2006/main" xmlns:r="http://schemas.openxmlformats.org/officeDocument/2006/relationships" xmlns:p="http://schemas.openxmlformats.org/presentationml/2006/main">
  <p:tag name="TIMING" val="|0.6"/>
</p:tagLst>
</file>

<file path=ppt/tags/tag13.xml><?xml version="1.0" encoding="utf-8"?>
<p:tagLst xmlns:a="http://schemas.openxmlformats.org/drawingml/2006/main" xmlns:r="http://schemas.openxmlformats.org/officeDocument/2006/relationships" xmlns:p="http://schemas.openxmlformats.org/presentationml/2006/main">
  <p:tag name="TIMING" val="|0.6"/>
</p:tagLst>
</file>

<file path=ppt/tags/tag14.xml><?xml version="1.0" encoding="utf-8"?>
<p:tagLst xmlns:a="http://schemas.openxmlformats.org/drawingml/2006/main" xmlns:r="http://schemas.openxmlformats.org/officeDocument/2006/relationships" xmlns:p="http://schemas.openxmlformats.org/presentationml/2006/main">
  <p:tag name="TIMING" val="|0.6"/>
</p:tagLst>
</file>

<file path=ppt/tags/tag15.xml><?xml version="1.0" encoding="utf-8"?>
<p:tagLst xmlns:a="http://schemas.openxmlformats.org/drawingml/2006/main" xmlns:r="http://schemas.openxmlformats.org/officeDocument/2006/relationships" xmlns:p="http://schemas.openxmlformats.org/presentationml/2006/main">
  <p:tag name="TIMING" val="|1.6|0.8|0.9"/>
</p:tagLst>
</file>

<file path=ppt/theme/theme1.xml><?xml version="1.0" encoding="utf-8"?>
<a:theme xmlns:a="http://schemas.openxmlformats.org/drawingml/2006/main" name="Slice">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13545</TotalTime>
  <Words>4432</Words>
  <Application>Microsoft Office PowerPoint</Application>
  <PresentationFormat>Widescreen</PresentationFormat>
  <Paragraphs>565</Paragraphs>
  <Slides>52</Slides>
  <Notes>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52</vt:i4>
      </vt:variant>
    </vt:vector>
  </HeadingPairs>
  <TitlesOfParts>
    <vt:vector size="64" baseType="lpstr">
      <vt:lpstr>微软雅黑</vt:lpstr>
      <vt:lpstr>Aptos</vt:lpstr>
      <vt:lpstr>Aptos Display</vt:lpstr>
      <vt:lpstr>Arial</vt:lpstr>
      <vt:lpstr>Arial MT</vt:lpstr>
      <vt:lpstr>Calibri</vt:lpstr>
      <vt:lpstr>Century Gothic</vt:lpstr>
      <vt:lpstr>Impact</vt:lpstr>
      <vt:lpstr>Liberation Serif</vt:lpstr>
      <vt:lpstr>Times New Roman</vt:lpstr>
      <vt:lpstr>Wingdings 3</vt:lpstr>
      <vt:lpstr>Slice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Akarshi Srivastava</dc:creator>
  <cp:lastModifiedBy>Akarshi Srivastava</cp:lastModifiedBy>
  <cp:revision>12</cp:revision>
  <dcterms:created xsi:type="dcterms:W3CDTF">2025-03-18T16:03:19Z</dcterms:created>
  <dcterms:modified xsi:type="dcterms:W3CDTF">2026-09-03T05:03:05Z</dcterms:modified>
</cp:coreProperties>
</file>